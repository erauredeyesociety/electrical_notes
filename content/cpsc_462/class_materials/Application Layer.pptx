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media/audio1.bin" ContentType="audio/unknown"/>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72" r:id="rId2"/>
  </p:sldMasterIdLst>
  <p:notesMasterIdLst>
    <p:notesMasterId r:id="rId109"/>
  </p:notesMasterIdLst>
  <p:sldIdLst>
    <p:sldId id="960" r:id="rId3"/>
    <p:sldId id="1220" r:id="rId4"/>
    <p:sldId id="1222" r:id="rId5"/>
    <p:sldId id="1221" r:id="rId6"/>
    <p:sldId id="1223" r:id="rId7"/>
    <p:sldId id="1162" r:id="rId8"/>
    <p:sldId id="1214" r:id="rId9"/>
    <p:sldId id="1163" r:id="rId10"/>
    <p:sldId id="1164" r:id="rId11"/>
    <p:sldId id="1165" r:id="rId12"/>
    <p:sldId id="1166" r:id="rId13"/>
    <p:sldId id="1167" r:id="rId14"/>
    <p:sldId id="1168" r:id="rId15"/>
    <p:sldId id="1169" r:id="rId16"/>
    <p:sldId id="1170" r:id="rId17"/>
    <p:sldId id="1171" r:id="rId18"/>
    <p:sldId id="1172" r:id="rId19"/>
    <p:sldId id="1173" r:id="rId20"/>
    <p:sldId id="1224" r:id="rId21"/>
    <p:sldId id="1174" r:id="rId22"/>
    <p:sldId id="1175" r:id="rId23"/>
    <p:sldId id="1042" r:id="rId24"/>
    <p:sldId id="1068" r:id="rId25"/>
    <p:sldId id="1069" r:id="rId26"/>
    <p:sldId id="1070" r:id="rId27"/>
    <p:sldId id="1072" r:id="rId28"/>
    <p:sldId id="1073" r:id="rId29"/>
    <p:sldId id="1074" r:id="rId30"/>
    <p:sldId id="1075" r:id="rId31"/>
    <p:sldId id="1076" r:id="rId32"/>
    <p:sldId id="1077" r:id="rId33"/>
    <p:sldId id="1078" r:id="rId34"/>
    <p:sldId id="1079" r:id="rId35"/>
    <p:sldId id="1080" r:id="rId36"/>
    <p:sldId id="1081" r:id="rId37"/>
    <p:sldId id="1083" r:id="rId38"/>
    <p:sldId id="1084" r:id="rId39"/>
    <p:sldId id="1085" r:id="rId40"/>
    <p:sldId id="1086" r:id="rId41"/>
    <p:sldId id="1087" r:id="rId42"/>
    <p:sldId id="1088" r:id="rId43"/>
    <p:sldId id="1089" r:id="rId44"/>
    <p:sldId id="1095" r:id="rId45"/>
    <p:sldId id="1093" r:id="rId46"/>
    <p:sldId id="1208" r:id="rId47"/>
    <p:sldId id="1096" r:id="rId48"/>
    <p:sldId id="1097" r:id="rId49"/>
    <p:sldId id="1100" r:id="rId50"/>
    <p:sldId id="1098" r:id="rId51"/>
    <p:sldId id="1099" r:id="rId52"/>
    <p:sldId id="1160" r:id="rId53"/>
    <p:sldId id="1215" r:id="rId54"/>
    <p:sldId id="1112" r:id="rId55"/>
    <p:sldId id="1113" r:id="rId56"/>
    <p:sldId id="1225" r:id="rId57"/>
    <p:sldId id="1212" r:id="rId58"/>
    <p:sldId id="1114" r:id="rId59"/>
    <p:sldId id="1115" r:id="rId60"/>
    <p:sldId id="1213" r:id="rId61"/>
    <p:sldId id="1116" r:id="rId62"/>
    <p:sldId id="1125" r:id="rId63"/>
    <p:sldId id="1117" r:id="rId64"/>
    <p:sldId id="1118" r:id="rId65"/>
    <p:sldId id="1119" r:id="rId66"/>
    <p:sldId id="1120" r:id="rId67"/>
    <p:sldId id="1121" r:id="rId68"/>
    <p:sldId id="1122" r:id="rId69"/>
    <p:sldId id="1123" r:id="rId70"/>
    <p:sldId id="1124" r:id="rId71"/>
    <p:sldId id="1216" r:id="rId72"/>
    <p:sldId id="1127" r:id="rId73"/>
    <p:sldId id="1126" r:id="rId74"/>
    <p:sldId id="1128" r:id="rId75"/>
    <p:sldId id="1129" r:id="rId76"/>
    <p:sldId id="1130" r:id="rId77"/>
    <p:sldId id="1131" r:id="rId78"/>
    <p:sldId id="1132" r:id="rId79"/>
    <p:sldId id="1133" r:id="rId80"/>
    <p:sldId id="1134" r:id="rId81"/>
    <p:sldId id="1217" r:id="rId82"/>
    <p:sldId id="1135" r:id="rId83"/>
    <p:sldId id="1136" r:id="rId84"/>
    <p:sldId id="1137" r:id="rId85"/>
    <p:sldId id="1138" r:id="rId86"/>
    <p:sldId id="1161" r:id="rId87"/>
    <p:sldId id="1142" r:id="rId88"/>
    <p:sldId id="1143" r:id="rId89"/>
    <p:sldId id="1139" r:id="rId90"/>
    <p:sldId id="1140" r:id="rId91"/>
    <p:sldId id="1144" r:id="rId92"/>
    <p:sldId id="1146" r:id="rId93"/>
    <p:sldId id="533" r:id="rId94"/>
    <p:sldId id="534" r:id="rId95"/>
    <p:sldId id="1218" r:id="rId96"/>
    <p:sldId id="1148" r:id="rId97"/>
    <p:sldId id="1149" r:id="rId98"/>
    <p:sldId id="1150" r:id="rId99"/>
    <p:sldId id="1151" r:id="rId100"/>
    <p:sldId id="1152" r:id="rId101"/>
    <p:sldId id="1153" r:id="rId102"/>
    <p:sldId id="1154" r:id="rId103"/>
    <p:sldId id="1155" r:id="rId104"/>
    <p:sldId id="1156" r:id="rId105"/>
    <p:sldId id="1157" r:id="rId106"/>
    <p:sldId id="1158" r:id="rId107"/>
    <p:sldId id="1159" r:id="rId10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C6CDF"/>
    <a:srgbClr val="0000A8"/>
    <a:srgbClr val="0000A3"/>
    <a:srgbClr val="40403C"/>
    <a:srgbClr val="9CDFF9"/>
    <a:srgbClr val="010086"/>
    <a:srgbClr val="CCCCFF"/>
    <a:srgbClr val="C96B72"/>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19ECC94-273F-44C6-852E-877DA1D4FB64}" v="41" dt="2026-09-01T17:02:00.56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8223" autoAdjust="0"/>
    <p:restoredTop sz="90481"/>
  </p:normalViewPr>
  <p:slideViewPr>
    <p:cSldViewPr snapToGrid="0" snapToObjects="1">
      <p:cViewPr varScale="1">
        <p:scale>
          <a:sx n="68" d="100"/>
          <a:sy n="68" d="100"/>
        </p:scale>
        <p:origin x="72" y="354"/>
      </p:cViewPr>
      <p:guideLst>
        <p:guide orient="horz" pos="1104"/>
        <p:guide pos="576"/>
      </p:guideLst>
    </p:cSldViewPr>
  </p:slideViewPr>
  <p:outlineViewPr>
    <p:cViewPr>
      <p:scale>
        <a:sx n="33" d="100"/>
        <a:sy n="33" d="100"/>
      </p:scale>
      <p:origin x="0" y="-4152"/>
    </p:cViewPr>
  </p:outlineViewPr>
  <p:notesTextViewPr>
    <p:cViewPr>
      <p:scale>
        <a:sx n="3" d="2"/>
        <a:sy n="3" d="2"/>
      </p:scale>
      <p:origin x="0" y="-453"/>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theme" Target="theme/theme1.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microsoft.com/office/2016/11/relationships/changesInfo" Target="changesInfos/changesInfo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notesMaster" Target="notesMasters/notesMaster1.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presProps" Target="presProps.xml"/><Relationship Id="rId115" Type="http://schemas.microsoft.com/office/2015/10/relationships/revisionInfo" Target="revisionInfo.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umia Sultana" userId="4574f735e7964e2b" providerId="LiveId" clId="{4E5C290B-8CBF-45EA-8A68-56950B765727}"/>
    <pc:docChg chg="undo custSel modSld">
      <pc:chgData name="Rumia Sultana" userId="4574f735e7964e2b" providerId="LiveId" clId="{4E5C290B-8CBF-45EA-8A68-56950B765727}" dt="2026-09-01T17:01:34.492" v="261"/>
      <pc:docMkLst>
        <pc:docMk/>
      </pc:docMkLst>
      <pc:sldChg chg="modSp mod modNotesTx">
        <pc:chgData name="Rumia Sultana" userId="4574f735e7964e2b" providerId="LiveId" clId="{4E5C290B-8CBF-45EA-8A68-56950B765727}" dt="2026-09-01T11:53:07.782" v="88" actId="20577"/>
        <pc:sldMkLst>
          <pc:docMk/>
          <pc:sldMk cId="636725116" sldId="1068"/>
        </pc:sldMkLst>
        <pc:spChg chg="mod">
          <ac:chgData name="Rumia Sultana" userId="4574f735e7964e2b" providerId="LiveId" clId="{4E5C290B-8CBF-45EA-8A68-56950B765727}" dt="2026-09-01T11:52:00.221" v="72" actId="6549"/>
          <ac:spMkLst>
            <pc:docMk/>
            <pc:sldMk cId="636725116" sldId="1068"/>
            <ac:spMk id="8" creationId="{2AB7AFB9-05B7-8F45-B2AB-A2B2DBC22CCE}"/>
          </ac:spMkLst>
        </pc:spChg>
      </pc:sldChg>
      <pc:sldChg chg="delSp modSp">
        <pc:chgData name="Rumia Sultana" userId="4574f735e7964e2b" providerId="LiveId" clId="{4E5C290B-8CBF-45EA-8A68-56950B765727}" dt="2026-09-01T12:04:38.877" v="89" actId="478"/>
        <pc:sldMkLst>
          <pc:docMk/>
          <pc:sldMk cId="1958584799" sldId="1077"/>
        </pc:sldMkLst>
        <pc:spChg chg="mod">
          <ac:chgData name="Rumia Sultana" userId="4574f735e7964e2b" providerId="LiveId" clId="{4E5C290B-8CBF-45EA-8A68-56950B765727}" dt="2026-09-01T12:04:38.877" v="89" actId="478"/>
          <ac:spMkLst>
            <pc:docMk/>
            <pc:sldMk cId="1958584799" sldId="1077"/>
            <ac:spMk id="14" creationId="{6CA9B985-18B2-6347-8689-E6656C025475}"/>
          </ac:spMkLst>
        </pc:spChg>
        <pc:spChg chg="mod">
          <ac:chgData name="Rumia Sultana" userId="4574f735e7964e2b" providerId="LiveId" clId="{4E5C290B-8CBF-45EA-8A68-56950B765727}" dt="2026-09-01T12:04:38.877" v="89" actId="478"/>
          <ac:spMkLst>
            <pc:docMk/>
            <pc:sldMk cId="1958584799" sldId="1077"/>
            <ac:spMk id="15" creationId="{DED6E2F1-61E7-E241-8E2D-ADEC5E8A8091}"/>
          </ac:spMkLst>
        </pc:spChg>
        <pc:spChg chg="del">
          <ac:chgData name="Rumia Sultana" userId="4574f735e7964e2b" providerId="LiveId" clId="{4E5C290B-8CBF-45EA-8A68-56950B765727}" dt="2026-09-01T12:04:38.877" v="89" actId="478"/>
          <ac:spMkLst>
            <pc:docMk/>
            <pc:sldMk cId="1958584799" sldId="1077"/>
            <ac:spMk id="21" creationId="{EF5DEF07-DC95-F343-B9CA-F9BD40638A1C}"/>
          </ac:spMkLst>
        </pc:spChg>
        <pc:grpChg chg="mod">
          <ac:chgData name="Rumia Sultana" userId="4574f735e7964e2b" providerId="LiveId" clId="{4E5C290B-8CBF-45EA-8A68-56950B765727}" dt="2026-09-01T12:04:38.877" v="89" actId="478"/>
          <ac:grpSpMkLst>
            <pc:docMk/>
            <pc:sldMk cId="1958584799" sldId="1077"/>
            <ac:grpSpMk id="11" creationId="{A7CEE239-9E6A-4845-9F03-74B240F246F8}"/>
          </ac:grpSpMkLst>
        </pc:grpChg>
      </pc:sldChg>
      <pc:sldChg chg="modNotesTx">
        <pc:chgData name="Rumia Sultana" userId="4574f735e7964e2b" providerId="LiveId" clId="{4E5C290B-8CBF-45EA-8A68-56950B765727}" dt="2026-09-01T12:16:55.936" v="228" actId="20577"/>
        <pc:sldMkLst>
          <pc:docMk/>
          <pc:sldMk cId="3691248169" sldId="1079"/>
        </pc:sldMkLst>
      </pc:sldChg>
      <pc:sldChg chg="modNotesTx">
        <pc:chgData name="Rumia Sultana" userId="4574f735e7964e2b" providerId="LiveId" clId="{4E5C290B-8CBF-45EA-8A68-56950B765727}" dt="2026-09-01T15:38:53.141" v="229" actId="6549"/>
        <pc:sldMkLst>
          <pc:docMk/>
          <pc:sldMk cId="2680331947" sldId="1085"/>
        </pc:sldMkLst>
      </pc:sldChg>
      <pc:sldChg chg="modNotesTx">
        <pc:chgData name="Rumia Sultana" userId="4574f735e7964e2b" providerId="LiveId" clId="{4E5C290B-8CBF-45EA-8A68-56950B765727}" dt="2026-09-01T15:42:53.324" v="231" actId="20577"/>
        <pc:sldMkLst>
          <pc:docMk/>
          <pc:sldMk cId="2696498074" sldId="1086"/>
        </pc:sldMkLst>
      </pc:sldChg>
      <pc:sldChg chg="modNotesTx">
        <pc:chgData name="Rumia Sultana" userId="4574f735e7964e2b" providerId="LiveId" clId="{4E5C290B-8CBF-45EA-8A68-56950B765727}" dt="2026-09-01T15:44:17.950" v="239" actId="6549"/>
        <pc:sldMkLst>
          <pc:docMk/>
          <pc:sldMk cId="2564792084" sldId="1087"/>
        </pc:sldMkLst>
      </pc:sldChg>
      <pc:sldChg chg="modNotesTx">
        <pc:chgData name="Rumia Sultana" userId="4574f735e7964e2b" providerId="LiveId" clId="{4E5C290B-8CBF-45EA-8A68-56950B765727}" dt="2026-09-01T15:48:05.035" v="244" actId="6549"/>
        <pc:sldMkLst>
          <pc:docMk/>
          <pc:sldMk cId="3111243331" sldId="1088"/>
        </pc:sldMkLst>
      </pc:sldChg>
      <pc:sldChg chg="modSp">
        <pc:chgData name="Rumia Sultana" userId="4574f735e7964e2b" providerId="LiveId" clId="{4E5C290B-8CBF-45EA-8A68-56950B765727}" dt="2026-09-01T16:02:52.837" v="247" actId="20577"/>
        <pc:sldMkLst>
          <pc:docMk/>
          <pc:sldMk cId="3161562777" sldId="1089"/>
        </pc:sldMkLst>
        <pc:spChg chg="mod">
          <ac:chgData name="Rumia Sultana" userId="4574f735e7964e2b" providerId="LiveId" clId="{4E5C290B-8CBF-45EA-8A68-56950B765727}" dt="2026-09-01T16:02:52.837" v="247" actId="20577"/>
          <ac:spMkLst>
            <pc:docMk/>
            <pc:sldMk cId="3161562777" sldId="1089"/>
            <ac:spMk id="529" creationId="{3F40E6FA-56EE-4440-AD4E-B2DDBBC696EF}"/>
          </ac:spMkLst>
        </pc:spChg>
      </pc:sldChg>
      <pc:sldChg chg="modNotesTx">
        <pc:chgData name="Rumia Sultana" userId="4574f735e7964e2b" providerId="LiveId" clId="{4E5C290B-8CBF-45EA-8A68-56950B765727}" dt="2026-09-01T16:21:47.881" v="253" actId="6549"/>
        <pc:sldMkLst>
          <pc:docMk/>
          <pc:sldMk cId="3261216072" sldId="1097"/>
        </pc:sldMkLst>
      </pc:sldChg>
      <pc:sldChg chg="addSp modSp mod modAnim">
        <pc:chgData name="Rumia Sultana" userId="4574f735e7964e2b" providerId="LiveId" clId="{4E5C290B-8CBF-45EA-8A68-56950B765727}" dt="2026-09-01T16:29:30.891" v="259"/>
        <pc:sldMkLst>
          <pc:docMk/>
          <pc:sldMk cId="4128955766" sldId="1099"/>
        </pc:sldMkLst>
        <pc:spChg chg="mod">
          <ac:chgData name="Rumia Sultana" userId="4574f735e7964e2b" providerId="LiveId" clId="{4E5C290B-8CBF-45EA-8A68-56950B765727}" dt="2026-09-01T16:27:13.487" v="256"/>
          <ac:spMkLst>
            <pc:docMk/>
            <pc:sldMk cId="4128955766" sldId="1099"/>
            <ac:spMk id="57" creationId="{5A7A1913-16B8-3FD3-C361-C3DB59CF5B68}"/>
          </ac:spMkLst>
        </pc:spChg>
        <pc:grpChg chg="add mod">
          <ac:chgData name="Rumia Sultana" userId="4574f735e7964e2b" providerId="LiveId" clId="{4E5C290B-8CBF-45EA-8A68-56950B765727}" dt="2026-09-01T16:29:13.965" v="258" actId="1076"/>
          <ac:grpSpMkLst>
            <pc:docMk/>
            <pc:sldMk cId="4128955766" sldId="1099"/>
            <ac:grpSpMk id="55" creationId="{0973195E-3EB6-2694-50D9-258AB5811EE4}"/>
          </ac:grpSpMkLst>
        </pc:grpChg>
        <pc:cxnChg chg="mod">
          <ac:chgData name="Rumia Sultana" userId="4574f735e7964e2b" providerId="LiveId" clId="{4E5C290B-8CBF-45EA-8A68-56950B765727}" dt="2026-09-01T16:27:13.487" v="256"/>
          <ac:cxnSpMkLst>
            <pc:docMk/>
            <pc:sldMk cId="4128955766" sldId="1099"/>
            <ac:cxnSpMk id="56" creationId="{A9A77DF4-C75E-14B3-915F-63FD20B2A633}"/>
          </ac:cxnSpMkLst>
        </pc:cxnChg>
      </pc:sldChg>
      <pc:sldChg chg="modNotesTx">
        <pc:chgData name="Rumia Sultana" userId="4574f735e7964e2b" providerId="LiveId" clId="{4E5C290B-8CBF-45EA-8A68-56950B765727}" dt="2026-09-01T16:22:06.466" v="255" actId="20577"/>
        <pc:sldMkLst>
          <pc:docMk/>
          <pc:sldMk cId="153470251" sldId="1100"/>
        </pc:sldMkLst>
      </pc:sldChg>
      <pc:sldChg chg="modNotesTx">
        <pc:chgData name="Rumia Sultana" userId="4574f735e7964e2b" providerId="LiveId" clId="{4E5C290B-8CBF-45EA-8A68-56950B765727}" dt="2026-09-01T16:34:12.981" v="260" actId="20577"/>
        <pc:sldMkLst>
          <pc:docMk/>
          <pc:sldMk cId="2362272900" sldId="1112"/>
        </pc:sldMkLst>
      </pc:sldChg>
      <pc:sldChg chg="modSp">
        <pc:chgData name="Rumia Sultana" userId="4574f735e7964e2b" providerId="LiveId" clId="{4E5C290B-8CBF-45EA-8A68-56950B765727}" dt="2026-09-01T17:01:34.492" v="261"/>
        <pc:sldMkLst>
          <pc:docMk/>
          <pc:sldMk cId="4169635359" sldId="1116"/>
        </pc:sldMkLst>
        <pc:spChg chg="mod">
          <ac:chgData name="Rumia Sultana" userId="4574f735e7964e2b" providerId="LiveId" clId="{4E5C290B-8CBF-45EA-8A68-56950B765727}" dt="2026-09-01T17:01:34.492" v="261"/>
          <ac:spMkLst>
            <pc:docMk/>
            <pc:sldMk cId="4169635359" sldId="1116"/>
            <ac:spMk id="7" creationId="{500E43FE-C520-D344-A4CF-6105B63E22D6}"/>
          </ac:spMkLst>
        </pc:spChg>
      </pc:sldChg>
      <pc:sldChg chg="modNotesTx">
        <pc:chgData name="Rumia Sultana" userId="4574f735e7964e2b" providerId="LiveId" clId="{4E5C290B-8CBF-45EA-8A68-56950B765727}" dt="2026-09-01T11:34:39.712" v="51" actId="20577"/>
        <pc:sldMkLst>
          <pc:docMk/>
          <pc:sldMk cId="3328518594" sldId="1162"/>
        </pc:sldMkLst>
      </pc:sldChg>
      <pc:sldChg chg="modNotesTx">
        <pc:chgData name="Rumia Sultana" userId="4574f735e7964e2b" providerId="LiveId" clId="{4E5C290B-8CBF-45EA-8A68-56950B765727}" dt="2026-09-01T11:37:58.750" v="59" actId="6549"/>
        <pc:sldMkLst>
          <pc:docMk/>
          <pc:sldMk cId="3055900667" sldId="1164"/>
        </pc:sldMkLst>
      </pc:sldChg>
      <pc:sldChg chg="modNotesTx">
        <pc:chgData name="Rumia Sultana" userId="4574f735e7964e2b" providerId="LiveId" clId="{4E5C290B-8CBF-45EA-8A68-56950B765727}" dt="2026-08-29T17:11:11.230" v="15" actId="20577"/>
        <pc:sldMkLst>
          <pc:docMk/>
          <pc:sldMk cId="511336183" sldId="1170"/>
        </pc:sldMkLst>
      </pc:sldChg>
      <pc:sldChg chg="modNotesTx">
        <pc:chgData name="Rumia Sultana" userId="4574f735e7964e2b" providerId="LiveId" clId="{4E5C290B-8CBF-45EA-8A68-56950B765727}" dt="2026-08-29T17:12:34.608" v="16" actId="20577"/>
        <pc:sldMkLst>
          <pc:docMk/>
          <pc:sldMk cId="3814211440" sldId="1171"/>
        </pc:sldMkLst>
      </pc:sldChg>
      <pc:sldChg chg="modNotesTx">
        <pc:chgData name="Rumia Sultana" userId="4574f735e7964e2b" providerId="LiveId" clId="{4E5C290B-8CBF-45EA-8A68-56950B765727}" dt="2026-09-01T16:13:17.400" v="249" actId="20577"/>
        <pc:sldMkLst>
          <pc:docMk/>
          <pc:sldMk cId="864577876" sldId="1208"/>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9/1/2026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CDN:(Content Delivery Network):G</a:t>
            </a:r>
            <a:r>
              <a:rPr lang="en-US" dirty="0"/>
              <a:t>eographically distributed network of servers that stores cached copies of content close to users.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a:t>
            </a:fld>
            <a:endParaRPr lang="en-US"/>
          </a:p>
        </p:txBody>
      </p:sp>
    </p:spTree>
    <p:extLst>
      <p:ext uri="{BB962C8B-B14F-4D97-AF65-F5344CB8AC3E}">
        <p14:creationId xmlns:p14="http://schemas.microsoft.com/office/powerpoint/2010/main" val="388331198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To develop WhatsApp, programmers install software on phones and servers. They do not need to reprogram every router through which WhatsApp messages travel.</a:t>
            </a:r>
          </a:p>
          <a:p>
            <a:r>
              <a:rPr lang="en-US" dirty="0"/>
              <a:t>This idea is known as the </a:t>
            </a:r>
            <a:r>
              <a:rPr lang="en-US" b="1" dirty="0"/>
              <a:t>end-to-end principle</a:t>
            </a:r>
            <a:r>
              <a:rPr lang="en-US" dirty="0"/>
              <a:t> and helps make Internet application development fast and scalable.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Example—P2P file sharing:</a:t>
            </a:r>
            <a:r>
              <a:rPr lang="en-US" dirty="0"/>
              <a:t> With </a:t>
            </a:r>
            <a:r>
              <a:rPr lang="en-US" b="1" dirty="0"/>
              <a:t>BitTorrent</a:t>
            </a:r>
            <a:r>
              <a:rPr lang="en-US" dirty="0"/>
              <a:t>, a user downloads parts of a file from multiple peers while simultaneously uploading downloaded parts to other peers.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Example:</a:t>
            </a:r>
            <a:r>
              <a:rPr lang="en-US" dirty="0"/>
              <a:t> When a browser communicates with a web server, the browser has one socket and the server has another.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Addressing processes</a:t>
            </a:r>
            <a:r>
              <a:rPr lang="en-US" dirty="0"/>
              <a:t> means identifying the specific application process that should receive data on a device.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Interoperability</a:t>
            </a:r>
            <a:r>
              <a:rPr lang="en-US" dirty="0"/>
              <a:t>—software and devices from different vendors can communicate.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 open protocol is like a publicly available language anyone can learn, while a proprietary protocol is like a company’s private communication system.</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Throughput</a:t>
            </a:r>
            <a:r>
              <a:rPr lang="en-US" dirty="0"/>
              <a:t> is the actual rate at which data is successfully transferred across a network.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TCP congestion control</a:t>
            </a:r>
            <a:r>
              <a:rPr lang="en-US" dirty="0"/>
              <a:t> detects warning signs such as packet loss or increasing delay and slows down the sender. When conditions improve, TCP gradually increases the sending rate again.</a:t>
            </a:r>
          </a:p>
          <a:p>
            <a:r>
              <a:rPr lang="en-US" b="1" dirty="0"/>
              <a:t>Example:</a:t>
            </a:r>
            <a:r>
              <a:rPr lang="en-US" dirty="0"/>
              <a:t> A highway becomes crowded, so cars enter more slowly until traffic clears.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UDP exists because some applications prefer </a:t>
            </a:r>
            <a:r>
              <a:rPr lang="en-US" b="1"/>
              <a:t>speed and low latency</a:t>
            </a:r>
            <a:r>
              <a:rPr lang="en-US"/>
              <a:t> over guaranteed delivery.</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1282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a:p>
        </p:txBody>
      </p:sp>
    </p:spTree>
    <p:extLst>
      <p:ext uri="{BB962C8B-B14F-4D97-AF65-F5344CB8AC3E}">
        <p14:creationId xmlns:p14="http://schemas.microsoft.com/office/powerpoint/2010/main" val="47183533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HTML(</a:t>
            </a:r>
            <a:r>
              <a:rPr lang="en-US" b="1" dirty="0" err="1"/>
              <a:t>HyperText</a:t>
            </a:r>
            <a:r>
              <a:rPr lang="en-US" b="1" dirty="0"/>
              <a:t> Markup Language):</a:t>
            </a:r>
            <a:r>
              <a:rPr lang="en-US" dirty="0"/>
              <a:t>Contains the webpage’s structure and text.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b="1" dirty="0"/>
              <a:t>State must be reconciled:</a:t>
            </a:r>
            <a:r>
              <a:rPr lang="en-US" dirty="0"/>
              <a:t> After recovery, they must synchronize their information to determine the correct current state. </a:t>
            </a:r>
          </a:p>
          <a:p>
            <a:r>
              <a:rPr lang="en-US" b="1" dirty="0"/>
              <a:t>Example:</a:t>
            </a:r>
            <a:r>
              <a:rPr lang="en-US" dirty="0"/>
              <a:t> A client sends a bank-transfer request. The server completes the transfer but crashes before sending confirmation. The client may assume it failed and send the request again, risking a duplicate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POST :Submitting forms, Logging in, Uploading files, Creating or changing server-side data</a:t>
            </a:r>
          </a:p>
          <a:p>
            <a:r>
              <a:rPr lang="en-US" dirty="0"/>
              <a:t>GET is commonly used for searches, filtering, and retrieving information. Because the data appears in the URL, it may be visible in browser history, bookmarks, logs, and the address bar. Therefore, </a:t>
            </a:r>
            <a:r>
              <a:rPr lang="en-US" b="1" dirty="0"/>
              <a:t>do not use GET for passwords or other sensitive information</a:t>
            </a:r>
          </a:p>
          <a:p>
            <a:r>
              <a:rPr lang="en-US" dirty="0" err="1"/>
              <a:t>HEAD:Checking</a:t>
            </a:r>
            <a:r>
              <a:rPr lang="en-US" dirty="0"/>
              <a:t> whether a resource exists, Finding its file type/size, Checking when it was last modified, Testing links </a:t>
            </a:r>
          </a:p>
          <a:p>
            <a:r>
              <a:rPr lang="en-US" dirty="0"/>
              <a:t> </a:t>
            </a:r>
            <a:r>
              <a:rPr lang="en-US" b="1" dirty="0"/>
              <a:t>GET returns headers and content; HEAD returns only the headers.</a:t>
            </a:r>
          </a:p>
          <a:p>
            <a:r>
              <a:rPr lang="en-US" b="1" dirty="0"/>
              <a:t>PUT:</a:t>
            </a:r>
            <a:r>
              <a:rPr lang="en-US" dirty="0"/>
              <a:t> create or completely replace a resource at a known URL.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Cookies add state to web applications even though HTTP itself is stateless.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Cache:</a:t>
            </a:r>
            <a:r>
              <a:rPr lang="en-US" dirty="0"/>
              <a:t> temporary storage that keeps copies of frequently requested data so it can be accessed more quickly later.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latin typeface="+mn-lt"/>
                <a:ea typeface="+mn-ea"/>
                <a:cs typeface="+mn-cs"/>
              </a:rPr>
              <a:t>Cache-Control: no-store</a:t>
            </a:r>
            <a:r>
              <a:rPr lang="en-US" dirty="0"/>
              <a:t> — do not save the response. </a:t>
            </a:r>
          </a:p>
          <a:p>
            <a:pPr lvl="0"/>
            <a:r>
              <a:rPr lang="en-US" sz="1200" kern="1200" dirty="0">
                <a:solidFill>
                  <a:schemeClr val="tx1"/>
                </a:solidFill>
                <a:latin typeface="+mn-lt"/>
                <a:ea typeface="+mn-ea"/>
                <a:cs typeface="+mn-cs"/>
              </a:rPr>
              <a:t>Cache-Control: no-cache</a:t>
            </a:r>
            <a:r>
              <a:rPr lang="en-US" dirty="0"/>
              <a:t> — it may be stored, but the cache must check with the server before reusing it. </a:t>
            </a:r>
          </a:p>
          <a:p>
            <a:pPr lvl="0"/>
            <a:r>
              <a:rPr lang="en-US" sz="1200" kern="1200" dirty="0">
                <a:solidFill>
                  <a:schemeClr val="tx1"/>
                </a:solidFill>
                <a:latin typeface="+mn-lt"/>
                <a:ea typeface="+mn-ea"/>
                <a:cs typeface="+mn-cs"/>
              </a:rPr>
              <a:t>Cache-Control: private</a:t>
            </a:r>
            <a:r>
              <a:rPr lang="en-US" dirty="0"/>
              <a:t> — only a private cache, such as a browser, should store it. </a:t>
            </a:r>
          </a:p>
          <a:p>
            <a:pPr lvl="0"/>
            <a:r>
              <a:rPr lang="en-US" sz="1200" kern="1200" dirty="0">
                <a:solidFill>
                  <a:schemeClr val="tx1"/>
                </a:solidFill>
                <a:latin typeface="+mn-lt"/>
                <a:ea typeface="+mn-ea"/>
                <a:cs typeface="+mn-cs"/>
              </a:rPr>
              <a:t>Cache-Control: public</a:t>
            </a:r>
            <a:r>
              <a:rPr lang="en-US" dirty="0"/>
              <a:t> — shared caches, such as CDNs, may store it. </a:t>
            </a:r>
          </a:p>
          <a:p>
            <a:pPr lvl="0"/>
            <a:r>
              <a:rPr lang="en-US" sz="1200" kern="1200" dirty="0">
                <a:solidFill>
                  <a:schemeClr val="tx1"/>
                </a:solidFill>
                <a:latin typeface="+mn-lt"/>
                <a:ea typeface="+mn-ea"/>
                <a:cs typeface="+mn-cs"/>
              </a:rPr>
              <a:t>Cache-Control: max-age=3600</a:t>
            </a:r>
            <a:r>
              <a:rPr lang="en-US" dirty="0"/>
              <a:t> — the response remains fresh for one hour.</a:t>
            </a:r>
          </a:p>
          <a:p>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Head-of-line blocking</a:t>
            </a:r>
          </a:p>
          <a:p>
            <a:r>
              <a:rPr lang="en-US" dirty="0"/>
              <a:t>If the first response is a large object, later small objects must wait:</a:t>
            </a:r>
          </a:p>
          <a:p>
            <a:r>
              <a:rPr lang="en-US" dirty="0"/>
              <a:t>All objects share one TCP byte stream. If a TCP segment is lost:</a:t>
            </a:r>
          </a:p>
          <a:p>
            <a:pPr lvl="0"/>
            <a:r>
              <a:rPr lang="en-US" dirty="0"/>
              <a:t>TCP detects the missing segment. The segment must be retransmitted. Later data cannot be delivered in order until it arrives.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Server push:</a:t>
            </a:r>
            <a:r>
              <a:rPr lang="en-US" dirty="0"/>
              <a:t> The server can proactively send resources that the client has not yet requested—for example, sending a CSS file that an HTML page will require.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52</a:t>
            </a:fld>
            <a:endParaRPr lang="en-US"/>
          </a:p>
        </p:txBody>
      </p:sp>
    </p:spTree>
    <p:extLst>
      <p:ext uri="{BB962C8B-B14F-4D97-AF65-F5344CB8AC3E}">
        <p14:creationId xmlns:p14="http://schemas.microsoft.com/office/powerpoint/2010/main" val="320226945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Internet’s design principle of keeping the network core relatively simple and placing more complex services at the network edge.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092837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host can have an easy-to-remember </a:t>
            </a:r>
            <a:r>
              <a:rPr lang="en-US" b="1" dirty="0"/>
              <a:t>alias name</a:t>
            </a:r>
            <a:r>
              <a:rPr lang="en-US" dirty="0"/>
              <a:t> that points to its official </a:t>
            </a:r>
            <a:r>
              <a:rPr lang="en-US" b="1" dirty="0"/>
              <a:t>canonical hostname</a:t>
            </a:r>
            <a:r>
              <a:rPr lang="en-US" dirty="0"/>
              <a:t>.</a:t>
            </a:r>
          </a:p>
          <a:p>
            <a:pPr rtl="0"/>
            <a:r>
              <a:rPr lang="en-US" sz="1200" kern="1200" dirty="0">
                <a:solidFill>
                  <a:schemeClr val="tx1"/>
                </a:solidFill>
                <a:latin typeface="+mn-lt"/>
                <a:ea typeface="+mn-ea"/>
                <a:cs typeface="+mn-cs"/>
              </a:rPr>
              <a:t>Alias: www.example.com</a:t>
            </a:r>
          </a:p>
          <a:p>
            <a:pPr rtl="0"/>
            <a:r>
              <a:rPr lang="en-US" sz="1200" kern="1200" dirty="0">
                <a:solidFill>
                  <a:schemeClr val="tx1"/>
                </a:solidFill>
                <a:latin typeface="+mn-lt"/>
                <a:ea typeface="+mn-ea"/>
                <a:cs typeface="+mn-cs"/>
              </a:rPr>
              <a:t>Canonical name: server1.example.net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347443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466380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b="1" dirty="0"/>
              <a:t>Name:</a:t>
            </a:r>
            <a:r>
              <a:rPr lang="en-US" dirty="0"/>
              <a:t> </a:t>
            </a:r>
            <a:r>
              <a:rPr lang="en-US" sz="1200" kern="1200" dirty="0">
                <a:solidFill>
                  <a:schemeClr val="tx1"/>
                </a:solidFill>
                <a:latin typeface="+mn-lt"/>
                <a:ea typeface="+mn-ea"/>
                <a:cs typeface="+mn-cs"/>
              </a:rPr>
              <a:t>www.example.com</a:t>
            </a:r>
            <a:r>
              <a:rPr lang="en-US" dirty="0"/>
              <a:t> </a:t>
            </a:r>
          </a:p>
          <a:p>
            <a:pPr lvl="0"/>
            <a:r>
              <a:rPr lang="en-US" b="1" dirty="0"/>
              <a:t>Value:</a:t>
            </a:r>
            <a:r>
              <a:rPr lang="en-US" dirty="0"/>
              <a:t> </a:t>
            </a:r>
            <a:r>
              <a:rPr lang="en-US" sz="1200" kern="1200" dirty="0">
                <a:solidFill>
                  <a:schemeClr val="tx1"/>
                </a:solidFill>
                <a:latin typeface="+mn-lt"/>
                <a:ea typeface="+mn-ea"/>
                <a:cs typeface="+mn-cs"/>
              </a:rPr>
              <a:t>192.0.2.10</a:t>
            </a:r>
            <a:r>
              <a:rPr lang="en-US" dirty="0"/>
              <a:t> </a:t>
            </a:r>
          </a:p>
          <a:p>
            <a:pPr lvl="0"/>
            <a:r>
              <a:rPr lang="en-US" b="1" dirty="0"/>
              <a:t>Type:</a:t>
            </a:r>
            <a:r>
              <a:rPr lang="en-US" dirty="0"/>
              <a:t> </a:t>
            </a:r>
            <a:r>
              <a:rPr lang="en-US" sz="1200" kern="1200" dirty="0">
                <a:solidFill>
                  <a:schemeClr val="tx1"/>
                </a:solidFill>
                <a:latin typeface="+mn-lt"/>
                <a:ea typeface="+mn-ea"/>
                <a:cs typeface="+mn-cs"/>
              </a:rPr>
              <a:t>A</a:t>
            </a:r>
            <a:r>
              <a:rPr lang="en-US" dirty="0"/>
              <a:t>, indicating an IPv4 address </a:t>
            </a:r>
          </a:p>
          <a:p>
            <a:pPr lvl="0"/>
            <a:r>
              <a:rPr lang="en-US" b="1" dirty="0"/>
              <a:t>TTL:</a:t>
            </a:r>
            <a:r>
              <a:rPr lang="en-US" dirty="0"/>
              <a:t> </a:t>
            </a:r>
            <a:r>
              <a:rPr lang="en-US" sz="1200" kern="1200" dirty="0">
                <a:solidFill>
                  <a:schemeClr val="tx1"/>
                </a:solidFill>
                <a:latin typeface="+mn-lt"/>
                <a:ea typeface="+mn-ea"/>
                <a:cs typeface="+mn-cs"/>
              </a:rPr>
              <a:t>3600</a:t>
            </a:r>
            <a:r>
              <a:rPr lang="en-US" dirty="0"/>
              <a:t> seconds, specifying how long it may be cached</a:t>
            </a:r>
          </a:p>
          <a:p>
            <a:pPr lvl="0"/>
            <a:r>
              <a:rPr lang="en-US" dirty="0"/>
              <a:t>A </a:t>
            </a:r>
            <a:r>
              <a:rPr lang="en-US" b="1" dirty="0"/>
              <a:t>read</a:t>
            </a:r>
            <a:r>
              <a:rPr lang="en-US" dirty="0"/>
              <a:t> occurs when a device asks DNS for information:</a:t>
            </a:r>
          </a:p>
          <a:p>
            <a:pPr lvl="0" rtl="0"/>
            <a:r>
              <a:rPr lang="en-US" sz="1200" kern="1200" dirty="0">
                <a:solidFill>
                  <a:schemeClr val="tx1"/>
                </a:solidFill>
                <a:latin typeface="+mn-lt"/>
                <a:ea typeface="+mn-ea"/>
                <a:cs typeface="+mn-cs"/>
              </a:rPr>
              <a:t>What is the IP address of www.example.com?</a:t>
            </a:r>
          </a:p>
          <a:p>
            <a:pPr lvl="0"/>
            <a:r>
              <a:rPr lang="en-US" dirty="0"/>
              <a:t>A </a:t>
            </a:r>
            <a:r>
              <a:rPr lang="en-US" b="1" dirty="0"/>
              <a:t>write</a:t>
            </a:r>
            <a:r>
              <a:rPr lang="en-US" dirty="0"/>
              <a:t> occurs when a DNS administrator creates, updates, or deletes a DNS record. </a:t>
            </a:r>
          </a:p>
          <a:p>
            <a:r>
              <a:rPr lang="en-US" dirty="0"/>
              <a:t>DNS has far more reads than writes because users and applications constantly look up domain names, while DNS records change relatively infrequently.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168737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0877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root server usually does </a:t>
            </a:r>
            <a:r>
              <a:rPr lang="en-US" b="1" dirty="0"/>
              <a:t>not</a:t>
            </a:r>
            <a:r>
              <a:rPr lang="en-US" dirty="0"/>
              <a:t> return the final IP address. Instead, it directs the resolver to the correct </a:t>
            </a:r>
            <a:r>
              <a:rPr lang="en-US" b="1" dirty="0"/>
              <a:t>Top-Level Domain (TLD) server</a:t>
            </a:r>
            <a:r>
              <a:rPr lang="en-US" dirty="0"/>
              <a: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909030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DNSSEC</a:t>
            </a:r>
            <a:r>
              <a:rPr lang="en-US" dirty="0"/>
              <a:t> stands for </a:t>
            </a:r>
            <a:r>
              <a:rPr lang="en-US" b="1" dirty="0"/>
              <a:t>Domain Name System Security Extensions</a:t>
            </a:r>
            <a:r>
              <a:rPr lang="en-US" dirty="0"/>
              <a:t>.</a:t>
            </a:r>
          </a:p>
          <a:p>
            <a:r>
              <a:rPr lang="en-US" dirty="0"/>
              <a:t>It adds digital signatures to DNS records, providing:</a:t>
            </a:r>
          </a:p>
          <a:p>
            <a:pPr lvl="0"/>
            <a:r>
              <a:rPr lang="en-US" b="1" dirty="0"/>
              <a:t>Authentication:</a:t>
            </a:r>
            <a:r>
              <a:rPr lang="en-US" dirty="0"/>
              <a:t> Confirms that a DNS response came from the legitimate DNS source. </a:t>
            </a:r>
          </a:p>
          <a:p>
            <a:pPr lvl="0"/>
            <a:r>
              <a:rPr lang="en-US" b="1" dirty="0"/>
              <a:t>Message integrity:</a:t>
            </a:r>
            <a:r>
              <a:rPr lang="en-US" dirty="0"/>
              <a:t> Confirms that the DNS data was not modified in transit. </a:t>
            </a:r>
          </a:p>
          <a:p>
            <a:pPr lvl="0"/>
            <a:r>
              <a:rPr lang="en-US" b="1" dirty="0"/>
              <a:t>Authenticated denial of existence:</a:t>
            </a:r>
            <a:r>
              <a:rPr lang="en-US" dirty="0"/>
              <a:t> Securely proves that a requested DNS record does not exist. </a:t>
            </a:r>
          </a:p>
          <a:p>
            <a:r>
              <a:rPr lang="en-US" dirty="0"/>
              <a:t>DNSSEC helps prevent attacks such as </a:t>
            </a:r>
            <a:r>
              <a:rPr lang="en-US" b="1" dirty="0"/>
              <a:t>DNS spoofing</a:t>
            </a:r>
            <a:r>
              <a:rPr lang="en-US" dirty="0"/>
              <a:t> and </a:t>
            </a:r>
            <a:r>
              <a:rPr lang="en-US" b="1" dirty="0"/>
              <a:t>cache poisoning</a:t>
            </a:r>
            <a:r>
              <a:rPr lang="en-US"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62322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registry:</a:t>
            </a:r>
          </a:p>
          <a:p>
            <a:pPr lvl="0"/>
            <a:r>
              <a:rPr lang="en-US" dirty="0"/>
              <a:t>Maintains the official list of domains under a TLD. </a:t>
            </a:r>
          </a:p>
          <a:p>
            <a:pPr lvl="0"/>
            <a:r>
              <a:rPr lang="en-US" dirty="0"/>
              <a:t>Publishes the TLD’s DNS information. </a:t>
            </a:r>
          </a:p>
          <a:p>
            <a:pPr lvl="0"/>
            <a:r>
              <a:rPr lang="en-US"/>
              <a:t>Works with registrars that sell domain registrations.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994421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871630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430212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66473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474998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624986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994835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44703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663916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53261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70</a:t>
            </a:fld>
            <a:endParaRPr lang="en-US"/>
          </a:p>
        </p:txBody>
      </p:sp>
    </p:spTree>
    <p:extLst>
      <p:ext uri="{BB962C8B-B14F-4D97-AF65-F5344CB8AC3E}">
        <p14:creationId xmlns:p14="http://schemas.microsoft.com/office/powerpoint/2010/main" val="152060437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71</a:t>
            </a:fld>
            <a:endParaRPr lang="en-US"/>
          </a:p>
        </p:txBody>
      </p:sp>
    </p:spTree>
    <p:extLst>
      <p:ext uri="{BB962C8B-B14F-4D97-AF65-F5344CB8AC3E}">
        <p14:creationId xmlns:p14="http://schemas.microsoft.com/office/powerpoint/2010/main" val="39182735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a:p>
        </p:txBody>
      </p:sp>
    </p:spTree>
    <p:extLst>
      <p:ext uri="{BB962C8B-B14F-4D97-AF65-F5344CB8AC3E}">
        <p14:creationId xmlns:p14="http://schemas.microsoft.com/office/powerpoint/2010/main" val="230749735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a:p>
        </p:txBody>
      </p:sp>
    </p:spTree>
    <p:extLst>
      <p:ext uri="{BB962C8B-B14F-4D97-AF65-F5344CB8AC3E}">
        <p14:creationId xmlns:p14="http://schemas.microsoft.com/office/powerpoint/2010/main" val="73759893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74</a:t>
            </a:fld>
            <a:endParaRPr lang="en-US"/>
          </a:p>
        </p:txBody>
      </p:sp>
    </p:spTree>
    <p:extLst>
      <p:ext uri="{BB962C8B-B14F-4D97-AF65-F5344CB8AC3E}">
        <p14:creationId xmlns:p14="http://schemas.microsoft.com/office/powerpoint/2010/main" val="359334177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75</a:t>
            </a:fld>
            <a:endParaRPr lang="en-US"/>
          </a:p>
        </p:txBody>
      </p:sp>
    </p:spTree>
    <p:extLst>
      <p:ext uri="{BB962C8B-B14F-4D97-AF65-F5344CB8AC3E}">
        <p14:creationId xmlns:p14="http://schemas.microsoft.com/office/powerpoint/2010/main" val="37612988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a:p>
        </p:txBody>
      </p:sp>
    </p:spTree>
    <p:extLst>
      <p:ext uri="{BB962C8B-B14F-4D97-AF65-F5344CB8AC3E}">
        <p14:creationId xmlns:p14="http://schemas.microsoft.com/office/powerpoint/2010/main" val="58016910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297254148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a:p>
        </p:txBody>
      </p:sp>
    </p:spTree>
    <p:extLst>
      <p:ext uri="{BB962C8B-B14F-4D97-AF65-F5344CB8AC3E}">
        <p14:creationId xmlns:p14="http://schemas.microsoft.com/office/powerpoint/2010/main" val="11985713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a:p>
        </p:txBody>
      </p:sp>
    </p:spTree>
    <p:extLst>
      <p:ext uri="{BB962C8B-B14F-4D97-AF65-F5344CB8AC3E}">
        <p14:creationId xmlns:p14="http://schemas.microsoft.com/office/powerpoint/2010/main" val="235391362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a:p>
        </p:txBody>
      </p:sp>
    </p:spTree>
    <p:extLst>
      <p:ext uri="{BB962C8B-B14F-4D97-AF65-F5344CB8AC3E}">
        <p14:creationId xmlns:p14="http://schemas.microsoft.com/office/powerpoint/2010/main" val="115652067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92</a:t>
            </a:fld>
            <a:endPar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p:txBody>
      </p:sp>
    </p:spTree>
    <p:extLst>
      <p:ext uri="{BB962C8B-B14F-4D97-AF65-F5344CB8AC3E}">
        <p14:creationId xmlns:p14="http://schemas.microsoft.com/office/powerpoint/2010/main" val="169486420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93</a:t>
            </a:fld>
            <a:endPar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a:p>
        </p:txBody>
      </p:sp>
    </p:spTree>
    <p:extLst>
      <p:ext uri="{BB962C8B-B14F-4D97-AF65-F5344CB8AC3E}">
        <p14:creationId xmlns:p14="http://schemas.microsoft.com/office/powerpoint/2010/main" val="362704597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a:gsLst>
            <a:gs pos="0">
              <a:schemeClr val="accent2">
                <a:lumMod val="7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1097280" y="758952"/>
            <a:ext cx="10058400" cy="3566160"/>
          </a:xfrm>
        </p:spPr>
        <p:txBody>
          <a:bodyPr anchor="b">
            <a:normAutofit/>
          </a:bodyPr>
          <a:lstStyle>
            <a:lvl1pPr algn="l">
              <a:lnSpc>
                <a:spcPct val="85000"/>
              </a:lnSpc>
              <a:defRPr sz="8000" spc="-50" baseline="0">
                <a:solidFill>
                  <a:schemeClr val="tx1">
                    <a:lumMod val="85000"/>
                    <a:lumOff val="15000"/>
                  </a:schemeClr>
                </a:solidFill>
              </a:defRPr>
            </a:lvl1pPr>
          </a:lstStyle>
          <a:p>
            <a:r>
              <a:rPr lang="en-US"/>
              <a:t>Click to edit Master title style</a:t>
            </a:r>
            <a:endParaRPr lang="en-US" dirty="0"/>
          </a:p>
        </p:txBody>
      </p:sp>
      <p:sp>
        <p:nvSpPr>
          <p:cNvPr id="3" name="Subtitle 2"/>
          <p:cNvSpPr>
            <a:spLocks noGrp="1"/>
          </p:cNvSpPr>
          <p:nvPr>
            <p:ph type="subTitle" idx="1"/>
          </p:nvPr>
        </p:nvSpPr>
        <p:spPr>
          <a:xfrm>
            <a:off x="1100051" y="4455620"/>
            <a:ext cx="10058400" cy="1143000"/>
          </a:xfrm>
        </p:spPr>
        <p:txBody>
          <a:bodyPr lIns="91440" rIns="91440">
            <a:normAutofit/>
          </a:bodyPr>
          <a:lstStyle>
            <a:lvl1pPr marL="0" indent="0" algn="l">
              <a:buNone/>
              <a:defRPr sz="2400" cap="all" spc="200" baseline="0">
                <a:solidFill>
                  <a:schemeClr val="tx2"/>
                </a:solidFill>
                <a:latin typeface="+mj-lt"/>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pic>
        <p:nvPicPr>
          <p:cNvPr id="1026" name="Picture 2" descr="Embry-Riddle Aeronautical University-Prescott Campus Information, Costs ...">
            <a:extLst>
              <a:ext uri="{FF2B5EF4-FFF2-40B4-BE49-F238E27FC236}">
                <a16:creationId xmlns:a16="http://schemas.microsoft.com/office/drawing/2014/main" id="{DDB574B0-5CB0-47E6-0DF3-12FB82A5D8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905000" cy="1905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901050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marL="0">
              <a:defRPr/>
            </a:lvl1p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761817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758952"/>
            <a:ext cx="10058400" cy="3566160"/>
          </a:xfrm>
        </p:spPr>
        <p:txBody>
          <a:bodyPr anchor="b" anchorCtr="0">
            <a:normAutofit/>
          </a:bodyPr>
          <a:lstStyle>
            <a:lvl1pPr>
              <a:lnSpc>
                <a:spcPct val="85000"/>
              </a:lnSpc>
              <a:defRPr sz="8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097280" y="4453128"/>
            <a:ext cx="10058400" cy="1143000"/>
          </a:xfrm>
        </p:spPr>
        <p:txBody>
          <a:bodyPr lIns="91440" rIns="91440" anchor="t" anchorCtr="0">
            <a:normAutofit/>
          </a:bodyPr>
          <a:lstStyle>
            <a:lvl1pPr marL="0" indent="0">
              <a:buNone/>
              <a:defRPr sz="2400" cap="all" spc="20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0967578"/>
      </p:ext>
    </p:extLst>
  </p:cSld>
  <p:clrMapOvr>
    <a:masterClrMapping/>
  </p:clrMapOvr>
  <p:hf hdr="0" ftr="0" dt="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1097279" y="1845734"/>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17920" y="1845735"/>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928723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109728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09728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1792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21792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621881688"/>
      </p:ext>
    </p:extLst>
  </p:cSld>
  <p:clrMapOvr>
    <a:masterClrMapping/>
  </p:clrMapOvr>
  <p:hf hdr="0" ftr="0" dt="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a:xfrm>
            <a:off x="9900458" y="6459785"/>
            <a:ext cx="1487121" cy="365125"/>
          </a:xfrm>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06666571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7" name="Date Placeholder 6"/>
          <p:cNvSpPr>
            <a:spLocks noGrp="1"/>
          </p:cNvSpPr>
          <p:nvPr>
            <p:ph type="dt" sz="half" idx="10"/>
          </p:nvPr>
        </p:nvSpPr>
        <p:spPr/>
        <p:txBody>
          <a:bodyPr/>
          <a:lstStyle/>
          <a:p>
            <a:endParaRPr lang="en-US"/>
          </a:p>
        </p:txBody>
      </p:sp>
      <p:sp>
        <p:nvSpPr>
          <p:cNvPr id="8" name="Footer Placeholder 7"/>
          <p:cNvSpPr>
            <a:spLocks noGrp="1"/>
          </p:cNvSpPr>
          <p:nvPr>
            <p:ph type="ftr" sz="quarter" idx="11"/>
          </p:nvPr>
        </p:nvSpPr>
        <p:spPr/>
        <p:txBody>
          <a:bodyPr/>
          <a:lstStyle>
            <a:lvl1pPr>
              <a:defRPr>
                <a:solidFill>
                  <a:srgbClr val="FFFFFF"/>
                </a:solidFill>
              </a:defRPr>
            </a:lvl1pPr>
          </a:lstStyle>
          <a:p>
            <a:endParaRPr lang="en-US"/>
          </a:p>
        </p:txBody>
      </p:sp>
      <p:sp>
        <p:nvSpPr>
          <p:cNvPr id="9" name="Slide Number Placeholder 8"/>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260145691"/>
      </p:ext>
    </p:extLst>
  </p:cSld>
  <p:clrMapOvr>
    <a:masterClrMapping/>
  </p:clrMapOvr>
  <p:hf hdr="0" ftr="0" dt="0"/>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8" name="Rectangle 7"/>
          <p:cNvSpPr/>
          <p:nvPr/>
        </p:nvSpPr>
        <p:spPr>
          <a:xfrm>
            <a:off x="16" y="0"/>
            <a:ext cx="405079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4040071" y="0"/>
            <a:ext cx="64008"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594359"/>
            <a:ext cx="3200400" cy="2286000"/>
          </a:xfrm>
        </p:spPr>
        <p:txBody>
          <a:bodyPr anchor="b">
            <a:normAutofit/>
          </a:bodyPr>
          <a:lstStyle>
            <a:lvl1pPr>
              <a:defRPr sz="36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4800600" y="731520"/>
            <a:ext cx="6492240"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0" y="2926080"/>
            <a:ext cx="3200400" cy="3379124"/>
          </a:xfrm>
        </p:spPr>
        <p:txBody>
          <a:bodyPr lIns="91440" rIns="91440">
            <a:normAutofit/>
          </a:bodyPr>
          <a:lstStyle>
            <a:lvl1pPr marL="0" indent="0">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65512" y="6459785"/>
            <a:ext cx="2618510" cy="365125"/>
          </a:xfrm>
        </p:spPr>
        <p:txBody>
          <a:bodyPr/>
          <a:lstStyle>
            <a:lvl1pPr algn="l">
              <a:defRPr/>
            </a:lvl1pPr>
          </a:lstStyle>
          <a:p>
            <a:endParaRPr lang="en-US"/>
          </a:p>
        </p:txBody>
      </p:sp>
      <p:sp>
        <p:nvSpPr>
          <p:cNvPr id="6" name="Footer Placeholder 5"/>
          <p:cNvSpPr>
            <a:spLocks noGrp="1"/>
          </p:cNvSpPr>
          <p:nvPr>
            <p:ph type="ftr" sz="quarter" idx="11"/>
          </p:nvPr>
        </p:nvSpPr>
        <p:spPr>
          <a:xfrm>
            <a:off x="4800600" y="6459785"/>
            <a:ext cx="4648200" cy="365125"/>
          </a:xfrm>
        </p:spPr>
        <p:txBody>
          <a:bodyPr/>
          <a:lstStyle>
            <a:lvl1pPr algn="l">
              <a:defRPr>
                <a:solidFill>
                  <a:schemeClr val="tx2"/>
                </a:solidFill>
              </a:defRPr>
            </a:lvl1pPr>
          </a:lstStyle>
          <a:p>
            <a:endParaRPr lang="en-US"/>
          </a:p>
        </p:txBody>
      </p:sp>
      <p:sp>
        <p:nvSpPr>
          <p:cNvPr id="7" name="Slide Number Placeholder 6"/>
          <p:cNvSpPr>
            <a:spLocks noGrp="1"/>
          </p:cNvSpPr>
          <p:nvPr>
            <p:ph type="sldNum" sz="quarter" idx="12"/>
          </p:nvPr>
        </p:nvSpPr>
        <p:spPr/>
        <p:txBody>
          <a:bodyPr/>
          <a:lstStyle>
            <a:lvl1pPr>
              <a:defRPr>
                <a:solidFill>
                  <a:schemeClr val="tx2"/>
                </a:solidFill>
              </a:defRPr>
            </a:lvl1p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509067851"/>
      </p:ext>
    </p:extLst>
  </p:cSld>
  <p:clrMapOvr>
    <a:masterClrMapping/>
  </p:clrMapOvr>
  <p:hf hdr="0" ftr="0" dt="0"/>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4953000"/>
            <a:ext cx="12188825"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5" y="491507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5074920"/>
            <a:ext cx="10113264" cy="822960"/>
          </a:xfrm>
        </p:spPr>
        <p:txBody>
          <a:bodyPr lIns="91440" tIns="0" rIns="91440" bIns="0" anchor="b">
            <a:noAutofit/>
          </a:bodyPr>
          <a:lstStyle>
            <a:lvl1pPr>
              <a:defRPr sz="36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5" y="0"/>
            <a:ext cx="12191985" cy="4915076"/>
          </a:xfrm>
          <a:blipFill>
            <a:blip r:embed="rId2"/>
            <a:stretch>
              <a:fillRect/>
            </a:stretch>
          </a:blipFill>
        </p:spPr>
        <p:txBody>
          <a:bodyPr lIns="457200" tIns="457200" anchor="t"/>
          <a:lstStyle>
            <a:lvl1pPr marL="0" indent="0">
              <a:buNone/>
              <a:defRPr sz="3200">
                <a:solidFill>
                  <a:schemeClr val="bg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1097280" y="5907023"/>
            <a:ext cx="10113264" cy="594360"/>
          </a:xfrm>
        </p:spPr>
        <p:txBody>
          <a:bodyPr lIns="91440" tIns="0" rIns="91440" bIns="0">
            <a:normAutofit/>
          </a:bodyPr>
          <a:lstStyle>
            <a:lvl1pPr marL="0" indent="0">
              <a:spcBef>
                <a:spcPts val="0"/>
              </a:spcBef>
              <a:spcAft>
                <a:spcPts val="600"/>
              </a:spcAft>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446910655"/>
      </p:ext>
    </p:extLst>
  </p:cSld>
  <p:clrMapOvr>
    <a:masterClrMapping/>
  </p:clrMapOvr>
  <p:hf hdr="0" ftr="0" dt="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238464978"/>
      </p:ext>
    </p:extLst>
  </p:cSld>
  <p:clrMapOvr>
    <a:masterClrMapping/>
  </p:clrMapOvr>
  <p:hf hdr="0" ftr="0" dt="0"/>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8724900" y="414778"/>
            <a:ext cx="2628900" cy="5757421"/>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414778"/>
            <a:ext cx="7734300" cy="5757422"/>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178147989"/>
      </p:ext>
    </p:extLst>
  </p:cSld>
  <p:clrMapOvr>
    <a:masterClrMapping/>
  </p:clrMapOvr>
  <p:hf hdr="0" ftr="0" dt="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a:gsLst>
            <a:gs pos="0">
              <a:schemeClr val="accent2">
                <a:lumMod val="7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1097280" y="758952"/>
            <a:ext cx="10058400" cy="3566160"/>
          </a:xfrm>
        </p:spPr>
        <p:txBody>
          <a:bodyPr anchor="b">
            <a:normAutofit/>
          </a:bodyPr>
          <a:lstStyle>
            <a:lvl1pPr algn="l">
              <a:lnSpc>
                <a:spcPct val="85000"/>
              </a:lnSpc>
              <a:defRPr sz="8000" spc="-50" baseline="0">
                <a:solidFill>
                  <a:schemeClr val="tx1">
                    <a:lumMod val="85000"/>
                    <a:lumOff val="15000"/>
                  </a:schemeClr>
                </a:solidFill>
              </a:defRPr>
            </a:lvl1pPr>
          </a:lstStyle>
          <a:p>
            <a:r>
              <a:rPr lang="en-US"/>
              <a:t>Click to edit Master title style</a:t>
            </a:r>
            <a:endParaRPr lang="en-US" dirty="0"/>
          </a:p>
        </p:txBody>
      </p:sp>
      <p:sp>
        <p:nvSpPr>
          <p:cNvPr id="3" name="Subtitle 2"/>
          <p:cNvSpPr>
            <a:spLocks noGrp="1"/>
          </p:cNvSpPr>
          <p:nvPr>
            <p:ph type="subTitle" idx="1"/>
          </p:nvPr>
        </p:nvSpPr>
        <p:spPr>
          <a:xfrm>
            <a:off x="1100051" y="4455620"/>
            <a:ext cx="10058400" cy="1143000"/>
          </a:xfrm>
        </p:spPr>
        <p:txBody>
          <a:bodyPr lIns="91440" rIns="91440">
            <a:normAutofit/>
          </a:bodyPr>
          <a:lstStyle>
            <a:lvl1pPr marL="0" indent="0" algn="l">
              <a:buNone/>
              <a:defRPr sz="2400" cap="all" spc="200" baseline="0">
                <a:solidFill>
                  <a:schemeClr val="tx2"/>
                </a:solidFill>
                <a:latin typeface="+mj-lt"/>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F2B9026-3BAB-4EE3-BDB6-5B1E9E1CFC8C}" type="datetimeFigureOut">
              <a:rPr lang="en-US" smtClean="0"/>
              <a:t>9/1/2026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Transport Layer: 3-</a:t>
            </a:r>
            <a:fld id="{C4204591-24BD-A542-B9D5-F8D8A88D2FEE}" type="slidenum">
              <a:rPr lang="en-US" smtClean="0"/>
              <a:pPr/>
              <a:t>‹#›</a:t>
            </a:fld>
            <a:endParaRPr lang="en-US" dirty="0"/>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pic>
        <p:nvPicPr>
          <p:cNvPr id="1026" name="Picture 2" descr="Embry-Riddle Aeronautical University-Prescott Campus Information, Costs ...">
            <a:extLst>
              <a:ext uri="{FF2B5EF4-FFF2-40B4-BE49-F238E27FC236}">
                <a16:creationId xmlns:a16="http://schemas.microsoft.com/office/drawing/2014/main" id="{DDB574B0-5CB0-47E6-0DF3-12FB82A5D8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905000" cy="1905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78915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marL="0">
              <a:defRPr/>
            </a:lvl1p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F2B9026-3BAB-4EE3-BDB6-5B1E9E1CFC8C}" type="datetimeFigureOut">
              <a:rPr lang="en-US" smtClean="0"/>
              <a:t>9/1/2026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58941277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758952"/>
            <a:ext cx="10058400" cy="3566160"/>
          </a:xfrm>
        </p:spPr>
        <p:txBody>
          <a:bodyPr anchor="b" anchorCtr="0">
            <a:normAutofit/>
          </a:bodyPr>
          <a:lstStyle>
            <a:lvl1pPr>
              <a:lnSpc>
                <a:spcPct val="85000"/>
              </a:lnSpc>
              <a:defRPr sz="8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097280" y="4453128"/>
            <a:ext cx="10058400" cy="1143000"/>
          </a:xfrm>
        </p:spPr>
        <p:txBody>
          <a:bodyPr lIns="91440" rIns="91440" anchor="t" anchorCtr="0">
            <a:normAutofit/>
          </a:bodyPr>
          <a:lstStyle>
            <a:lvl1pPr marL="0" indent="0">
              <a:buNone/>
              <a:defRPr sz="2400" cap="all" spc="20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2B9026-3BAB-4EE3-BDB6-5B1E9E1CFC8C}" type="datetimeFigureOut">
              <a:rPr lang="en-US" smtClean="0"/>
              <a:t>9/1/2026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7634331"/>
      </p:ext>
    </p:extLst>
  </p:cSld>
  <p:clrMapOvr>
    <a:masterClrMapping/>
  </p:clrMapOvr>
  <p:hf hdr="0" ftr="0" dt="0"/>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1097279" y="1845734"/>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17920" y="1845735"/>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2B9026-3BAB-4EE3-BDB6-5B1E9E1CFC8C}" type="datetimeFigureOut">
              <a:rPr lang="en-US" smtClean="0"/>
              <a:t>9/1/2026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r>
              <a:rPr lang="en-US"/>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86482310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109728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09728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1792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21792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2B9026-3BAB-4EE3-BDB6-5B1E9E1CFC8C}" type="datetimeFigureOut">
              <a:rPr lang="en-US" smtClean="0"/>
              <a:t>9/1/2026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998593376"/>
      </p:ext>
    </p:extLst>
  </p:cSld>
  <p:clrMapOvr>
    <a:masterClrMapping/>
  </p:clrMapOvr>
  <p:hf hdr="0" ftr="0" dt="0"/>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9F2B9026-3BAB-4EE3-BDB6-5B1E9E1CFC8C}" type="datetimeFigureOut">
              <a:rPr lang="en-US" smtClean="0"/>
              <a:t>9/1/2026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a:xfrm>
            <a:off x="9900458" y="6459785"/>
            <a:ext cx="1487121" cy="365125"/>
          </a:xfrm>
        </p:spPr>
        <p:txBody>
          <a:bodyPr/>
          <a:lstStyle/>
          <a:p>
            <a:r>
              <a:rPr lang="en-US"/>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77696902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7" name="Date Placeholder 6"/>
          <p:cNvSpPr>
            <a:spLocks noGrp="1"/>
          </p:cNvSpPr>
          <p:nvPr>
            <p:ph type="dt" sz="half" idx="10"/>
          </p:nvPr>
        </p:nvSpPr>
        <p:spPr/>
        <p:txBody>
          <a:bodyPr/>
          <a:lstStyle/>
          <a:p>
            <a:fld id="{9F2B9026-3BAB-4EE3-BDB6-5B1E9E1CFC8C}" type="datetimeFigureOut">
              <a:rPr lang="en-US" smtClean="0"/>
              <a:t>9/1/2026</a:t>
            </a:fld>
            <a:endParaRPr lang="en-US"/>
          </a:p>
        </p:txBody>
      </p:sp>
      <p:sp>
        <p:nvSpPr>
          <p:cNvPr id="8" name="Footer Placeholder 7"/>
          <p:cNvSpPr>
            <a:spLocks noGrp="1"/>
          </p:cNvSpPr>
          <p:nvPr>
            <p:ph type="ftr" sz="quarter" idx="11"/>
          </p:nvPr>
        </p:nvSpPr>
        <p:spPr/>
        <p:txBody>
          <a:bodyPr/>
          <a:lstStyle>
            <a:lvl1pPr>
              <a:defRPr>
                <a:solidFill>
                  <a:srgbClr val="FFFFFF"/>
                </a:solidFill>
              </a:defRPr>
            </a:lvl1pPr>
          </a:lstStyle>
          <a:p>
            <a:endParaRPr lang="en-US"/>
          </a:p>
        </p:txBody>
      </p:sp>
      <p:sp>
        <p:nvSpPr>
          <p:cNvPr id="9" name="Slide Number Placeholder 8"/>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819470297"/>
      </p:ext>
    </p:extLst>
  </p:cSld>
  <p:clrMapOvr>
    <a:masterClrMapping/>
  </p:clrMapOvr>
  <p:hf hdr="0" ftr="0" dt="0"/>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8" name="Rectangle 7"/>
          <p:cNvSpPr/>
          <p:nvPr/>
        </p:nvSpPr>
        <p:spPr>
          <a:xfrm>
            <a:off x="16" y="0"/>
            <a:ext cx="405079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4040071" y="0"/>
            <a:ext cx="64008"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594359"/>
            <a:ext cx="3200400" cy="2286000"/>
          </a:xfrm>
        </p:spPr>
        <p:txBody>
          <a:bodyPr anchor="b">
            <a:normAutofit/>
          </a:bodyPr>
          <a:lstStyle>
            <a:lvl1pPr>
              <a:defRPr sz="36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4800600" y="731520"/>
            <a:ext cx="6492240"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0" y="2926080"/>
            <a:ext cx="3200400" cy="3379124"/>
          </a:xfrm>
        </p:spPr>
        <p:txBody>
          <a:bodyPr lIns="91440" rIns="91440">
            <a:normAutofit/>
          </a:bodyPr>
          <a:lstStyle>
            <a:lvl1pPr marL="0" indent="0">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65512" y="6459785"/>
            <a:ext cx="2618510" cy="365125"/>
          </a:xfrm>
        </p:spPr>
        <p:txBody>
          <a:bodyPr/>
          <a:lstStyle>
            <a:lvl1pPr algn="l">
              <a:defRPr/>
            </a:lvl1pPr>
          </a:lstStyle>
          <a:p>
            <a:fld id="{9F2B9026-3BAB-4EE3-BDB6-5B1E9E1CFC8C}" type="datetimeFigureOut">
              <a:rPr lang="en-US" smtClean="0"/>
              <a:t>9/1/2026</a:t>
            </a:fld>
            <a:endParaRPr lang="en-US"/>
          </a:p>
        </p:txBody>
      </p:sp>
      <p:sp>
        <p:nvSpPr>
          <p:cNvPr id="6" name="Footer Placeholder 5"/>
          <p:cNvSpPr>
            <a:spLocks noGrp="1"/>
          </p:cNvSpPr>
          <p:nvPr>
            <p:ph type="ftr" sz="quarter" idx="11"/>
          </p:nvPr>
        </p:nvSpPr>
        <p:spPr>
          <a:xfrm>
            <a:off x="4800600" y="6459785"/>
            <a:ext cx="4648200" cy="365125"/>
          </a:xfrm>
        </p:spPr>
        <p:txBody>
          <a:bodyPr/>
          <a:lstStyle>
            <a:lvl1pPr algn="l">
              <a:defRPr>
                <a:solidFill>
                  <a:schemeClr val="tx2"/>
                </a:solidFill>
              </a:defRPr>
            </a:lvl1pPr>
          </a:lstStyle>
          <a:p>
            <a:endParaRPr lang="en-US"/>
          </a:p>
        </p:txBody>
      </p:sp>
      <p:sp>
        <p:nvSpPr>
          <p:cNvPr id="7" name="Slide Number Placeholder 6"/>
          <p:cNvSpPr>
            <a:spLocks noGrp="1"/>
          </p:cNvSpPr>
          <p:nvPr>
            <p:ph type="sldNum" sz="quarter" idx="12"/>
          </p:nvPr>
        </p:nvSpPr>
        <p:spPr/>
        <p:txBody>
          <a:bodyPr/>
          <a:lstStyle>
            <a:lvl1pPr>
              <a:defRPr>
                <a:solidFill>
                  <a:schemeClr val="tx2"/>
                </a:solidFill>
              </a:defRPr>
            </a:lvl1p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12504732"/>
      </p:ext>
    </p:extLst>
  </p:cSld>
  <p:clrMapOvr>
    <a:masterClrMapping/>
  </p:clrMapOvr>
  <p:hf hdr="0" ftr="0" dt="0"/>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4953000"/>
            <a:ext cx="12188825"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5" y="491507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5074920"/>
            <a:ext cx="10113264" cy="822960"/>
          </a:xfrm>
        </p:spPr>
        <p:txBody>
          <a:bodyPr lIns="91440" tIns="0" rIns="91440" bIns="0" anchor="b">
            <a:noAutofit/>
          </a:bodyPr>
          <a:lstStyle>
            <a:lvl1pPr>
              <a:defRPr sz="36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5" y="0"/>
            <a:ext cx="12191985" cy="4915076"/>
          </a:xfrm>
          <a:blipFill>
            <a:blip r:embed="rId2"/>
            <a:stretch>
              <a:fillRect/>
            </a:stretch>
          </a:blipFill>
        </p:spPr>
        <p:txBody>
          <a:bodyPr lIns="457200" tIns="457200" anchor="t"/>
          <a:lstStyle>
            <a:lvl1pPr marL="0" indent="0">
              <a:buNone/>
              <a:defRPr sz="3200">
                <a:solidFill>
                  <a:schemeClr val="bg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1097280" y="5907023"/>
            <a:ext cx="10113264" cy="594360"/>
          </a:xfrm>
        </p:spPr>
        <p:txBody>
          <a:bodyPr lIns="91440" tIns="0" rIns="91440" bIns="0">
            <a:normAutofit/>
          </a:bodyPr>
          <a:lstStyle>
            <a:lvl1pPr marL="0" indent="0">
              <a:spcBef>
                <a:spcPts val="0"/>
              </a:spcBef>
              <a:spcAft>
                <a:spcPts val="600"/>
              </a:spcAft>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F2B9026-3BAB-4EE3-BDB6-5B1E9E1CFC8C}" type="datetimeFigureOut">
              <a:rPr lang="en-US" smtClean="0"/>
              <a:t>9/1/2026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375492294"/>
      </p:ext>
    </p:extLst>
  </p:cSld>
  <p:clrMapOvr>
    <a:masterClrMapping/>
  </p:clrMapOvr>
  <p:hf hdr="0" ftr="0" dt="0"/>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F2B9026-3BAB-4EE3-BDB6-5B1E9E1CFC8C}" type="datetimeFigureOut">
              <a:rPr lang="en-US" smtClean="0"/>
              <a:t>9/1/2026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23690156"/>
      </p:ext>
    </p:extLst>
  </p:cSld>
  <p:clrMapOvr>
    <a:masterClrMapping/>
  </p:clrMapOvr>
  <p:hf hdr="0" ftr="0" dt="0"/>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8724900" y="414778"/>
            <a:ext cx="2628900" cy="5757421"/>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414778"/>
            <a:ext cx="7734300" cy="5757422"/>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F2B9026-3BAB-4EE3-BDB6-5B1E9E1CFC8C}" type="datetimeFigureOut">
              <a:rPr lang="en-US" smtClean="0"/>
              <a:t>9/1/2026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r>
              <a:rPr lang="en-US"/>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63629274"/>
      </p:ext>
    </p:extLst>
  </p:cSld>
  <p:clrMapOvr>
    <a:masterClrMapping/>
  </p:clrMapOvr>
  <p:hf hdr="0" ftr="0" dt="0"/>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9336427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p:cNvSpPr/>
          <p:nvPr/>
        </p:nvSpPr>
        <p:spPr>
          <a:xfrm>
            <a:off x="1" y="6400800"/>
            <a:ext cx="1219200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9" name="Rectangle 8"/>
          <p:cNvSpPr/>
          <p:nvPr/>
        </p:nvSpPr>
        <p:spPr>
          <a:xfrm>
            <a:off x="0" y="6334316"/>
            <a:ext cx="12192001" cy="659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 name="Title Placeholder 1"/>
          <p:cNvSpPr>
            <a:spLocks noGrp="1"/>
          </p:cNvSpPr>
          <p:nvPr>
            <p:ph type="title"/>
          </p:nvPr>
        </p:nvSpPr>
        <p:spPr>
          <a:xfrm>
            <a:off x="1097280" y="286603"/>
            <a:ext cx="10058400" cy="1450757"/>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3" name="Text Placeholder 2"/>
          <p:cNvSpPr>
            <a:spLocks noGrp="1"/>
          </p:cNvSpPr>
          <p:nvPr>
            <p:ph type="body" idx="1"/>
          </p:nvPr>
        </p:nvSpPr>
        <p:spPr>
          <a:xfrm>
            <a:off x="1097280" y="1845734"/>
            <a:ext cx="10058400" cy="4023360"/>
          </a:xfrm>
          <a:prstGeom prst="rect">
            <a:avLst/>
          </a:prstGeom>
        </p:spPr>
        <p:txBody>
          <a:bodyPr vert="horz" lIns="0" tIns="45720" rIns="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097280" y="6459785"/>
            <a:ext cx="2472271" cy="365125"/>
          </a:xfrm>
          <a:prstGeom prst="rect">
            <a:avLst/>
          </a:prstGeom>
        </p:spPr>
        <p:txBody>
          <a:bodyPr vert="horz" lIns="91440" tIns="45720" rIns="91440" bIns="45720" rtlCol="0" anchor="ctr"/>
          <a:lstStyle>
            <a:lvl1pPr algn="l">
              <a:defRPr sz="900">
                <a:solidFill>
                  <a:srgbClr val="FFFFFF"/>
                </a:solidFill>
              </a:defRPr>
            </a:lvl1pPr>
          </a:lstStyle>
          <a:p>
            <a:endParaRPr lang="en-US"/>
          </a:p>
        </p:txBody>
      </p:sp>
      <p:sp>
        <p:nvSpPr>
          <p:cNvPr id="5" name="Footer Placeholder 4"/>
          <p:cNvSpPr>
            <a:spLocks noGrp="1"/>
          </p:cNvSpPr>
          <p:nvPr>
            <p:ph type="ftr" sz="quarter" idx="3"/>
          </p:nvPr>
        </p:nvSpPr>
        <p:spPr>
          <a:xfrm>
            <a:off x="3686185" y="6459785"/>
            <a:ext cx="4822804" cy="365125"/>
          </a:xfrm>
          <a:prstGeom prst="rect">
            <a:avLst/>
          </a:prstGeom>
        </p:spPr>
        <p:txBody>
          <a:bodyPr vert="horz" lIns="91440" tIns="45720" rIns="91440" bIns="45720" rtlCol="0" anchor="ctr"/>
          <a:lstStyle>
            <a:lvl1pPr algn="ctr">
              <a:defRPr sz="900" cap="all" baseline="0">
                <a:solidFill>
                  <a:srgbClr val="FFFFFF"/>
                </a:solidFill>
              </a:defRPr>
            </a:lvl1pPr>
          </a:lstStyle>
          <a:p>
            <a:endParaRPr lang="en-US"/>
          </a:p>
        </p:txBody>
      </p:sp>
      <p:sp>
        <p:nvSpPr>
          <p:cNvPr id="6" name="Slide Number Placeholder 5"/>
          <p:cNvSpPr>
            <a:spLocks noGrp="1"/>
          </p:cNvSpPr>
          <p:nvPr>
            <p:ph type="sldNum" sz="quarter" idx="4"/>
          </p:nvPr>
        </p:nvSpPr>
        <p:spPr>
          <a:xfrm>
            <a:off x="9605914" y="6459785"/>
            <a:ext cx="1606570" cy="365125"/>
          </a:xfrm>
          <a:prstGeom prst="rect">
            <a:avLst/>
          </a:prstGeom>
        </p:spPr>
        <p:txBody>
          <a:bodyPr vert="horz" lIns="91440" tIns="45720" rIns="91440" bIns="45720" rtlCol="0" anchor="ctr"/>
          <a:lstStyle>
            <a:lvl1pPr algn="r">
              <a:defRPr sz="1050">
                <a:solidFill>
                  <a:srgbClr val="FFFFFF"/>
                </a:solidFill>
              </a:defRPr>
            </a:lvl1pPr>
          </a:lstStyle>
          <a:p>
            <a:r>
              <a:rPr lang="en-US" dirty="0"/>
              <a:t>Application Layer: 2-</a:t>
            </a:r>
            <a:fld id="{C4204591-24BD-A542-B9D5-F8D8A88D2FEE}" type="slidenum">
              <a:rPr lang="en-US" smtClean="0"/>
              <a:pPr/>
              <a:t>‹#›</a:t>
            </a:fld>
            <a:endParaRPr lang="en-US" dirty="0"/>
          </a:p>
        </p:txBody>
      </p:sp>
      <p:cxnSp>
        <p:nvCxnSpPr>
          <p:cNvPr id="10" name="Straight Connector 9"/>
          <p:cNvCxnSpPr/>
          <p:nvPr/>
        </p:nvCxnSpPr>
        <p:spPr>
          <a:xfrm>
            <a:off x="1193532" y="1737845"/>
            <a:ext cx="996696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pic>
        <p:nvPicPr>
          <p:cNvPr id="3074" name="Picture 2" descr="Embry-Riddle Aeronautical University-Prescott Campus Information, Costs ...">
            <a:extLst>
              <a:ext uri="{FF2B5EF4-FFF2-40B4-BE49-F238E27FC236}">
                <a16:creationId xmlns:a16="http://schemas.microsoft.com/office/drawing/2014/main" id="{8EF81F8A-222C-27BF-1749-F06A0802BC4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0"/>
            <a:ext cx="1092468" cy="10924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09449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50" r:id="rId12"/>
  </p:sldLayoutIdLst>
  <p:hf hdr="0" ftr="0" dt="0"/>
  <p:txStyles>
    <p:titleStyle>
      <a:lvl1pPr algn="l" defTabSz="914400" rtl="0" eaLnBrk="1" latinLnBrk="0" hangingPunct="1">
        <a:lnSpc>
          <a:spcPct val="85000"/>
        </a:lnSpc>
        <a:spcBef>
          <a:spcPct val="0"/>
        </a:spcBef>
        <a:buNone/>
        <a:defRPr sz="4800" kern="1200" spc="-50" baseline="0">
          <a:solidFill>
            <a:schemeClr val="tx1">
              <a:lumMod val="75000"/>
              <a:lumOff val="25000"/>
            </a:schemeClr>
          </a:solidFill>
          <a:latin typeface="+mj-lt"/>
          <a:ea typeface="+mj-ea"/>
          <a:cs typeface="+mj-cs"/>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mn-lt"/>
          <a:ea typeface="+mn-ea"/>
          <a:cs typeface="+mn-cs"/>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mn-lt"/>
          <a:ea typeface="+mn-ea"/>
          <a:cs typeface="+mn-cs"/>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p:cNvSpPr/>
          <p:nvPr/>
        </p:nvSpPr>
        <p:spPr>
          <a:xfrm>
            <a:off x="1" y="6400800"/>
            <a:ext cx="1219200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9" name="Rectangle 8"/>
          <p:cNvSpPr/>
          <p:nvPr/>
        </p:nvSpPr>
        <p:spPr>
          <a:xfrm>
            <a:off x="0" y="6334316"/>
            <a:ext cx="12192001" cy="659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 name="Title Placeholder 1"/>
          <p:cNvSpPr>
            <a:spLocks noGrp="1"/>
          </p:cNvSpPr>
          <p:nvPr>
            <p:ph type="title"/>
          </p:nvPr>
        </p:nvSpPr>
        <p:spPr>
          <a:xfrm>
            <a:off x="1097280" y="286603"/>
            <a:ext cx="10058400" cy="1450757"/>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3" name="Text Placeholder 2"/>
          <p:cNvSpPr>
            <a:spLocks noGrp="1"/>
          </p:cNvSpPr>
          <p:nvPr>
            <p:ph type="body" idx="1"/>
          </p:nvPr>
        </p:nvSpPr>
        <p:spPr>
          <a:xfrm>
            <a:off x="1097280" y="1845734"/>
            <a:ext cx="10058400" cy="4023360"/>
          </a:xfrm>
          <a:prstGeom prst="rect">
            <a:avLst/>
          </a:prstGeom>
        </p:spPr>
        <p:txBody>
          <a:bodyPr vert="horz" lIns="0" tIns="45720" rIns="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097280" y="6459785"/>
            <a:ext cx="2472271" cy="365125"/>
          </a:xfrm>
          <a:prstGeom prst="rect">
            <a:avLst/>
          </a:prstGeom>
        </p:spPr>
        <p:txBody>
          <a:bodyPr vert="horz" lIns="91440" tIns="45720" rIns="91440" bIns="45720" rtlCol="0" anchor="ctr"/>
          <a:lstStyle>
            <a:lvl1pPr algn="l">
              <a:defRPr sz="900">
                <a:solidFill>
                  <a:srgbClr val="FFFFFF"/>
                </a:solidFill>
              </a:defRPr>
            </a:lvl1pPr>
          </a:lstStyle>
          <a:p>
            <a:fld id="{9F2B9026-3BAB-4EE3-BDB6-5B1E9E1CFC8C}" type="datetimeFigureOut">
              <a:rPr lang="en-US" smtClean="0"/>
              <a:t>9/1/2026</a:t>
            </a:fld>
            <a:endParaRPr lang="en-US"/>
          </a:p>
        </p:txBody>
      </p:sp>
      <p:sp>
        <p:nvSpPr>
          <p:cNvPr id="5" name="Footer Placeholder 4"/>
          <p:cNvSpPr>
            <a:spLocks noGrp="1"/>
          </p:cNvSpPr>
          <p:nvPr>
            <p:ph type="ftr" sz="quarter" idx="3"/>
          </p:nvPr>
        </p:nvSpPr>
        <p:spPr>
          <a:xfrm>
            <a:off x="3686185" y="6459785"/>
            <a:ext cx="4822804" cy="365125"/>
          </a:xfrm>
          <a:prstGeom prst="rect">
            <a:avLst/>
          </a:prstGeom>
        </p:spPr>
        <p:txBody>
          <a:bodyPr vert="horz" lIns="91440" tIns="45720" rIns="91440" bIns="45720" rtlCol="0" anchor="ctr"/>
          <a:lstStyle>
            <a:lvl1pPr algn="ctr">
              <a:defRPr sz="900" cap="all" baseline="0">
                <a:solidFill>
                  <a:srgbClr val="FFFFFF"/>
                </a:solidFill>
              </a:defRPr>
            </a:lvl1pPr>
          </a:lstStyle>
          <a:p>
            <a:endParaRPr lang="en-US"/>
          </a:p>
        </p:txBody>
      </p:sp>
      <p:sp>
        <p:nvSpPr>
          <p:cNvPr id="6" name="Slide Number Placeholder 5"/>
          <p:cNvSpPr>
            <a:spLocks noGrp="1"/>
          </p:cNvSpPr>
          <p:nvPr>
            <p:ph type="sldNum" sz="quarter" idx="4"/>
          </p:nvPr>
        </p:nvSpPr>
        <p:spPr>
          <a:xfrm>
            <a:off x="9900458" y="6459785"/>
            <a:ext cx="1312025" cy="365125"/>
          </a:xfrm>
          <a:prstGeom prst="rect">
            <a:avLst/>
          </a:prstGeom>
        </p:spPr>
        <p:txBody>
          <a:bodyPr vert="horz" lIns="91440" tIns="45720" rIns="91440" bIns="45720" rtlCol="0" anchor="ctr"/>
          <a:lstStyle>
            <a:lvl1pPr algn="r">
              <a:defRPr sz="1050">
                <a:solidFill>
                  <a:srgbClr val="FFFFFF"/>
                </a:solidFill>
              </a:defRPr>
            </a:lvl1pPr>
          </a:lstStyle>
          <a:p>
            <a:r>
              <a:rPr lang="en-US"/>
              <a:t>Introduction: 1-</a:t>
            </a:r>
            <a:fld id="{C4204591-24BD-A542-B9D5-F8D8A88D2FEE}" type="slidenum">
              <a:rPr lang="en-US" smtClean="0"/>
              <a:pPr/>
              <a:t>‹#›</a:t>
            </a:fld>
            <a:endParaRPr lang="en-US" dirty="0"/>
          </a:p>
        </p:txBody>
      </p:sp>
      <p:cxnSp>
        <p:nvCxnSpPr>
          <p:cNvPr id="10" name="Straight Connector 9"/>
          <p:cNvCxnSpPr/>
          <p:nvPr/>
        </p:nvCxnSpPr>
        <p:spPr>
          <a:xfrm>
            <a:off x="1193532" y="1737845"/>
            <a:ext cx="996696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pic>
        <p:nvPicPr>
          <p:cNvPr id="3074" name="Picture 2" descr="Embry-Riddle Aeronautical University-Prescott Campus Information, Costs ...">
            <a:extLst>
              <a:ext uri="{FF2B5EF4-FFF2-40B4-BE49-F238E27FC236}">
                <a16:creationId xmlns:a16="http://schemas.microsoft.com/office/drawing/2014/main" id="{8EF81F8A-222C-27BF-1749-F06A0802BC4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0"/>
            <a:ext cx="1380512" cy="13805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4734490"/>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57" r:id="rId12"/>
  </p:sldLayoutIdLst>
  <p:hf hdr="0" ftr="0" dt="0"/>
  <p:txStyles>
    <p:titleStyle>
      <a:lvl1pPr algn="l" defTabSz="914400" rtl="0" eaLnBrk="1" latinLnBrk="0" hangingPunct="1">
        <a:lnSpc>
          <a:spcPct val="85000"/>
        </a:lnSpc>
        <a:spcBef>
          <a:spcPct val="0"/>
        </a:spcBef>
        <a:buNone/>
        <a:defRPr sz="4800" kern="1200" spc="-50" baseline="0">
          <a:solidFill>
            <a:schemeClr val="tx1">
              <a:lumMod val="75000"/>
              <a:lumOff val="25000"/>
            </a:schemeClr>
          </a:solidFill>
          <a:latin typeface="+mj-lt"/>
          <a:ea typeface="+mj-ea"/>
          <a:cs typeface="+mj-cs"/>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mn-lt"/>
          <a:ea typeface="+mn-ea"/>
          <a:cs typeface="+mn-cs"/>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mn-lt"/>
          <a:ea typeface="+mn-ea"/>
          <a:cs typeface="+mn-cs"/>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4.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4.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1.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4.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18.xml"/><Relationship Id="rId4" Type="http://schemas.openxmlformats.org/officeDocument/2006/relationships/image" Target="../media/image24.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18.xml"/><Relationship Id="rId4" Type="http://schemas.openxmlformats.org/officeDocument/2006/relationships/image" Target="../media/image26.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6.xml"/><Relationship Id="rId1" Type="http://schemas.openxmlformats.org/officeDocument/2006/relationships/slideLayout" Target="../slideLayouts/slideLayout18.xml"/><Relationship Id="rId4" Type="http://schemas.openxmlformats.org/officeDocument/2006/relationships/image" Target="../media/image27.png"/></Relationships>
</file>

<file path=ppt/slides/_rels/slide4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37.xml"/><Relationship Id="rId1" Type="http://schemas.openxmlformats.org/officeDocument/2006/relationships/slideLayout" Target="../slideLayouts/slideLayout18.xml"/><Relationship Id="rId4" Type="http://schemas.openxmlformats.org/officeDocument/2006/relationships/image" Target="../media/image29.png"/></Relationships>
</file>

<file path=ppt/slides/_rels/slide4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38.xml"/><Relationship Id="rId1" Type="http://schemas.openxmlformats.org/officeDocument/2006/relationships/slideLayout" Target="../slideLayouts/slideLayout18.xml"/><Relationship Id="rId5" Type="http://schemas.openxmlformats.org/officeDocument/2006/relationships/image" Target="../media/image32.png"/><Relationship Id="rId4" Type="http://schemas.openxmlformats.org/officeDocument/2006/relationships/image" Target="../media/image31.png"/></Relationships>
</file>

<file path=ppt/slides/_rels/slide43.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6.xml"/><Relationship Id="rId1" Type="http://schemas.openxmlformats.org/officeDocument/2006/relationships/slideLayout" Target="../slideLayouts/slideLayout1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51.xml"/><Relationship Id="rId1" Type="http://schemas.openxmlformats.org/officeDocument/2006/relationships/slideLayout" Target="../slideLayouts/slideLayout6.xml"/><Relationship Id="rId4" Type="http://schemas.openxmlformats.org/officeDocument/2006/relationships/image" Target="../media/image34.jpeg"/></Relationships>
</file>

<file path=ppt/slides/_rels/slide56.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9.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6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4.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71.xml"/><Relationship Id="rId1" Type="http://schemas.openxmlformats.org/officeDocument/2006/relationships/slideLayout" Target="../slideLayouts/slideLayout4.xml"/><Relationship Id="rId4" Type="http://schemas.openxmlformats.org/officeDocument/2006/relationships/image" Target="../media/image38.emf"/></Relationships>
</file>

<file path=ppt/slides/_rels/slide7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2.xml"/><Relationship Id="rId1" Type="http://schemas.openxmlformats.org/officeDocument/2006/relationships/slideLayout" Target="../slideLayouts/slideLayout4.xml"/><Relationship Id="rId5" Type="http://schemas.openxmlformats.org/officeDocument/2006/relationships/image" Target="../media/image40.png"/><Relationship Id="rId4" Type="http://schemas.openxmlformats.org/officeDocument/2006/relationships/image" Target="../media/image24.png"/></Relationships>
</file>

<file path=ppt/slides/_rels/slide7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3.xml"/><Relationship Id="rId1" Type="http://schemas.openxmlformats.org/officeDocument/2006/relationships/slideLayout" Target="../slideLayouts/slideLayout4.xml"/><Relationship Id="rId5" Type="http://schemas.openxmlformats.org/officeDocument/2006/relationships/image" Target="../media/image42.png"/><Relationship Id="rId4" Type="http://schemas.openxmlformats.org/officeDocument/2006/relationships/image" Target="../media/image41.pn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4.xml"/><Relationship Id="rId5" Type="http://schemas.openxmlformats.org/officeDocument/2006/relationships/image" Target="../media/image24.png"/><Relationship Id="rId4" Type="http://schemas.openxmlformats.org/officeDocument/2006/relationships/image" Target="../media/image43.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7.xml"/><Relationship Id="rId1" Type="http://schemas.openxmlformats.org/officeDocument/2006/relationships/slideLayout" Target="../slideLayouts/slideLayout4.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80.xml"/><Relationship Id="rId1" Type="http://schemas.openxmlformats.org/officeDocument/2006/relationships/slideLayout" Target="../slideLayouts/slideLayout2.xml"/><Relationship Id="rId4" Type="http://schemas.openxmlformats.org/officeDocument/2006/relationships/image" Target="../media/image50.jpeg"/></Relationships>
</file>

<file path=ppt/slides/_rels/slide8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openxmlformats.org/officeDocument/2006/relationships/image" Target="../media/image50.jpeg"/></Relationships>
</file>

<file path=ppt/slides/_rels/slide86.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53.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55.png"/></Relationships>
</file>

<file path=ppt/slides/_rels/slide92.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59.jpeg"/><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9.xml"/><Relationship Id="rId1" Type="http://schemas.openxmlformats.org/officeDocument/2006/relationships/slideLayout" Target="../slideLayouts/slideLayout2.xml"/><Relationship Id="rId5" Type="http://schemas.openxmlformats.org/officeDocument/2006/relationships/image" Target="../media/image58.png"/><Relationship Id="rId4" Type="http://schemas.openxmlformats.org/officeDocument/2006/relationships/image" Target="../media/image57.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416356" y="239750"/>
            <a:ext cx="8484102"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Application Layer</a:t>
            </a:r>
          </a:p>
        </p:txBody>
      </p:sp>
      <p:sp>
        <p:nvSpPr>
          <p:cNvPr id="2" name="Slide Number Placeholder 1">
            <a:extLst>
              <a:ext uri="{FF2B5EF4-FFF2-40B4-BE49-F238E27FC236}">
                <a16:creationId xmlns:a16="http://schemas.microsoft.com/office/drawing/2014/main" id="{98C65C94-9E94-6144-BDBB-A8F5D511E4DD}"/>
              </a:ext>
            </a:extLst>
          </p:cNvPr>
          <p:cNvSpPr>
            <a:spLocks noGrp="1"/>
          </p:cNvSpPr>
          <p:nvPr>
            <p:ph type="sldNum" sz="quarter" idx="12"/>
          </p:nvPr>
        </p:nvSpPr>
        <p:spPr/>
        <p:txBody>
          <a:bodyPr/>
          <a:lstStyle/>
          <a:p>
            <a:r>
              <a:rPr lang="en-US" dirty="0"/>
              <a:t>Application Layer: 2-</a:t>
            </a:r>
            <a:fld id="{C4204591-24BD-A542-B9D5-F8D8A88D2FEE}" type="slidenum">
              <a:rPr lang="en-US" smtClean="0"/>
              <a:pPr/>
              <a:t>1</a:t>
            </a:fld>
            <a:endParaRPr lang="en-US" dirty="0"/>
          </a:p>
        </p:txBody>
      </p:sp>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2DDBE0-9D3B-80D1-EFDB-829C63721C97}"/>
              </a:ext>
            </a:extLst>
          </p:cNvPr>
          <p:cNvSpPr>
            <a:spLocks noGrp="1"/>
          </p:cNvSpPr>
          <p:nvPr>
            <p:ph type="title"/>
          </p:nvPr>
        </p:nvSpPr>
        <p:spPr/>
        <p:txBody>
          <a:bodyPr/>
          <a:lstStyle/>
          <a:p>
            <a:r>
              <a:rPr lang="en-US" dirty="0"/>
              <a:t>Quiz example 1</a:t>
            </a:r>
          </a:p>
        </p:txBody>
      </p:sp>
      <p:sp>
        <p:nvSpPr>
          <p:cNvPr id="3" name="Content Placeholder 2">
            <a:extLst>
              <a:ext uri="{FF2B5EF4-FFF2-40B4-BE49-F238E27FC236}">
                <a16:creationId xmlns:a16="http://schemas.microsoft.com/office/drawing/2014/main" id="{384DD9C6-1894-01AD-EFFD-300C537A68AC}"/>
              </a:ext>
            </a:extLst>
          </p:cNvPr>
          <p:cNvSpPr>
            <a:spLocks noGrp="1"/>
          </p:cNvSpPr>
          <p:nvPr>
            <p:ph idx="1"/>
          </p:nvPr>
        </p:nvSpPr>
        <p:spPr/>
        <p:txBody>
          <a:bodyPr/>
          <a:lstStyle/>
          <a:p>
            <a:r>
              <a:rPr lang="en-US" dirty="0"/>
              <a:t>What does ISP stand for?</a:t>
            </a:r>
          </a:p>
          <a:p>
            <a:pPr marL="457200" indent="-457200">
              <a:buFont typeface="+mj-lt"/>
              <a:buAutoNum type="alphaLcParenR"/>
            </a:pPr>
            <a:r>
              <a:rPr lang="en-US" dirty="0"/>
              <a:t>Internet Service Provider</a:t>
            </a:r>
          </a:p>
          <a:p>
            <a:pPr marL="457200" indent="-457200">
              <a:buFont typeface="+mj-lt"/>
              <a:buAutoNum type="alphaLcParenR"/>
            </a:pPr>
            <a:r>
              <a:rPr lang="en-US" dirty="0"/>
              <a:t>Internet Service Producer</a:t>
            </a:r>
          </a:p>
          <a:p>
            <a:pPr marL="457200" indent="-457200">
              <a:buFont typeface="+mj-lt"/>
              <a:buAutoNum type="alphaLcParenR"/>
            </a:pPr>
            <a:r>
              <a:rPr lang="en-US" dirty="0"/>
              <a:t>Internet Speed Producer</a:t>
            </a:r>
          </a:p>
          <a:p>
            <a:pPr marL="457200" indent="-457200">
              <a:buFont typeface="+mj-lt"/>
              <a:buAutoNum type="alphaLcParenR"/>
            </a:pPr>
            <a:r>
              <a:rPr lang="en-US" dirty="0"/>
              <a:t>Incredible Super Powers</a:t>
            </a:r>
          </a:p>
        </p:txBody>
      </p:sp>
      <p:sp>
        <p:nvSpPr>
          <p:cNvPr id="4" name="Slide Number Placeholder 3">
            <a:extLst>
              <a:ext uri="{FF2B5EF4-FFF2-40B4-BE49-F238E27FC236}">
                <a16:creationId xmlns:a16="http://schemas.microsoft.com/office/drawing/2014/main" id="{42A42B92-01D4-E2E2-9E5C-080DC9487465}"/>
              </a:ext>
            </a:extLst>
          </p:cNvPr>
          <p:cNvSpPr>
            <a:spLocks noGrp="1"/>
          </p:cNvSpPr>
          <p:nvPr>
            <p:ph type="sldNum" sz="quarter" idx="12"/>
          </p:nvPr>
        </p:nvSpPr>
        <p:spPr/>
        <p:txBody>
          <a:bodyPr/>
          <a:lstStyle/>
          <a:p>
            <a:r>
              <a:rPr lang="en-US"/>
              <a:t>Application Layer: 2-</a:t>
            </a:r>
            <a:fld id="{C4204591-24BD-A542-B9D5-F8D8A88D2FEE}" type="slidenum">
              <a:rPr lang="en-US" smtClean="0"/>
              <a:pPr/>
              <a:t>2</a:t>
            </a:fld>
            <a:endParaRPr lang="en-US" dirty="0"/>
          </a:p>
        </p:txBody>
      </p:sp>
    </p:spTree>
    <p:extLst>
      <p:ext uri="{BB962C8B-B14F-4D97-AF65-F5344CB8AC3E}">
        <p14:creationId xmlns:p14="http://schemas.microsoft.com/office/powerpoint/2010/main" val="26199605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2DDBE0-9D3B-80D1-EFDB-829C63721C97}"/>
              </a:ext>
            </a:extLst>
          </p:cNvPr>
          <p:cNvSpPr>
            <a:spLocks noGrp="1"/>
          </p:cNvSpPr>
          <p:nvPr>
            <p:ph type="title"/>
          </p:nvPr>
        </p:nvSpPr>
        <p:spPr/>
        <p:txBody>
          <a:bodyPr/>
          <a:lstStyle/>
          <a:p>
            <a:r>
              <a:rPr lang="en-US" dirty="0"/>
              <a:t>Quiz example 1</a:t>
            </a:r>
          </a:p>
        </p:txBody>
      </p:sp>
      <p:sp>
        <p:nvSpPr>
          <p:cNvPr id="3" name="Content Placeholder 2">
            <a:extLst>
              <a:ext uri="{FF2B5EF4-FFF2-40B4-BE49-F238E27FC236}">
                <a16:creationId xmlns:a16="http://schemas.microsoft.com/office/drawing/2014/main" id="{384DD9C6-1894-01AD-EFFD-300C537A68AC}"/>
              </a:ext>
            </a:extLst>
          </p:cNvPr>
          <p:cNvSpPr>
            <a:spLocks noGrp="1"/>
          </p:cNvSpPr>
          <p:nvPr>
            <p:ph idx="1"/>
          </p:nvPr>
        </p:nvSpPr>
        <p:spPr/>
        <p:txBody>
          <a:bodyPr/>
          <a:lstStyle/>
          <a:p>
            <a:r>
              <a:rPr lang="en-US" dirty="0"/>
              <a:t>What does ISP stand for?</a:t>
            </a:r>
          </a:p>
          <a:p>
            <a:pPr marL="457200" indent="-457200">
              <a:buFont typeface="+mj-lt"/>
              <a:buAutoNum type="alphaLcParenR"/>
            </a:pPr>
            <a:r>
              <a:rPr lang="en-US" dirty="0">
                <a:solidFill>
                  <a:srgbClr val="FF0000"/>
                </a:solidFill>
              </a:rPr>
              <a:t>Internet Service Provider</a:t>
            </a:r>
          </a:p>
          <a:p>
            <a:pPr marL="457200" indent="-457200">
              <a:buFont typeface="+mj-lt"/>
              <a:buAutoNum type="alphaLcParenR"/>
            </a:pPr>
            <a:r>
              <a:rPr lang="en-US" dirty="0"/>
              <a:t>Internet Service Producer</a:t>
            </a:r>
          </a:p>
          <a:p>
            <a:pPr marL="457200" indent="-457200">
              <a:buFont typeface="+mj-lt"/>
              <a:buAutoNum type="alphaLcParenR"/>
            </a:pPr>
            <a:r>
              <a:rPr lang="en-US" dirty="0"/>
              <a:t>Internet Speed Producer</a:t>
            </a:r>
          </a:p>
          <a:p>
            <a:pPr marL="457200" indent="-457200">
              <a:buFont typeface="+mj-lt"/>
              <a:buAutoNum type="alphaLcParenR"/>
            </a:pPr>
            <a:r>
              <a:rPr lang="en-US" dirty="0"/>
              <a:t>Incredible Super Powers</a:t>
            </a:r>
          </a:p>
        </p:txBody>
      </p:sp>
      <p:sp>
        <p:nvSpPr>
          <p:cNvPr id="4" name="Slide Number Placeholder 3">
            <a:extLst>
              <a:ext uri="{FF2B5EF4-FFF2-40B4-BE49-F238E27FC236}">
                <a16:creationId xmlns:a16="http://schemas.microsoft.com/office/drawing/2014/main" id="{42A42B92-01D4-E2E2-9E5C-080DC9487465}"/>
              </a:ext>
            </a:extLst>
          </p:cNvPr>
          <p:cNvSpPr>
            <a:spLocks noGrp="1"/>
          </p:cNvSpPr>
          <p:nvPr>
            <p:ph type="sldNum" sz="quarter" idx="12"/>
          </p:nvPr>
        </p:nvSpPr>
        <p:spPr/>
        <p:txBody>
          <a:bodyPr/>
          <a:lstStyle/>
          <a:p>
            <a:r>
              <a:rPr lang="en-US"/>
              <a:t>Application Layer: 2-</a:t>
            </a:r>
            <a:fld id="{C4204591-24BD-A542-B9D5-F8D8A88D2FEE}" type="slidenum">
              <a:rPr lang="en-US" smtClean="0"/>
              <a:pPr/>
              <a:t>3</a:t>
            </a:fld>
            <a:endParaRPr lang="en-US" dirty="0"/>
          </a:p>
        </p:txBody>
      </p:sp>
    </p:spTree>
    <p:extLst>
      <p:ext uri="{BB962C8B-B14F-4D97-AF65-F5344CB8AC3E}">
        <p14:creationId xmlns:p14="http://schemas.microsoft.com/office/powerpoint/2010/main" val="11481784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2DDBE0-9D3B-80D1-EFDB-829C63721C97}"/>
              </a:ext>
            </a:extLst>
          </p:cNvPr>
          <p:cNvSpPr>
            <a:spLocks noGrp="1"/>
          </p:cNvSpPr>
          <p:nvPr>
            <p:ph type="title"/>
          </p:nvPr>
        </p:nvSpPr>
        <p:spPr/>
        <p:txBody>
          <a:bodyPr/>
          <a:lstStyle/>
          <a:p>
            <a:r>
              <a:rPr lang="en-US" dirty="0"/>
              <a:t>Quiz example 2</a:t>
            </a:r>
          </a:p>
        </p:txBody>
      </p:sp>
      <p:sp>
        <p:nvSpPr>
          <p:cNvPr id="3" name="Content Placeholder 2">
            <a:extLst>
              <a:ext uri="{FF2B5EF4-FFF2-40B4-BE49-F238E27FC236}">
                <a16:creationId xmlns:a16="http://schemas.microsoft.com/office/drawing/2014/main" id="{384DD9C6-1894-01AD-EFFD-300C537A68AC}"/>
              </a:ext>
            </a:extLst>
          </p:cNvPr>
          <p:cNvSpPr>
            <a:spLocks noGrp="1"/>
          </p:cNvSpPr>
          <p:nvPr>
            <p:ph idx="1"/>
          </p:nvPr>
        </p:nvSpPr>
        <p:spPr/>
        <p:txBody>
          <a:bodyPr/>
          <a:lstStyle/>
          <a:p>
            <a:r>
              <a:rPr lang="en-US" dirty="0"/>
              <a:t>What OSI layer routes the data from source to destination?</a:t>
            </a:r>
          </a:p>
          <a:p>
            <a:pPr marL="457200" indent="-457200">
              <a:buFont typeface="+mj-lt"/>
              <a:buAutoNum type="alphaLcParenR"/>
            </a:pPr>
            <a:r>
              <a:rPr lang="en-US" dirty="0"/>
              <a:t>Transport</a:t>
            </a:r>
          </a:p>
          <a:p>
            <a:pPr marL="457200" indent="-457200">
              <a:buFont typeface="+mj-lt"/>
              <a:buAutoNum type="alphaLcParenR"/>
            </a:pPr>
            <a:r>
              <a:rPr lang="en-US" dirty="0"/>
              <a:t>Link</a:t>
            </a:r>
          </a:p>
          <a:p>
            <a:pPr marL="457200" indent="-457200">
              <a:buFont typeface="+mj-lt"/>
              <a:buAutoNum type="alphaLcParenR"/>
            </a:pPr>
            <a:r>
              <a:rPr lang="en-US" dirty="0"/>
              <a:t>Network</a:t>
            </a:r>
          </a:p>
          <a:p>
            <a:pPr marL="457200" indent="-457200">
              <a:buFont typeface="+mj-lt"/>
              <a:buAutoNum type="alphaLcParenR"/>
            </a:pPr>
            <a:r>
              <a:rPr lang="en-US" dirty="0"/>
              <a:t>Physical</a:t>
            </a:r>
          </a:p>
        </p:txBody>
      </p:sp>
      <p:sp>
        <p:nvSpPr>
          <p:cNvPr id="4" name="Slide Number Placeholder 3">
            <a:extLst>
              <a:ext uri="{FF2B5EF4-FFF2-40B4-BE49-F238E27FC236}">
                <a16:creationId xmlns:a16="http://schemas.microsoft.com/office/drawing/2014/main" id="{42A42B92-01D4-E2E2-9E5C-080DC9487465}"/>
              </a:ext>
            </a:extLst>
          </p:cNvPr>
          <p:cNvSpPr>
            <a:spLocks noGrp="1"/>
          </p:cNvSpPr>
          <p:nvPr>
            <p:ph type="sldNum" sz="quarter" idx="12"/>
          </p:nvPr>
        </p:nvSpPr>
        <p:spPr/>
        <p:txBody>
          <a:bodyPr/>
          <a:lstStyle/>
          <a:p>
            <a:r>
              <a:rPr lang="en-US"/>
              <a:t>Application Layer: 2-</a:t>
            </a:r>
            <a:fld id="{C4204591-24BD-A542-B9D5-F8D8A88D2FEE}" type="slidenum">
              <a:rPr lang="en-US" smtClean="0"/>
              <a:pPr/>
              <a:t>4</a:t>
            </a:fld>
            <a:endParaRPr lang="en-US" dirty="0"/>
          </a:p>
        </p:txBody>
      </p:sp>
    </p:spTree>
    <p:extLst>
      <p:ext uri="{BB962C8B-B14F-4D97-AF65-F5344CB8AC3E}">
        <p14:creationId xmlns:p14="http://schemas.microsoft.com/office/powerpoint/2010/main" val="156598654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2DDBE0-9D3B-80D1-EFDB-829C63721C97}"/>
              </a:ext>
            </a:extLst>
          </p:cNvPr>
          <p:cNvSpPr>
            <a:spLocks noGrp="1"/>
          </p:cNvSpPr>
          <p:nvPr>
            <p:ph type="title"/>
          </p:nvPr>
        </p:nvSpPr>
        <p:spPr/>
        <p:txBody>
          <a:bodyPr/>
          <a:lstStyle/>
          <a:p>
            <a:r>
              <a:rPr lang="en-US" dirty="0"/>
              <a:t>Quiz example 2</a:t>
            </a:r>
          </a:p>
        </p:txBody>
      </p:sp>
      <p:sp>
        <p:nvSpPr>
          <p:cNvPr id="3" name="Content Placeholder 2">
            <a:extLst>
              <a:ext uri="{FF2B5EF4-FFF2-40B4-BE49-F238E27FC236}">
                <a16:creationId xmlns:a16="http://schemas.microsoft.com/office/drawing/2014/main" id="{384DD9C6-1894-01AD-EFFD-300C537A68AC}"/>
              </a:ext>
            </a:extLst>
          </p:cNvPr>
          <p:cNvSpPr>
            <a:spLocks noGrp="1"/>
          </p:cNvSpPr>
          <p:nvPr>
            <p:ph idx="1"/>
          </p:nvPr>
        </p:nvSpPr>
        <p:spPr/>
        <p:txBody>
          <a:bodyPr/>
          <a:lstStyle/>
          <a:p>
            <a:r>
              <a:rPr lang="en-US" dirty="0"/>
              <a:t>What OSI layer routes the data from source to destination?</a:t>
            </a:r>
          </a:p>
          <a:p>
            <a:pPr marL="457200" indent="-457200">
              <a:buFont typeface="+mj-lt"/>
              <a:buAutoNum type="alphaLcParenR"/>
            </a:pPr>
            <a:r>
              <a:rPr lang="en-US" dirty="0"/>
              <a:t>Transport</a:t>
            </a:r>
          </a:p>
          <a:p>
            <a:pPr marL="457200" indent="-457200">
              <a:buFont typeface="+mj-lt"/>
              <a:buAutoNum type="alphaLcParenR"/>
            </a:pPr>
            <a:r>
              <a:rPr lang="en-US" dirty="0"/>
              <a:t>Link</a:t>
            </a:r>
          </a:p>
          <a:p>
            <a:pPr marL="457200" indent="-457200">
              <a:buFont typeface="+mj-lt"/>
              <a:buAutoNum type="alphaLcParenR"/>
            </a:pPr>
            <a:r>
              <a:rPr lang="en-US" dirty="0">
                <a:solidFill>
                  <a:srgbClr val="FF0000"/>
                </a:solidFill>
              </a:rPr>
              <a:t>Network</a:t>
            </a:r>
            <a:endParaRPr lang="en-US" dirty="0"/>
          </a:p>
          <a:p>
            <a:pPr marL="457200" indent="-457200">
              <a:buFont typeface="+mj-lt"/>
              <a:buAutoNum type="alphaLcParenR"/>
            </a:pPr>
            <a:r>
              <a:rPr lang="en-US" dirty="0"/>
              <a:t>Physical</a:t>
            </a:r>
          </a:p>
        </p:txBody>
      </p:sp>
      <p:sp>
        <p:nvSpPr>
          <p:cNvPr id="4" name="Slide Number Placeholder 3">
            <a:extLst>
              <a:ext uri="{FF2B5EF4-FFF2-40B4-BE49-F238E27FC236}">
                <a16:creationId xmlns:a16="http://schemas.microsoft.com/office/drawing/2014/main" id="{42A42B92-01D4-E2E2-9E5C-080DC9487465}"/>
              </a:ext>
            </a:extLst>
          </p:cNvPr>
          <p:cNvSpPr>
            <a:spLocks noGrp="1"/>
          </p:cNvSpPr>
          <p:nvPr>
            <p:ph type="sldNum" sz="quarter" idx="12"/>
          </p:nvPr>
        </p:nvSpPr>
        <p:spPr/>
        <p:txBody>
          <a:bodyPr/>
          <a:lstStyle/>
          <a:p>
            <a:r>
              <a:rPr lang="en-US"/>
              <a:t>Application Layer: 2-</a:t>
            </a:r>
            <a:fld id="{C4204591-24BD-A542-B9D5-F8D8A88D2FEE}" type="slidenum">
              <a:rPr lang="en-US" smtClean="0"/>
              <a:pPr/>
              <a:t>5</a:t>
            </a:fld>
            <a:endParaRPr lang="en-US" dirty="0"/>
          </a:p>
        </p:txBody>
      </p:sp>
    </p:spTree>
    <p:extLst>
      <p:ext uri="{BB962C8B-B14F-4D97-AF65-F5344CB8AC3E}">
        <p14:creationId xmlns:p14="http://schemas.microsoft.com/office/powerpoint/2010/main" val="23056008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23544" y="248452"/>
            <a:ext cx="10515600" cy="894622"/>
          </a:xfrm>
        </p:spPr>
        <p:txBody>
          <a:bodyPr>
            <a:normAutofit/>
          </a:bodyPr>
          <a:lstStyle/>
          <a:p>
            <a:r>
              <a:rPr lang="en-US" altLang="en-US" sz="4400">
                <a:cs typeface="Calibri" panose="020F0502020204030204" pitchFamily="34" charset="0"/>
              </a:rPr>
              <a:t>Application </a:t>
            </a:r>
            <a:r>
              <a:rPr lang="en-US" altLang="en-US">
                <a:cs typeface="Calibri" panose="020F0502020204030204" pitchFamily="34" charset="0"/>
              </a:rPr>
              <a:t>l</a:t>
            </a:r>
            <a:r>
              <a:rPr lang="en-US" altLang="en-US" sz="4400">
                <a:cs typeface="Calibri" panose="020F0502020204030204" pitchFamily="34" charset="0"/>
              </a:rPr>
              <a:t>ayer: overview</a:t>
            </a:r>
            <a:endParaRPr lang="en-US" sz="4400" dirty="0"/>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12"/>
          </p:nvPr>
        </p:nvSpPr>
        <p:spPr/>
        <p:txBody>
          <a:bodyPr/>
          <a:lstStyle/>
          <a:p>
            <a:r>
              <a:rPr lang="en-US"/>
              <a:t>Application Layer: 2-</a:t>
            </a:r>
            <a:fld id="{C4204591-24BD-A542-B9D5-F8D8A88D2FEE}" type="slidenum">
              <a:rPr lang="en-US" smtClean="0"/>
              <a:pPr/>
              <a:t>6</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86816" y="1253331"/>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847172"/>
            <a:ext cx="5405262" cy="4351338"/>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17766" y="292172"/>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7</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107167416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11513" y="236547"/>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12"/>
          </p:nvPr>
        </p:nvSpPr>
        <p:spPr/>
        <p:txBody>
          <a:bodyPr/>
          <a:lstStyle/>
          <a:p>
            <a:r>
              <a:rPr lang="en-US" dirty="0"/>
              <a:t>Application Layer: 2-</a:t>
            </a:r>
            <a:fld id="{C4204591-24BD-A542-B9D5-F8D8A88D2FEE}" type="slidenum">
              <a:rPr lang="en-US" smtClean="0"/>
              <a:pPr/>
              <a:t>8</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828800"/>
            <a:ext cx="5309184" cy="3979466"/>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78268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215210" y="265333"/>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12"/>
          </p:nvPr>
        </p:nvSpPr>
        <p:spPr/>
        <p:txBody>
          <a:bodyPr/>
          <a:lstStyle/>
          <a:p>
            <a:r>
              <a:rPr lang="en-US" dirty="0"/>
              <a:t>Application Layer: 2-</a:t>
            </a:r>
            <a:fld id="{C4204591-24BD-A542-B9D5-F8D8A88D2FEE}" type="slidenum">
              <a:rPr lang="en-US" smtClean="0"/>
              <a:pPr/>
              <a:t>9</a:t>
            </a:fld>
            <a:endParaRPr lang="en-US"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1"/>
                                        </p:tgtEl>
                                        <p:attrNameLst>
                                          <p:attrName>style.visibility</p:attrName>
                                        </p:attrNameLst>
                                      </p:cBhvr>
                                      <p:to>
                                        <p:strVal val="visible"/>
                                      </p:to>
                                    </p:set>
                                    <p:animEffect transition="in" filter="dissolve">
                                      <p:cBhvr>
                                        <p:cTn id="12" dur="500"/>
                                        <p:tgtEl>
                                          <p:spTgt spid="571"/>
                                        </p:tgtEl>
                                      </p:cBhvr>
                                    </p:animEffect>
                                  </p:childTnLst>
                                </p:cTn>
                              </p:par>
                              <p:par>
                                <p:cTn id="13" presetID="9" presetClass="entr" presetSubtype="0" fill="hold" nodeType="withEffect">
                                  <p:stCondLst>
                                    <p:cond delay="0"/>
                                  </p:stCondLst>
                                  <p:childTnLst>
                                    <p:set>
                                      <p:cBhvr>
                                        <p:cTn id="14" dur="1" fill="hold">
                                          <p:stCondLst>
                                            <p:cond delay="0"/>
                                          </p:stCondLst>
                                        </p:cTn>
                                        <p:tgtEl>
                                          <p:spTgt spid="631"/>
                                        </p:tgtEl>
                                        <p:attrNameLst>
                                          <p:attrName>style.visibility</p:attrName>
                                        </p:attrNameLst>
                                      </p:cBhvr>
                                      <p:to>
                                        <p:strVal val="visible"/>
                                      </p:to>
                                    </p:set>
                                    <p:animEffect transition="in" filter="dissolve">
                                      <p:cBhvr>
                                        <p:cTn id="15" dur="500"/>
                                        <p:tgtEl>
                                          <p:spTgt spid="631"/>
                                        </p:tgtEl>
                                      </p:cBhvr>
                                    </p:animEffect>
                                  </p:childTnLst>
                                </p:cTn>
                              </p:par>
                              <p:par>
                                <p:cTn id="16" presetID="9" presetClass="entr" presetSubtype="0" fill="hold" nodeType="withEffect">
                                  <p:stCondLst>
                                    <p:cond delay="0"/>
                                  </p:stCondLst>
                                  <p:childTnLst>
                                    <p:set>
                                      <p:cBhvr>
                                        <p:cTn id="17" dur="1" fill="hold">
                                          <p:stCondLst>
                                            <p:cond delay="0"/>
                                          </p:stCondLst>
                                        </p:cTn>
                                        <p:tgtEl>
                                          <p:spTgt spid="642"/>
                                        </p:tgtEl>
                                        <p:attrNameLst>
                                          <p:attrName>style.visibility</p:attrName>
                                        </p:attrNameLst>
                                      </p:cBhvr>
                                      <p:to>
                                        <p:strVal val="visible"/>
                                      </p:to>
                                    </p:set>
                                    <p:animEffect transition="in" filter="dissolve">
                                      <p:cBhvr>
                                        <p:cTn id="18" dur="500"/>
                                        <p:tgtEl>
                                          <p:spTgt spid="642"/>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652"/>
                                        </p:tgtEl>
                                        <p:attrNameLst>
                                          <p:attrName>style.visibility</p:attrName>
                                        </p:attrNameLst>
                                      </p:cBhvr>
                                      <p:to>
                                        <p:strVal val="visible"/>
                                      </p:to>
                                    </p:set>
                                    <p:animEffect transition="in" filter="dissolve">
                                      <p:cBhvr>
                                        <p:cTn id="23" dur="500"/>
                                        <p:tgtEl>
                                          <p:spTgt spid="65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51"/>
                                        </p:tgtEl>
                                        <p:attrNameLst>
                                          <p:attrName>style.visibility</p:attrName>
                                        </p:attrNameLst>
                                      </p:cBhvr>
                                      <p:to>
                                        <p:strVal val="visible"/>
                                      </p:to>
                                    </p:set>
                                    <p:animEffect transition="in" filter="dissolve">
                                      <p:cBhvr>
                                        <p:cTn id="26" dur="500"/>
                                        <p:tgtEl>
                                          <p:spTgt spid="651"/>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4" end="4"/>
                                            </p:txEl>
                                          </p:spTgt>
                                        </p:tgtEl>
                                        <p:attrNameLst>
                                          <p:attrName>style.visibility</p:attrName>
                                        </p:attrNameLst>
                                      </p:cBhvr>
                                      <p:to>
                                        <p:strVal val="visible"/>
                                      </p:to>
                                    </p:set>
                                    <p:animEffect transition="in" filter="dissolve">
                                      <p:cBhvr>
                                        <p:cTn id="31" dur="500"/>
                                        <p:tgtEl>
                                          <p:spTgt spid="656">
                                            <p:txEl>
                                              <p:pRg st="4" end="4"/>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656">
                                            <p:txEl>
                                              <p:pRg st="5" end="5"/>
                                            </p:txEl>
                                          </p:spTgt>
                                        </p:tgtEl>
                                        <p:attrNameLst>
                                          <p:attrName>style.visibility</p:attrName>
                                        </p:attrNameLst>
                                      </p:cBhvr>
                                      <p:to>
                                        <p:strVal val="visible"/>
                                      </p:to>
                                    </p:set>
                                    <p:animEffect transition="in" filter="dissolve">
                                      <p:cBhvr>
                                        <p:cTn id="34" dur="500"/>
                                        <p:tgtEl>
                                          <p:spTgt spid="656">
                                            <p:txEl>
                                              <p:pRg st="5" end="5"/>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656">
                                            <p:txEl>
                                              <p:pRg st="6" end="6"/>
                                            </p:txEl>
                                          </p:spTgt>
                                        </p:tgtEl>
                                        <p:attrNameLst>
                                          <p:attrName>style.visibility</p:attrName>
                                        </p:attrNameLst>
                                      </p:cBhvr>
                                      <p:to>
                                        <p:strVal val="visible"/>
                                      </p:to>
                                    </p:set>
                                    <p:animEffect transition="in" filter="dissolve">
                                      <p:cBhvr>
                                        <p:cTn id="37"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67795" y="253559"/>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12"/>
          </p:nvPr>
        </p:nvSpPr>
        <p:spPr/>
        <p:txBody>
          <a:bodyPr/>
          <a:lstStyle/>
          <a:p>
            <a:r>
              <a:rPr lang="en-US" dirty="0"/>
              <a:t>Application Layer: 2-</a:t>
            </a:r>
            <a:fld id="{C4204591-24BD-A542-B9D5-F8D8A88D2FEE}" type="slidenum">
              <a:rPr lang="en-US" smtClean="0"/>
              <a:pPr/>
              <a:t>10</a:t>
            </a:fld>
            <a:endParaRPr lang="en-US"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67795" y="265652"/>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12"/>
          </p:nvPr>
        </p:nvSpPr>
        <p:spPr/>
        <p:txBody>
          <a:bodyPr/>
          <a:lstStyle/>
          <a:p>
            <a:r>
              <a:rPr lang="en-US" dirty="0"/>
              <a:t>Application Layer: 2-</a:t>
            </a:r>
            <a:fld id="{C4204591-24BD-A542-B9D5-F8D8A88D2FEE}" type="slidenum">
              <a:rPr lang="en-US" smtClean="0"/>
              <a:pPr/>
              <a:t>11</a:t>
            </a:fld>
            <a:endParaRPr lang="en-US"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9220832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87449"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12"/>
          </p:nvPr>
        </p:nvSpPr>
        <p:spPr/>
        <p:txBody>
          <a:bodyPr/>
          <a:lstStyle/>
          <a:p>
            <a:r>
              <a:rPr lang="en-US" dirty="0"/>
              <a:t>Application Layer: 2-</a:t>
            </a:r>
            <a:fld id="{C4204591-24BD-A542-B9D5-F8D8A88D2FEE}" type="slidenum">
              <a:rPr lang="en-US" smtClean="0"/>
              <a:pPr/>
              <a:t>12</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684421"/>
            <a:ext cx="5309184" cy="4232894"/>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lang="en-US" altLang="en-US" sz="3200" i="1" dirty="0">
                <a:solidFill>
                  <a:srgbClr val="C00000"/>
                </a:solidFill>
                <a:latin typeface="Calibri" panose="020F0502020204030204"/>
                <a:ea typeface="ＭＳ Ｐゴシック" panose="020B0600070205080204" pitchFamily="34" charset="-128"/>
              </a:rPr>
              <a:t>P</a:t>
            </a:r>
            <a:r>
              <a:rPr kumimoji="0" lang="en-US" altLang="en-US" sz="3200" b="0" i="1" u="none" strike="noStrike" kern="1200" cap="none" spc="0" normalizeH="0" baseline="0" noProof="0" dirty="0" err="1">
                <a:ln>
                  <a:noFill/>
                </a:ln>
                <a:solidFill>
                  <a:srgbClr val="C00000"/>
                </a:solidFill>
                <a:effectLst/>
                <a:uLnTx/>
                <a:uFillTx/>
                <a:latin typeface="Calibri" panose="020F0502020204030204"/>
                <a:ea typeface="ＭＳ Ｐゴシック" panose="020B0600070205080204" pitchFamily="34" charset="-128"/>
                <a:cs typeface="+mn-cs"/>
              </a:rPr>
              <a:t>rocess</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480453"/>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796109"/>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Tree>
    <p:extLst>
      <p:ext uri="{BB962C8B-B14F-4D97-AF65-F5344CB8AC3E}">
        <p14:creationId xmlns:p14="http://schemas.microsoft.com/office/powerpoint/2010/main" val="39707379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23411" y="279261"/>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12"/>
          </p:nvPr>
        </p:nvSpPr>
        <p:spPr/>
        <p:txBody>
          <a:bodyPr/>
          <a:lstStyle/>
          <a:p>
            <a:r>
              <a:rPr lang="en-US" dirty="0"/>
              <a:t>Application Layer: 2-</a:t>
            </a:r>
            <a:fld id="{C4204591-24BD-A542-B9D5-F8D8A88D2FEE}" type="slidenum">
              <a:rPr lang="en-US" smtClean="0"/>
              <a:pPr/>
              <a:t>13</a:t>
            </a:fld>
            <a:endParaRPr lang="en-US"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753321"/>
            <a:ext cx="10965041" cy="2132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23065017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14115"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12"/>
          </p:nvPr>
        </p:nvSpPr>
        <p:spPr/>
        <p:txBody>
          <a:bodyPr/>
          <a:lstStyle/>
          <a:p>
            <a:r>
              <a:rPr lang="en-US" dirty="0"/>
              <a:t>Application Layer: 2-</a:t>
            </a:r>
            <a:fld id="{C4204591-24BD-A542-B9D5-F8D8A88D2FEE}" type="slidenum">
              <a:rPr lang="en-US" smtClean="0"/>
              <a:pPr/>
              <a:t>14</a:t>
            </a:fld>
            <a:endParaRPr lang="en-US"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811585"/>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811585"/>
            <a:ext cx="5573224" cy="4757090"/>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gaia.cs.uga.edu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928139"/>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
                                            <p:txEl>
                                              <p:pRg st="1" end="1"/>
                                            </p:txEl>
                                          </p:spTgt>
                                        </p:tgtEl>
                                        <p:attrNameLst>
                                          <p:attrName>style.visibility</p:attrName>
                                        </p:attrNameLst>
                                      </p:cBhvr>
                                      <p:to>
                                        <p:strVal val="visible"/>
                                      </p:to>
                                    </p:set>
                                    <p:animEffect transition="in" filter="dissolve">
                                      <p:cBhvr>
                                        <p:cTn id="22" dur="500"/>
                                        <p:tgtEl>
                                          <p:spTgt spid="62">
                                            <p:txEl>
                                              <p:pRg st="1" end="1"/>
                                            </p:txEl>
                                          </p:spTgt>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xEl>
                                              <p:pRg st="2" end="2"/>
                                            </p:txEl>
                                          </p:spTgt>
                                        </p:tgtEl>
                                        <p:attrNameLst>
                                          <p:attrName>style.visibility</p:attrName>
                                        </p:attrNameLst>
                                      </p:cBhvr>
                                      <p:to>
                                        <p:strVal val="visible"/>
                                      </p:to>
                                    </p:set>
                                    <p:animEffect transition="in" filter="dissolve">
                                      <p:cBhvr>
                                        <p:cTn id="25" dur="500"/>
                                        <p:tgtEl>
                                          <p:spTgt spid="62">
                                            <p:txEl>
                                              <p:pRg st="2" end="2"/>
                                            </p:txEl>
                                          </p:spTgt>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62">
                                            <p:txEl>
                                              <p:pRg st="3" end="3"/>
                                            </p:txEl>
                                          </p:spTgt>
                                        </p:tgtEl>
                                        <p:attrNameLst>
                                          <p:attrName>style.visibility</p:attrName>
                                        </p:attrNameLst>
                                      </p:cBhvr>
                                      <p:to>
                                        <p:strVal val="visible"/>
                                      </p:to>
                                    </p:set>
                                    <p:animEffect transition="in" filter="dissolve">
                                      <p:cBhvr>
                                        <p:cTn id="28" dur="500"/>
                                        <p:tgtEl>
                                          <p:spTgt spid="62">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62">
                                            <p:txEl>
                                              <p:pRg st="4" end="4"/>
                                            </p:txEl>
                                          </p:spTgt>
                                        </p:tgtEl>
                                        <p:attrNameLst>
                                          <p:attrName>style.visibility</p:attrName>
                                        </p:attrNameLst>
                                      </p:cBhvr>
                                      <p:to>
                                        <p:strVal val="visible"/>
                                      </p:to>
                                    </p:set>
                                    <p:animEffect transition="in" filter="dissolve">
                                      <p:cBhvr>
                                        <p:cTn id="33" dur="500"/>
                                        <p:tgtEl>
                                          <p:spTgt spid="62">
                                            <p:txEl>
                                              <p:pRg st="4" end="4"/>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2">
                                            <p:txEl>
                                              <p:pRg st="5" end="5"/>
                                            </p:txEl>
                                          </p:spTgt>
                                        </p:tgtEl>
                                        <p:attrNameLst>
                                          <p:attrName>style.visibility</p:attrName>
                                        </p:attrNameLst>
                                      </p:cBhvr>
                                      <p:to>
                                        <p:strVal val="visible"/>
                                      </p:to>
                                    </p:set>
                                    <p:animEffect transition="in" filter="dissolve">
                                      <p:cBhvr>
                                        <p:cTn id="36" dur="500"/>
                                        <p:tgtEl>
                                          <p:spTgt spid="62">
                                            <p:txEl>
                                              <p:pRg st="5" end="5"/>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62">
                                            <p:txEl>
                                              <p:pRg st="6" end="6"/>
                                            </p:txEl>
                                          </p:spTgt>
                                        </p:tgtEl>
                                        <p:attrNameLst>
                                          <p:attrName>style.visibility</p:attrName>
                                        </p:attrNameLst>
                                      </p:cBhvr>
                                      <p:to>
                                        <p:strVal val="visible"/>
                                      </p:to>
                                    </p:set>
                                    <p:animEffect transition="in" filter="dissolve">
                                      <p:cBhvr>
                                        <p:cTn id="39" dur="500"/>
                                        <p:tgtEl>
                                          <p:spTgt spid="6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build="p"/>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23544" y="287819"/>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12"/>
          </p:nvPr>
        </p:nvSpPr>
        <p:spPr/>
        <p:txBody>
          <a:bodyPr/>
          <a:lstStyle/>
          <a:p>
            <a:r>
              <a:rPr lang="en-US" dirty="0"/>
              <a:t>Application Layer: 2-</a:t>
            </a:r>
            <a:fld id="{C4204591-24BD-A542-B9D5-F8D8A88D2FEE}" type="slidenum">
              <a:rPr lang="en-US" smtClean="0"/>
              <a:pPr/>
              <a:t>15</a:t>
            </a:fld>
            <a:endParaRPr lang="en-US"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796539"/>
            <a:ext cx="5297309" cy="452004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806371"/>
            <a:ext cx="4758660" cy="452004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Tree>
    <p:extLst>
      <p:ext uri="{BB962C8B-B14F-4D97-AF65-F5344CB8AC3E}">
        <p14:creationId xmlns:p14="http://schemas.microsoft.com/office/powerpoint/2010/main" val="51133618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43596"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app need?</a:t>
            </a:r>
            <a:endParaRPr lang="en-US" sz="4400" dirty="0"/>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12"/>
          </p:nvPr>
        </p:nvSpPr>
        <p:spPr/>
        <p:txBody>
          <a:bodyPr/>
          <a:lstStyle/>
          <a:p>
            <a:r>
              <a:rPr lang="en-US" dirty="0"/>
              <a:t>Application Layer: 2-</a:t>
            </a:r>
            <a:fld id="{C4204591-24BD-A542-B9D5-F8D8A88D2FEE}" type="slidenum">
              <a:rPr lang="en-US" smtClean="0"/>
              <a:pPr/>
              <a:t>16</a:t>
            </a:fld>
            <a:endParaRPr lang="en-US"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845052" y="1200669"/>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215661"/>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a:t>
            </a: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87449" y="289325"/>
            <a:ext cx="10515600" cy="894622"/>
          </a:xfrm>
        </p:spPr>
        <p:txBody>
          <a:bodyPr>
            <a:normAutofit fontScale="90000"/>
          </a:bodyPr>
          <a:lstStyle/>
          <a:p>
            <a:r>
              <a:rPr lang="en-US" altLang="en-US" sz="4400" dirty="0">
                <a:ea typeface="ＭＳ Ｐゴシック" panose="020B0600070205080204" pitchFamily="34" charset="-128"/>
              </a:rPr>
              <a:t>Transport Service Requirements: Common Apps</a:t>
            </a:r>
            <a:endParaRPr lang="en-US" sz="4400" dirty="0"/>
          </a:p>
        </p:txBody>
      </p: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12"/>
          </p:nvPr>
        </p:nvSpPr>
        <p:spPr/>
        <p:txBody>
          <a:bodyPr/>
          <a:lstStyle/>
          <a:p>
            <a:r>
              <a:rPr lang="en-US" dirty="0"/>
              <a:t>Application Layer: 2-</a:t>
            </a:r>
            <a:fld id="{C4204591-24BD-A542-B9D5-F8D8A88D2FEE}" type="slidenum">
              <a:rPr lang="en-US" smtClean="0"/>
              <a:pPr/>
              <a:t>17</a:t>
            </a:fld>
            <a:endParaRPr lang="en-US" dirty="0"/>
          </a:p>
        </p:txBody>
      </p:sp>
      <p:graphicFrame>
        <p:nvGraphicFramePr>
          <p:cNvPr id="6" name="Table 5">
            <a:extLst>
              <a:ext uri="{FF2B5EF4-FFF2-40B4-BE49-F238E27FC236}">
                <a16:creationId xmlns:a16="http://schemas.microsoft.com/office/drawing/2014/main" id="{4EDE9FFE-CD00-D3B7-514F-4C02BF609975}"/>
              </a:ext>
            </a:extLst>
          </p:cNvPr>
          <p:cNvGraphicFramePr>
            <a:graphicFrameLocks noGrp="1"/>
          </p:cNvGraphicFramePr>
          <p:nvPr>
            <p:extLst>
              <p:ext uri="{D42A27DB-BD31-4B8C-83A1-F6EECF244321}">
                <p14:modId xmlns:p14="http://schemas.microsoft.com/office/powerpoint/2010/main" val="1798751772"/>
              </p:ext>
            </p:extLst>
          </p:nvPr>
        </p:nvGraphicFramePr>
        <p:xfrm>
          <a:off x="1677176" y="1819566"/>
          <a:ext cx="8514576" cy="4314530"/>
        </p:xfrm>
        <a:graphic>
          <a:graphicData uri="http://schemas.openxmlformats.org/drawingml/2006/table">
            <a:tbl>
              <a:tblPr firstRow="1" bandRow="1">
                <a:tableStyleId>{21E4AEA4-8DFA-4A89-87EB-49C32662AFE0}</a:tableStyleId>
              </a:tblPr>
              <a:tblGrid>
                <a:gridCol w="2128644">
                  <a:extLst>
                    <a:ext uri="{9D8B030D-6E8A-4147-A177-3AD203B41FA5}">
                      <a16:colId xmlns:a16="http://schemas.microsoft.com/office/drawing/2014/main" val="430224969"/>
                    </a:ext>
                  </a:extLst>
                </a:gridCol>
                <a:gridCol w="2128644">
                  <a:extLst>
                    <a:ext uri="{9D8B030D-6E8A-4147-A177-3AD203B41FA5}">
                      <a16:colId xmlns:a16="http://schemas.microsoft.com/office/drawing/2014/main" val="189461486"/>
                    </a:ext>
                  </a:extLst>
                </a:gridCol>
                <a:gridCol w="2128644">
                  <a:extLst>
                    <a:ext uri="{9D8B030D-6E8A-4147-A177-3AD203B41FA5}">
                      <a16:colId xmlns:a16="http://schemas.microsoft.com/office/drawing/2014/main" val="182958630"/>
                    </a:ext>
                  </a:extLst>
                </a:gridCol>
                <a:gridCol w="2128644">
                  <a:extLst>
                    <a:ext uri="{9D8B030D-6E8A-4147-A177-3AD203B41FA5}">
                      <a16:colId xmlns:a16="http://schemas.microsoft.com/office/drawing/2014/main" val="2475123039"/>
                    </a:ext>
                  </a:extLst>
                </a:gridCol>
              </a:tblGrid>
              <a:tr h="423904">
                <a:tc>
                  <a:txBody>
                    <a:bodyPr/>
                    <a:lstStyle/>
                    <a:p>
                      <a:r>
                        <a:rPr lang="en-US" dirty="0"/>
                        <a:t>Application</a:t>
                      </a:r>
                    </a:p>
                  </a:txBody>
                  <a:tcPr/>
                </a:tc>
                <a:tc>
                  <a:txBody>
                    <a:bodyPr/>
                    <a:lstStyle/>
                    <a:p>
                      <a:r>
                        <a:rPr lang="en-US" dirty="0"/>
                        <a:t>Data loss</a:t>
                      </a:r>
                    </a:p>
                  </a:txBody>
                  <a:tcPr/>
                </a:tc>
                <a:tc>
                  <a:txBody>
                    <a:bodyPr/>
                    <a:lstStyle/>
                    <a:p>
                      <a:r>
                        <a:rPr lang="en-US" dirty="0"/>
                        <a:t>Throughput</a:t>
                      </a:r>
                    </a:p>
                  </a:txBody>
                  <a:tcPr/>
                </a:tc>
                <a:tc>
                  <a:txBody>
                    <a:bodyPr/>
                    <a:lstStyle/>
                    <a:p>
                      <a:r>
                        <a:rPr lang="en-US" dirty="0"/>
                        <a:t>Time sensitive</a:t>
                      </a:r>
                    </a:p>
                  </a:txBody>
                  <a:tcPr/>
                </a:tc>
                <a:extLst>
                  <a:ext uri="{0D108BD9-81ED-4DB2-BD59-A6C34878D82A}">
                    <a16:rowId xmlns:a16="http://schemas.microsoft.com/office/drawing/2014/main" val="849462907"/>
                  </a:ext>
                </a:extLst>
              </a:tr>
              <a:tr h="731670">
                <a:tc>
                  <a:txBody>
                    <a:bodyPr/>
                    <a:lstStyle/>
                    <a:p>
                      <a:r>
                        <a:rPr lang="en-US" dirty="0"/>
                        <a:t>File Transfer/download</a:t>
                      </a:r>
                    </a:p>
                  </a:txBody>
                  <a:tcPr/>
                </a:tc>
                <a:tc>
                  <a:txBody>
                    <a:bodyPr/>
                    <a:lstStyle/>
                    <a:p>
                      <a:r>
                        <a:rPr lang="en-US" dirty="0"/>
                        <a:t>No loss</a:t>
                      </a:r>
                    </a:p>
                  </a:txBody>
                  <a:tcPr/>
                </a:tc>
                <a:tc>
                  <a:txBody>
                    <a:bodyPr/>
                    <a:lstStyle/>
                    <a:p>
                      <a:r>
                        <a:rPr lang="en-US" dirty="0"/>
                        <a:t>Elastic</a:t>
                      </a:r>
                    </a:p>
                  </a:txBody>
                  <a:tcPr/>
                </a:tc>
                <a:tc>
                  <a:txBody>
                    <a:bodyPr/>
                    <a:lstStyle/>
                    <a:p>
                      <a:r>
                        <a:rPr lang="en-US" dirty="0"/>
                        <a:t>No</a:t>
                      </a:r>
                    </a:p>
                  </a:txBody>
                  <a:tcPr/>
                </a:tc>
                <a:extLst>
                  <a:ext uri="{0D108BD9-81ED-4DB2-BD59-A6C34878D82A}">
                    <a16:rowId xmlns:a16="http://schemas.microsoft.com/office/drawing/2014/main" val="4196297068"/>
                  </a:ext>
                </a:extLst>
              </a:tr>
              <a:tr h="423904">
                <a:tc>
                  <a:txBody>
                    <a:bodyPr/>
                    <a:lstStyle/>
                    <a:p>
                      <a:r>
                        <a:rPr lang="en-US" dirty="0"/>
                        <a:t>E-mail</a:t>
                      </a:r>
                    </a:p>
                  </a:txBody>
                  <a:tcPr/>
                </a:tc>
                <a:tc>
                  <a:txBody>
                    <a:bodyPr/>
                    <a:lstStyle/>
                    <a:p>
                      <a:r>
                        <a:rPr lang="en-US" dirty="0"/>
                        <a:t>No loss</a:t>
                      </a:r>
                    </a:p>
                  </a:txBody>
                  <a:tcPr/>
                </a:tc>
                <a:tc>
                  <a:txBody>
                    <a:bodyPr/>
                    <a:lstStyle/>
                    <a:p>
                      <a:r>
                        <a:rPr lang="en-US" dirty="0"/>
                        <a:t>Elastic</a:t>
                      </a:r>
                    </a:p>
                  </a:txBody>
                  <a:tcPr/>
                </a:tc>
                <a:tc>
                  <a:txBody>
                    <a:bodyPr/>
                    <a:lstStyle/>
                    <a:p>
                      <a:r>
                        <a:rPr lang="en-US" dirty="0"/>
                        <a:t>No</a:t>
                      </a:r>
                    </a:p>
                  </a:txBody>
                  <a:tcPr/>
                </a:tc>
                <a:extLst>
                  <a:ext uri="{0D108BD9-81ED-4DB2-BD59-A6C34878D82A}">
                    <a16:rowId xmlns:a16="http://schemas.microsoft.com/office/drawing/2014/main" val="993806591"/>
                  </a:ext>
                </a:extLst>
              </a:tr>
              <a:tr h="423904">
                <a:tc>
                  <a:txBody>
                    <a:bodyPr/>
                    <a:lstStyle/>
                    <a:p>
                      <a:r>
                        <a:rPr lang="en-US" dirty="0"/>
                        <a:t>Web Documents</a:t>
                      </a:r>
                    </a:p>
                  </a:txBody>
                  <a:tcPr/>
                </a:tc>
                <a:tc>
                  <a:txBody>
                    <a:bodyPr/>
                    <a:lstStyle/>
                    <a:p>
                      <a:r>
                        <a:rPr lang="en-US" dirty="0"/>
                        <a:t>No loss</a:t>
                      </a:r>
                    </a:p>
                  </a:txBody>
                  <a:tcPr/>
                </a:tc>
                <a:tc>
                  <a:txBody>
                    <a:bodyPr/>
                    <a:lstStyle/>
                    <a:p>
                      <a:r>
                        <a:rPr lang="en-US" dirty="0"/>
                        <a:t>Elastic</a:t>
                      </a:r>
                    </a:p>
                  </a:txBody>
                  <a:tcPr/>
                </a:tc>
                <a:tc>
                  <a:txBody>
                    <a:bodyPr/>
                    <a:lstStyle/>
                    <a:p>
                      <a:r>
                        <a:rPr lang="en-US" dirty="0"/>
                        <a:t>No</a:t>
                      </a:r>
                    </a:p>
                  </a:txBody>
                  <a:tcPr/>
                </a:tc>
                <a:extLst>
                  <a:ext uri="{0D108BD9-81ED-4DB2-BD59-A6C34878D82A}">
                    <a16:rowId xmlns:a16="http://schemas.microsoft.com/office/drawing/2014/main" val="3592574494"/>
                  </a:ext>
                </a:extLst>
              </a:tr>
              <a:tr h="731670">
                <a:tc>
                  <a:txBody>
                    <a:bodyPr/>
                    <a:lstStyle/>
                    <a:p>
                      <a:r>
                        <a:rPr lang="en-US" dirty="0"/>
                        <a:t>Real-time audio/video</a:t>
                      </a:r>
                    </a:p>
                  </a:txBody>
                  <a:tcPr/>
                </a:tc>
                <a:tc>
                  <a:txBody>
                    <a:bodyPr/>
                    <a:lstStyle/>
                    <a:p>
                      <a:r>
                        <a:rPr lang="en-US" dirty="0"/>
                        <a:t>Loss-tolerant</a:t>
                      </a:r>
                    </a:p>
                  </a:txBody>
                  <a:tcPr/>
                </a:tc>
                <a:tc>
                  <a:txBody>
                    <a:bodyPr/>
                    <a:lstStyle/>
                    <a:p>
                      <a:r>
                        <a:rPr lang="en-US" dirty="0"/>
                        <a:t>Audio: 5Kbps-1Mbps</a:t>
                      </a:r>
                    </a:p>
                  </a:txBody>
                  <a:tcPr/>
                </a:tc>
                <a:tc>
                  <a:txBody>
                    <a:bodyPr/>
                    <a:lstStyle/>
                    <a:p>
                      <a:r>
                        <a:rPr lang="en-US" dirty="0"/>
                        <a:t>Yes, 10’s msec</a:t>
                      </a:r>
                    </a:p>
                  </a:txBody>
                  <a:tcPr/>
                </a:tc>
                <a:extLst>
                  <a:ext uri="{0D108BD9-81ED-4DB2-BD59-A6C34878D82A}">
                    <a16:rowId xmlns:a16="http://schemas.microsoft.com/office/drawing/2014/main" val="2019009242"/>
                  </a:ext>
                </a:extLst>
              </a:tr>
              <a:tr h="731670">
                <a:tc>
                  <a:txBody>
                    <a:bodyPr/>
                    <a:lstStyle/>
                    <a:p>
                      <a:r>
                        <a:rPr lang="en-US" dirty="0"/>
                        <a:t>Streaming audio/video</a:t>
                      </a:r>
                    </a:p>
                  </a:txBody>
                  <a:tcPr/>
                </a:tc>
                <a:tc>
                  <a:txBody>
                    <a:bodyPr/>
                    <a:lstStyle/>
                    <a:p>
                      <a:r>
                        <a:rPr lang="en-US" dirty="0"/>
                        <a:t>Loss-tolerant</a:t>
                      </a:r>
                    </a:p>
                  </a:txBody>
                  <a:tcPr/>
                </a:tc>
                <a:tc>
                  <a:txBody>
                    <a:bodyPr/>
                    <a:lstStyle/>
                    <a:p>
                      <a:r>
                        <a:rPr lang="en-US" dirty="0"/>
                        <a:t>Audio: 5Kbps-1Mbps</a:t>
                      </a:r>
                    </a:p>
                  </a:txBody>
                  <a:tcPr/>
                </a:tc>
                <a:tc>
                  <a:txBody>
                    <a:bodyPr/>
                    <a:lstStyle/>
                    <a:p>
                      <a:r>
                        <a:rPr lang="en-US" dirty="0"/>
                        <a:t>Yes, few sec</a:t>
                      </a:r>
                    </a:p>
                  </a:txBody>
                  <a:tcPr/>
                </a:tc>
                <a:extLst>
                  <a:ext uri="{0D108BD9-81ED-4DB2-BD59-A6C34878D82A}">
                    <a16:rowId xmlns:a16="http://schemas.microsoft.com/office/drawing/2014/main" val="1195264039"/>
                  </a:ext>
                </a:extLst>
              </a:tr>
              <a:tr h="423904">
                <a:tc>
                  <a:txBody>
                    <a:bodyPr/>
                    <a:lstStyle/>
                    <a:p>
                      <a:r>
                        <a:rPr lang="en-US" dirty="0"/>
                        <a:t>Interactive games</a:t>
                      </a:r>
                    </a:p>
                  </a:txBody>
                  <a:tcPr/>
                </a:tc>
                <a:tc>
                  <a:txBody>
                    <a:bodyPr/>
                    <a:lstStyle/>
                    <a:p>
                      <a:r>
                        <a:rPr lang="en-US" dirty="0"/>
                        <a:t>Loss-tolerant</a:t>
                      </a:r>
                    </a:p>
                  </a:txBody>
                  <a:tcPr/>
                </a:tc>
                <a:tc>
                  <a:txBody>
                    <a:bodyPr/>
                    <a:lstStyle/>
                    <a:p>
                      <a:r>
                        <a:rPr lang="en-US" dirty="0"/>
                        <a:t>Kbps+</a:t>
                      </a:r>
                    </a:p>
                  </a:txBody>
                  <a:tcPr/>
                </a:tc>
                <a:tc>
                  <a:txBody>
                    <a:bodyPr/>
                    <a:lstStyle/>
                    <a:p>
                      <a:r>
                        <a:rPr lang="en-US" dirty="0"/>
                        <a:t>Yes, 10’s msec</a:t>
                      </a:r>
                    </a:p>
                  </a:txBody>
                  <a:tcPr/>
                </a:tc>
                <a:extLst>
                  <a:ext uri="{0D108BD9-81ED-4DB2-BD59-A6C34878D82A}">
                    <a16:rowId xmlns:a16="http://schemas.microsoft.com/office/drawing/2014/main" val="98236364"/>
                  </a:ext>
                </a:extLst>
              </a:tr>
              <a:tr h="423904">
                <a:tc>
                  <a:txBody>
                    <a:bodyPr/>
                    <a:lstStyle/>
                    <a:p>
                      <a:r>
                        <a:rPr lang="en-US" dirty="0"/>
                        <a:t>Text messaging</a:t>
                      </a:r>
                    </a:p>
                  </a:txBody>
                  <a:tcPr/>
                </a:tc>
                <a:tc>
                  <a:txBody>
                    <a:bodyPr/>
                    <a:lstStyle/>
                    <a:p>
                      <a:r>
                        <a:rPr lang="en-US" dirty="0"/>
                        <a:t>No loss</a:t>
                      </a:r>
                    </a:p>
                  </a:txBody>
                  <a:tcPr/>
                </a:tc>
                <a:tc>
                  <a:txBody>
                    <a:bodyPr/>
                    <a:lstStyle/>
                    <a:p>
                      <a:r>
                        <a:rPr lang="en-US" dirty="0"/>
                        <a:t>Elastic</a:t>
                      </a:r>
                    </a:p>
                  </a:txBody>
                  <a:tcPr/>
                </a:tc>
                <a:tc>
                  <a:txBody>
                    <a:bodyPr/>
                    <a:lstStyle/>
                    <a:p>
                      <a:r>
                        <a:rPr lang="en-US" dirty="0"/>
                        <a:t>Yes OR No</a:t>
                      </a:r>
                    </a:p>
                  </a:txBody>
                  <a:tcPr/>
                </a:tc>
                <a:extLst>
                  <a:ext uri="{0D108BD9-81ED-4DB2-BD59-A6C34878D82A}">
                    <a16:rowId xmlns:a16="http://schemas.microsoft.com/office/drawing/2014/main" val="1827092826"/>
                  </a:ext>
                </a:extLst>
              </a:tr>
            </a:tbl>
          </a:graphicData>
        </a:graphic>
      </p:graphicFrame>
      <p:sp>
        <p:nvSpPr>
          <p:cNvPr id="2" name="Rounded Rectangle 1">
            <a:extLst>
              <a:ext uri="{FF2B5EF4-FFF2-40B4-BE49-F238E27FC236}">
                <a16:creationId xmlns:a16="http://schemas.microsoft.com/office/drawing/2014/main" id="{0EA51BE2-1930-7D08-0ECC-C75B7BD1FF64}"/>
              </a:ext>
            </a:extLst>
          </p:cNvPr>
          <p:cNvSpPr/>
          <p:nvPr/>
        </p:nvSpPr>
        <p:spPr>
          <a:xfrm>
            <a:off x="105671" y="2270680"/>
            <a:ext cx="11648179" cy="1477751"/>
          </a:xfrm>
          <a:prstGeom prst="round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796BEFCB-9085-C154-8205-8089076FC2EB}"/>
              </a:ext>
            </a:extLst>
          </p:cNvPr>
          <p:cNvSpPr/>
          <p:nvPr/>
        </p:nvSpPr>
        <p:spPr>
          <a:xfrm>
            <a:off x="116062" y="3814453"/>
            <a:ext cx="11648179" cy="1870744"/>
          </a:xfrm>
          <a:prstGeom prst="round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535B7647-D45D-90A4-5CC6-B7E286652865}"/>
              </a:ext>
            </a:extLst>
          </p:cNvPr>
          <p:cNvSpPr/>
          <p:nvPr/>
        </p:nvSpPr>
        <p:spPr>
          <a:xfrm>
            <a:off x="148553" y="5724684"/>
            <a:ext cx="11605298" cy="409412"/>
          </a:xfrm>
          <a:prstGeom prst="roundRect">
            <a:avLst/>
          </a:prstGeom>
          <a:noFill/>
          <a:ln w="571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8570208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74916" y="311222"/>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12"/>
          </p:nvPr>
        </p:nvSpPr>
        <p:spPr/>
        <p:txBody>
          <a:bodyPr/>
          <a:lstStyle/>
          <a:p>
            <a:r>
              <a:rPr lang="en-US" dirty="0"/>
              <a:t>Application Layer: 2-</a:t>
            </a:r>
            <a:fld id="{C4204591-24BD-A542-B9D5-F8D8A88D2FEE}" type="slidenum">
              <a:rPr lang="en-US" smtClean="0"/>
              <a:pPr/>
              <a:t>18</a:t>
            </a:fld>
            <a:endParaRPr lang="en-US"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98691" y="1243234"/>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r>
              <a:rPr lang="en-US" altLang="en-US" i="1" dirty="0">
                <a:solidFill>
                  <a:srgbClr val="C00000"/>
                </a:solidFill>
                <a:ea typeface="ＭＳ Ｐゴシック" panose="020B0600070205080204" pitchFamily="34" charset="-128"/>
              </a:rPr>
              <a:t>does not provide:</a:t>
            </a:r>
            <a:r>
              <a:rPr lang="en-US" altLang="en-US" dirty="0">
                <a:solidFill>
                  <a:srgbClr val="C00000"/>
                </a:solidFill>
                <a:ea typeface="ＭＳ Ｐゴシック" panose="020B0600070205080204" pitchFamily="34" charset="-128"/>
              </a:rPr>
              <a:t> </a:t>
            </a:r>
            <a:r>
              <a:rPr lang="en-US" altLang="en-US" dirty="0">
                <a:solidFill>
                  <a:prstClr val="black"/>
                </a:solidFill>
                <a:ea typeface="ＭＳ Ｐゴシック" panose="020B0600070205080204" pitchFamily="34" charset="-128"/>
              </a:rPr>
              <a:t>timing, minimum throughput guarantee, security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276793"/>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R="0" lvl="0" indent="-338138" algn="l" defTabSz="914400" rtl="0" eaLnBrk="1" fontAlgn="auto" latinLnBrk="0" hangingPunct="1">
              <a:lnSpc>
                <a:spcPct val="90000"/>
              </a:lnSpc>
              <a:spcBef>
                <a:spcPts val="1000"/>
              </a:spcBef>
              <a:spcAft>
                <a:spcPts val="0"/>
              </a:spcAft>
              <a:buClr>
                <a:srgbClr val="0000A3"/>
              </a:buClr>
              <a:buSzTx/>
              <a:buFont typeface="Wingdings" charset="0"/>
              <a:buNone/>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6814828" y="5014779"/>
            <a:ext cx="5281922"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1" end="1"/>
                                            </p:txEl>
                                          </p:spTgt>
                                        </p:tgtEl>
                                        <p:attrNameLst>
                                          <p:attrName>style.visibility</p:attrName>
                                        </p:attrNameLst>
                                      </p:cBhvr>
                                      <p:to>
                                        <p:strVal val="visible"/>
                                      </p:to>
                                    </p:set>
                                    <p:animEffect transition="in" filter="dissolve">
                                      <p:cBhvr>
                                        <p:cTn id="7" dur="500"/>
                                        <p:tgtEl>
                                          <p:spTgt spid="17">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2" end="2"/>
                                            </p:txEl>
                                          </p:spTgt>
                                        </p:tgtEl>
                                        <p:attrNameLst>
                                          <p:attrName>style.visibility</p:attrName>
                                        </p:attrNameLst>
                                      </p:cBhvr>
                                      <p:to>
                                        <p:strVal val="visible"/>
                                      </p:to>
                                    </p:set>
                                    <p:animEffect transition="in" filter="dissolve">
                                      <p:cBhvr>
                                        <p:cTn id="10" dur="500"/>
                                        <p:tgtEl>
                                          <p:spTgt spid="17">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3" end="3"/>
                                            </p:txEl>
                                          </p:spTgt>
                                        </p:tgtEl>
                                        <p:attrNameLst>
                                          <p:attrName>style.visibility</p:attrName>
                                        </p:attrNameLst>
                                      </p:cBhvr>
                                      <p:to>
                                        <p:strVal val="visible"/>
                                      </p:to>
                                    </p:set>
                                    <p:animEffect transition="in" filter="dissolve">
                                      <p:cBhvr>
                                        <p:cTn id="13" dur="500"/>
                                        <p:tgtEl>
                                          <p:spTgt spid="17">
                                            <p:txEl>
                                              <p:pRg st="3" end="3"/>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7">
                                            <p:txEl>
                                              <p:pRg st="4" end="4"/>
                                            </p:txEl>
                                          </p:spTgt>
                                        </p:tgtEl>
                                        <p:attrNameLst>
                                          <p:attrName>style.visibility</p:attrName>
                                        </p:attrNameLst>
                                      </p:cBhvr>
                                      <p:to>
                                        <p:strVal val="visible"/>
                                      </p:to>
                                    </p:set>
                                    <p:animEffect transition="in" filter="dissolve">
                                      <p:cBhvr>
                                        <p:cTn id="16" dur="500"/>
                                        <p:tgtEl>
                                          <p:spTgt spid="17">
                                            <p:txEl>
                                              <p:pRg st="4" end="4"/>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7">
                                            <p:txEl>
                                              <p:pRg st="5" end="5"/>
                                            </p:txEl>
                                          </p:spTgt>
                                        </p:tgtEl>
                                        <p:attrNameLst>
                                          <p:attrName>style.visibility</p:attrName>
                                        </p:attrNameLst>
                                      </p:cBhvr>
                                      <p:to>
                                        <p:strVal val="visible"/>
                                      </p:to>
                                    </p:set>
                                    <p:animEffect transition="in" filter="dissolve">
                                      <p:cBhvr>
                                        <p:cTn id="19" dur="500"/>
                                        <p:tgtEl>
                                          <p:spTgt spid="17">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8">
                                            <p:txEl>
                                              <p:pRg st="1" end="1"/>
                                            </p:txEl>
                                          </p:spTgt>
                                        </p:tgtEl>
                                        <p:attrNameLst>
                                          <p:attrName>style.visibility</p:attrName>
                                        </p:attrNameLst>
                                      </p:cBhvr>
                                      <p:to>
                                        <p:strVal val="visible"/>
                                      </p:to>
                                    </p:set>
                                    <p:animEffect transition="in" filter="dissolve">
                                      <p:cBhvr>
                                        <p:cTn id="24" dur="500"/>
                                        <p:tgtEl>
                                          <p:spTgt spid="18">
                                            <p:txEl>
                                              <p:pRg st="1" end="1"/>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8">
                                            <p:txEl>
                                              <p:pRg st="2" end="2"/>
                                            </p:txEl>
                                          </p:spTgt>
                                        </p:tgtEl>
                                        <p:attrNameLst>
                                          <p:attrName>style.visibility</p:attrName>
                                        </p:attrNameLst>
                                      </p:cBhvr>
                                      <p:to>
                                        <p:strVal val="visible"/>
                                      </p:to>
                                    </p:set>
                                    <p:animEffect transition="in" filter="dissolve">
                                      <p:cBhvr>
                                        <p:cTn id="27" dur="500"/>
                                        <p:tgtEl>
                                          <p:spTgt spid="18">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allAtOnce"/>
      <p:bldP spid="18" grpId="0" uiExpand="1" build="allAtOnce"/>
      <p:bldP spid="1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74916" y="311222"/>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12"/>
          </p:nvPr>
        </p:nvSpPr>
        <p:spPr/>
        <p:txBody>
          <a:bodyPr/>
          <a:lstStyle/>
          <a:p>
            <a:r>
              <a:rPr lang="en-US" dirty="0"/>
              <a:t>Application Layer: 2-</a:t>
            </a:r>
            <a:fld id="{C4204591-24BD-A542-B9D5-F8D8A88D2FEE}" type="slidenum">
              <a:rPr lang="en-US" smtClean="0"/>
              <a:pPr/>
              <a:t>19</a:t>
            </a:fld>
            <a:endParaRPr lang="en-US"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98691" y="1243234"/>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r>
              <a:rPr lang="en-US" altLang="en-US" i="1" dirty="0">
                <a:solidFill>
                  <a:srgbClr val="C00000"/>
                </a:solidFill>
                <a:ea typeface="ＭＳ Ｐゴシック" panose="020B0600070205080204" pitchFamily="34" charset="-128"/>
              </a:rPr>
              <a:t>does not provide:</a:t>
            </a:r>
            <a:r>
              <a:rPr lang="en-US" altLang="en-US" dirty="0">
                <a:solidFill>
                  <a:srgbClr val="C00000"/>
                </a:solidFill>
                <a:ea typeface="ＭＳ Ｐゴシック" panose="020B0600070205080204" pitchFamily="34" charset="-128"/>
              </a:rPr>
              <a:t> </a:t>
            </a:r>
            <a:r>
              <a:rPr lang="en-US" altLang="en-US" dirty="0">
                <a:solidFill>
                  <a:prstClr val="black"/>
                </a:solidFill>
                <a:ea typeface="ＭＳ Ｐゴシック" panose="020B0600070205080204" pitchFamily="34" charset="-128"/>
              </a:rPr>
              <a:t>timing, minimum throughput guarantee, security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276793"/>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R="0" lvl="0" indent="-338138" algn="l" defTabSz="914400" rtl="0" eaLnBrk="1" fontAlgn="auto" latinLnBrk="0" hangingPunct="1">
              <a:lnSpc>
                <a:spcPct val="90000"/>
              </a:lnSpc>
              <a:spcBef>
                <a:spcPts val="1000"/>
              </a:spcBef>
              <a:spcAft>
                <a:spcPts val="0"/>
              </a:spcAft>
              <a:buClr>
                <a:srgbClr val="0000A3"/>
              </a:buClr>
              <a:buSzTx/>
              <a:buFont typeface="Wingdings" charset="0"/>
              <a:buNone/>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6814828" y="5014779"/>
            <a:ext cx="5281922"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a:p>
            <a:pPr>
              <a:buNone/>
              <a:defRPr/>
            </a:pPr>
            <a:r>
              <a:rPr lang="en-US" sz="2400" u="sng" dirty="0">
                <a:solidFill>
                  <a:srgbClr val="C00000"/>
                </a:solidFill>
              </a:rPr>
              <a:t>A:</a:t>
            </a:r>
            <a:r>
              <a:rPr lang="en-US" sz="2400" dirty="0">
                <a:solidFill>
                  <a:srgbClr val="C00000"/>
                </a:solidFill>
              </a:rPr>
              <a:t> </a:t>
            </a:r>
            <a:r>
              <a:rPr lang="en-US" sz="2400" dirty="0">
                <a:solidFill>
                  <a:prstClr val="black"/>
                </a:solidFill>
              </a:rPr>
              <a:t>Speed, app handles reliability, latency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830326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26934" y="284779"/>
            <a:ext cx="10515600" cy="894622"/>
          </a:xfrm>
        </p:spPr>
        <p:txBody>
          <a:bodyPr>
            <a:normAutofit/>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12"/>
          </p:nvPr>
        </p:nvSpPr>
        <p:spPr/>
        <p:txBody>
          <a:bodyPr/>
          <a:lstStyle/>
          <a:p>
            <a:r>
              <a:rPr lang="en-US" dirty="0"/>
              <a:t>Application Layer: 2-</a:t>
            </a:r>
            <a:fld id="{C4204591-24BD-A542-B9D5-F8D8A88D2FEE}" type="slidenum">
              <a:rPr lang="en-US" smtClean="0"/>
              <a:pPr/>
              <a:t>20</a:t>
            </a:fld>
            <a:endParaRPr lang="en-US" dirty="0"/>
          </a:p>
        </p:txBody>
      </p:sp>
      <p:graphicFrame>
        <p:nvGraphicFramePr>
          <p:cNvPr id="5" name="Table 4">
            <a:extLst>
              <a:ext uri="{FF2B5EF4-FFF2-40B4-BE49-F238E27FC236}">
                <a16:creationId xmlns:a16="http://schemas.microsoft.com/office/drawing/2014/main" id="{E4680A58-CF8A-60B4-D840-E92A1E2CC2FC}"/>
              </a:ext>
            </a:extLst>
          </p:cNvPr>
          <p:cNvGraphicFramePr>
            <a:graphicFrameLocks noGrp="1"/>
          </p:cNvGraphicFramePr>
          <p:nvPr>
            <p:extLst>
              <p:ext uri="{D42A27DB-BD31-4B8C-83A1-F6EECF244321}">
                <p14:modId xmlns:p14="http://schemas.microsoft.com/office/powerpoint/2010/main" val="2068751018"/>
              </p:ext>
            </p:extLst>
          </p:nvPr>
        </p:nvGraphicFramePr>
        <p:xfrm>
          <a:off x="1282509" y="1824679"/>
          <a:ext cx="9547416" cy="4020748"/>
        </p:xfrm>
        <a:graphic>
          <a:graphicData uri="http://schemas.openxmlformats.org/drawingml/2006/table">
            <a:tbl>
              <a:tblPr firstRow="1" bandRow="1">
                <a:tableStyleId>{5C22544A-7EE6-4342-B048-85BDC9FD1C3A}</a:tableStyleId>
              </a:tblPr>
              <a:tblGrid>
                <a:gridCol w="3182472">
                  <a:extLst>
                    <a:ext uri="{9D8B030D-6E8A-4147-A177-3AD203B41FA5}">
                      <a16:colId xmlns:a16="http://schemas.microsoft.com/office/drawing/2014/main" val="4092915591"/>
                    </a:ext>
                  </a:extLst>
                </a:gridCol>
                <a:gridCol w="3182472">
                  <a:extLst>
                    <a:ext uri="{9D8B030D-6E8A-4147-A177-3AD203B41FA5}">
                      <a16:colId xmlns:a16="http://schemas.microsoft.com/office/drawing/2014/main" val="2902372406"/>
                    </a:ext>
                  </a:extLst>
                </a:gridCol>
                <a:gridCol w="3182472">
                  <a:extLst>
                    <a:ext uri="{9D8B030D-6E8A-4147-A177-3AD203B41FA5}">
                      <a16:colId xmlns:a16="http://schemas.microsoft.com/office/drawing/2014/main" val="2836228579"/>
                    </a:ext>
                  </a:extLst>
                </a:gridCol>
              </a:tblGrid>
              <a:tr h="508229">
                <a:tc>
                  <a:txBody>
                    <a:bodyPr/>
                    <a:lstStyle/>
                    <a:p>
                      <a:r>
                        <a:rPr lang="en-US" dirty="0"/>
                        <a:t>Application</a:t>
                      </a:r>
                    </a:p>
                  </a:txBody>
                  <a:tcPr/>
                </a:tc>
                <a:tc>
                  <a:txBody>
                    <a:bodyPr/>
                    <a:lstStyle/>
                    <a:p>
                      <a:r>
                        <a:rPr lang="en-US" dirty="0"/>
                        <a:t>Application Layer Protocol</a:t>
                      </a:r>
                    </a:p>
                  </a:txBody>
                  <a:tcPr/>
                </a:tc>
                <a:tc>
                  <a:txBody>
                    <a:bodyPr/>
                    <a:lstStyle/>
                    <a:p>
                      <a:r>
                        <a:rPr lang="en-US" dirty="0"/>
                        <a:t>Transport Protocol</a:t>
                      </a:r>
                    </a:p>
                  </a:txBody>
                  <a:tcPr/>
                </a:tc>
                <a:extLst>
                  <a:ext uri="{0D108BD9-81ED-4DB2-BD59-A6C34878D82A}">
                    <a16:rowId xmlns:a16="http://schemas.microsoft.com/office/drawing/2014/main" val="2997555876"/>
                  </a:ext>
                </a:extLst>
              </a:tr>
              <a:tr h="518149">
                <a:tc>
                  <a:txBody>
                    <a:bodyPr/>
                    <a:lstStyle/>
                    <a:p>
                      <a:r>
                        <a:rPr lang="en-US" dirty="0"/>
                        <a:t>File Transfer/download</a:t>
                      </a:r>
                    </a:p>
                  </a:txBody>
                  <a:tcPr/>
                </a:tc>
                <a:tc>
                  <a:txBody>
                    <a:body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FTP [RFC 959]</a:t>
                      </a:r>
                    </a:p>
                  </a:txBody>
                  <a:tcPr/>
                </a:tc>
                <a:tc>
                  <a:txBody>
                    <a:bodyPr/>
                    <a:lstStyle/>
                    <a:p>
                      <a:r>
                        <a:rPr lang="en-US" dirty="0"/>
                        <a:t>TCP</a:t>
                      </a:r>
                    </a:p>
                  </a:txBody>
                  <a:tcPr/>
                </a:tc>
                <a:extLst>
                  <a:ext uri="{0D108BD9-81ED-4DB2-BD59-A6C34878D82A}">
                    <a16:rowId xmlns:a16="http://schemas.microsoft.com/office/drawing/2014/main" val="2677055657"/>
                  </a:ext>
                </a:extLst>
              </a:tr>
              <a:tr h="518149">
                <a:tc>
                  <a:txBody>
                    <a:bodyPr/>
                    <a:lstStyle/>
                    <a:p>
                      <a:r>
                        <a:rPr lang="en-US" dirty="0"/>
                        <a:t>E-mail</a:t>
                      </a:r>
                    </a:p>
                  </a:txBody>
                  <a:tcPr/>
                </a:tc>
                <a:tc>
                  <a:txBody>
                    <a:body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SMTP [RFC 5321]</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TCP</a:t>
                      </a:r>
                    </a:p>
                  </a:txBody>
                  <a:tcPr/>
                </a:tc>
                <a:extLst>
                  <a:ext uri="{0D108BD9-81ED-4DB2-BD59-A6C34878D82A}">
                    <a16:rowId xmlns:a16="http://schemas.microsoft.com/office/drawing/2014/main" val="4269135771"/>
                  </a:ext>
                </a:extLst>
              </a:tr>
              <a:tr h="518149">
                <a:tc>
                  <a:txBody>
                    <a:bodyPr/>
                    <a:lstStyle/>
                    <a:p>
                      <a:r>
                        <a:rPr lang="en-US" dirty="0"/>
                        <a:t>Web Documents</a:t>
                      </a:r>
                    </a:p>
                  </a:txBody>
                  <a:tcPr/>
                </a:tc>
                <a:tc>
                  <a:txBody>
                    <a:body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HTTP 1.1 [RFC 7320]</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TCP</a:t>
                      </a:r>
                    </a:p>
                  </a:txBody>
                  <a:tcPr/>
                </a:tc>
                <a:extLst>
                  <a:ext uri="{0D108BD9-81ED-4DB2-BD59-A6C34878D82A}">
                    <a16:rowId xmlns:a16="http://schemas.microsoft.com/office/drawing/2014/main" val="542379193"/>
                  </a:ext>
                </a:extLst>
              </a:tr>
              <a:tr h="931694">
                <a:tc>
                  <a:txBody>
                    <a:bodyPr/>
                    <a:lstStyle/>
                    <a:p>
                      <a:r>
                        <a:rPr lang="en-US" dirty="0"/>
                        <a:t>Real-time audio/video</a:t>
                      </a:r>
                    </a:p>
                  </a:txBody>
                  <a:tcPr/>
                </a:tc>
                <a:tc>
                  <a:txBody>
                    <a:body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SIP [RFC 3261], RTP [RFC 3550], or proprietary</a:t>
                      </a:r>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TCP or UDP</a:t>
                      </a:r>
                    </a:p>
                  </a:txBody>
                  <a:tcPr/>
                </a:tc>
                <a:extLst>
                  <a:ext uri="{0D108BD9-81ED-4DB2-BD59-A6C34878D82A}">
                    <a16:rowId xmlns:a16="http://schemas.microsoft.com/office/drawing/2014/main" val="314375896"/>
                  </a:ext>
                </a:extLst>
              </a:tr>
              <a:tr h="518149">
                <a:tc>
                  <a:txBody>
                    <a:bodyPr/>
                    <a:lstStyle/>
                    <a:p>
                      <a:r>
                        <a:rPr lang="en-US" dirty="0"/>
                        <a:t>Streaming audio/video</a:t>
                      </a:r>
                    </a:p>
                  </a:txBody>
                  <a:tcPr/>
                </a:tc>
                <a:tc>
                  <a:txBody>
                    <a:body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HTTP [RFC 7320], DASH</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TCP</a:t>
                      </a:r>
                    </a:p>
                  </a:txBody>
                  <a:tcPr/>
                </a:tc>
                <a:extLst>
                  <a:ext uri="{0D108BD9-81ED-4DB2-BD59-A6C34878D82A}">
                    <a16:rowId xmlns:a16="http://schemas.microsoft.com/office/drawing/2014/main" val="3940637226"/>
                  </a:ext>
                </a:extLst>
              </a:tr>
              <a:tr h="508229">
                <a:tc>
                  <a:txBody>
                    <a:bodyPr/>
                    <a:lstStyle/>
                    <a:p>
                      <a:r>
                        <a:rPr lang="en-US" dirty="0"/>
                        <a:t>Interactive games</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WOW, FPS (proprietary) </a:t>
                      </a:r>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TCP or UDP</a:t>
                      </a:r>
                    </a:p>
                  </a:txBody>
                  <a:tcPr/>
                </a:tc>
                <a:extLst>
                  <a:ext uri="{0D108BD9-81ED-4DB2-BD59-A6C34878D82A}">
                    <a16:rowId xmlns:a16="http://schemas.microsoft.com/office/drawing/2014/main" val="296239192"/>
                  </a:ext>
                </a:extLst>
              </a:tr>
            </a:tbl>
          </a:graphicData>
        </a:graphic>
      </p:graphicFrame>
      <p:sp>
        <p:nvSpPr>
          <p:cNvPr id="2" name="Rounded Rectangle 1">
            <a:extLst>
              <a:ext uri="{FF2B5EF4-FFF2-40B4-BE49-F238E27FC236}">
                <a16:creationId xmlns:a16="http://schemas.microsoft.com/office/drawing/2014/main" id="{CBA2F692-E572-B962-F4C2-442BF0304BCC}"/>
              </a:ext>
            </a:extLst>
          </p:cNvPr>
          <p:cNvSpPr/>
          <p:nvPr/>
        </p:nvSpPr>
        <p:spPr>
          <a:xfrm>
            <a:off x="124721" y="2373434"/>
            <a:ext cx="11362428" cy="1477751"/>
          </a:xfrm>
          <a:prstGeom prst="round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077DEAB2-1335-0877-026E-8CF76346F38B}"/>
              </a:ext>
            </a:extLst>
          </p:cNvPr>
          <p:cNvSpPr/>
          <p:nvPr/>
        </p:nvSpPr>
        <p:spPr>
          <a:xfrm>
            <a:off x="124720" y="3905950"/>
            <a:ext cx="11362429" cy="1939478"/>
          </a:xfrm>
          <a:prstGeom prst="round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242923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14804" y="281313"/>
            <a:ext cx="10515600" cy="894622"/>
          </a:xfrm>
        </p:spPr>
        <p:txBody>
          <a:bodyPr>
            <a:normAutofit/>
          </a:bodyPr>
          <a:lstStyle/>
          <a:p>
            <a:r>
              <a:rPr lang="en-US" altLang="en-US" sz="4400" dirty="0">
                <a:solidFill>
                  <a:schemeClr val="tx1"/>
                </a:solidFill>
                <a:ea typeface="ＭＳ Ｐゴシック" panose="020B0600070205080204" pitchFamily="34" charset="-128"/>
              </a:rPr>
              <a:t>Securing TCP</a:t>
            </a:r>
            <a:endParaRPr lang="en-US" sz="4400" dirty="0">
              <a:solidFill>
                <a:schemeClr val="tx1"/>
              </a:solidFill>
            </a:endParaRP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12"/>
          </p:nvPr>
        </p:nvSpPr>
        <p:spPr/>
        <p:txBody>
          <a:bodyPr/>
          <a:lstStyle/>
          <a:p>
            <a:r>
              <a:rPr lang="en-US" dirty="0"/>
              <a:t>Application Layer: 2-</a:t>
            </a:r>
            <a:fld id="{C4204591-24BD-A542-B9D5-F8D8A88D2FEE}" type="slidenum">
              <a:rPr lang="en-US" smtClean="0"/>
              <a:pPr/>
              <a:t>21</a:t>
            </a:fld>
            <a:endParaRPr lang="en-US"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828800"/>
            <a:ext cx="5957195" cy="450811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828800"/>
            <a:ext cx="4514589" cy="4215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TSL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TSL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7791" y="282200"/>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22</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428083705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03516" y="413028"/>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12"/>
          </p:nvPr>
        </p:nvSpPr>
        <p:spPr/>
        <p:txBody>
          <a:bodyPr/>
          <a:lstStyle/>
          <a:p>
            <a:r>
              <a:rPr lang="en-US" dirty="0"/>
              <a:t>Application Layer: 2-</a:t>
            </a:r>
            <a:fld id="{C4204591-24BD-A542-B9D5-F8D8A88D2FEE}" type="slidenum">
              <a:rPr lang="en-US" smtClean="0"/>
              <a:pPr/>
              <a:t>23</a:t>
            </a:fld>
            <a:endParaRPr lang="en-US"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733550"/>
            <a:ext cx="10774192" cy="44744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a:t>
              </a: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someDept</a:t>
              </a: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2400" b="0"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pic.gif</a:t>
              </a:r>
              <a:endPar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Tree>
    <p:extLst>
      <p:ext uri="{BB962C8B-B14F-4D97-AF65-F5344CB8AC3E}">
        <p14:creationId xmlns:p14="http://schemas.microsoft.com/office/powerpoint/2010/main" val="63672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27032" y="401504"/>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12"/>
          </p:nvPr>
        </p:nvSpPr>
        <p:spPr/>
        <p:txBody>
          <a:bodyPr/>
          <a:lstStyle/>
          <a:p>
            <a:r>
              <a:rPr lang="en-US" dirty="0"/>
              <a:t>Application Layer: 2-</a:t>
            </a:r>
            <a:fld id="{C4204591-24BD-A542-B9D5-F8D8A88D2FEE}" type="slidenum">
              <a:rPr lang="en-US" smtClean="0"/>
              <a:pPr/>
              <a:t>24</a:t>
            </a:fld>
            <a:endParaRPr lang="en-US"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811585"/>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81"/>
                                        </p:tgtEl>
                                        <p:attrNameLst>
                                          <p:attrName>style.visibility</p:attrName>
                                        </p:attrNameLst>
                                      </p:cBhvr>
                                      <p:to>
                                        <p:strVal val="visible"/>
                                      </p:to>
                                    </p:set>
                                    <p:animEffect transition="in" filter="wipe(left)">
                                      <p:cBhvr>
                                        <p:cTn id="37" dur="500"/>
                                        <p:tgtEl>
                                          <p:spTgt spid="81"/>
                                        </p:tgtEl>
                                      </p:cBhvr>
                                    </p:animEffect>
                                  </p:childTnLst>
                                </p:cTn>
                              </p:par>
                            </p:childTnLst>
                          </p:cTn>
                        </p:par>
                        <p:par>
                          <p:cTn id="38" fill="hold">
                            <p:stCondLst>
                              <p:cond delay="500"/>
                            </p:stCondLst>
                            <p:childTnLst>
                              <p:par>
                                <p:cTn id="39" presetID="22" presetClass="entr" presetSubtype="2" fill="hold" nodeType="afterEffect">
                                  <p:stCondLst>
                                    <p:cond delay="0"/>
                                  </p:stCondLst>
                                  <p:childTnLst>
                                    <p:set>
                                      <p:cBhvr>
                                        <p:cTn id="40" dur="1" fill="hold">
                                          <p:stCondLst>
                                            <p:cond delay="0"/>
                                          </p:stCondLst>
                                        </p:cTn>
                                        <p:tgtEl>
                                          <p:spTgt spid="84"/>
                                        </p:tgtEl>
                                        <p:attrNameLst>
                                          <p:attrName>style.visibility</p:attrName>
                                        </p:attrNameLst>
                                      </p:cBhvr>
                                      <p:to>
                                        <p:strVal val="visible"/>
                                      </p:to>
                                    </p:set>
                                    <p:animEffect transition="in" filter="wipe(right)">
                                      <p:cBhvr>
                                        <p:cTn id="41"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60666" y="449699"/>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12"/>
          </p:nvPr>
        </p:nvSpPr>
        <p:spPr/>
        <p:txBody>
          <a:bodyPr/>
          <a:lstStyle/>
          <a:p>
            <a:r>
              <a:rPr lang="en-US" dirty="0"/>
              <a:t>Application Layer: 2-</a:t>
            </a:r>
            <a:fld id="{C4204591-24BD-A542-B9D5-F8D8A88D2FEE}" type="slidenum">
              <a:rPr lang="en-US" smtClean="0"/>
              <a:pPr/>
              <a:t>25</a:t>
            </a:fld>
            <a:endParaRPr lang="en-US"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762124"/>
            <a:ext cx="5551487" cy="4434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750401"/>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ja-JP"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r>
              <a:rPr kumimoji="0" lang="ja-JP"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a:t>
            </a:r>
            <a:endPar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282198" cy="3248103"/>
            <a:chOff x="6909802" y="3209500"/>
            <a:chExt cx="5282198"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505301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ja-JP"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a:t>
              </a:r>
              <a:r>
                <a:rPr kumimoji="0" lang="ja-JP"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are complex!</a:t>
              </a:r>
            </a:p>
            <a:p>
              <a:pPr marL="342900" marR="0" lvl="0" indent="-342900"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342900" marR="0" lvl="0" indent="-342900"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ja-JP"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a:t>
              </a:r>
              <a:r>
                <a:rPr kumimoji="0" lang="ja-JP"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aside</a:t>
              </a:r>
            </a:p>
          </p:txBody>
        </p:sp>
      </p:gr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05016" y="449699"/>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12"/>
          </p:nvPr>
        </p:nvSpPr>
        <p:spPr/>
        <p:txBody>
          <a:bodyPr/>
          <a:lstStyle/>
          <a:p>
            <a:r>
              <a:rPr lang="en-US" dirty="0"/>
              <a:t>Application Layer: 2-</a:t>
            </a:r>
            <a:fld id="{C4204591-24BD-A542-B9D5-F8D8A88D2FEE}" type="slidenum">
              <a:rPr lang="en-US" smtClean="0"/>
              <a:pPr/>
              <a:t>26</a:t>
            </a:fld>
            <a:endParaRPr lang="en-US"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724024"/>
            <a:ext cx="5039401" cy="446726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724024"/>
            <a:ext cx="5039401" cy="446726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32282" y="419623"/>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12"/>
          </p:nvPr>
        </p:nvSpPr>
        <p:spPr/>
        <p:txBody>
          <a:bodyPr/>
          <a:lstStyle/>
          <a:p>
            <a:r>
              <a:rPr lang="en-US" dirty="0"/>
              <a:t>Application Layer: 2-</a:t>
            </a:r>
            <a:fld id="{C4204591-24BD-A542-B9D5-F8D8A88D2FEE}" type="slidenum">
              <a:rPr lang="en-US" smtClean="0"/>
              <a:pPr/>
              <a:t>27</a:t>
            </a:fld>
            <a:endParaRPr lang="en-US"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25539" y="137336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www.someSchool.edu</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someDepartment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www.someSchool.edu</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a:t>
            </a:r>
            <a:r>
              <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5929661" y="2143949"/>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2554371" y="1435181"/>
            <a:ext cx="8833208"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https://daytonabeach.erau.edu/-/media/images/university/degree-images/masters-unmanned-autonomous-systems-engineering.jpg</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03358" y="410379"/>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12"/>
          </p:nvPr>
        </p:nvSpPr>
        <p:spPr/>
        <p:txBody>
          <a:bodyPr/>
          <a:lstStyle/>
          <a:p>
            <a:r>
              <a:rPr lang="en-US" dirty="0"/>
              <a:t>Application Layer: 2-</a:t>
            </a:r>
            <a:fld id="{C4204591-24BD-A542-B9D5-F8D8A88D2FEE}" type="slidenum">
              <a:rPr lang="en-US" smtClean="0"/>
              <a:pPr/>
              <a:t>28</a:t>
            </a:fld>
            <a:endParaRPr lang="en-US" dirty="0"/>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2" name="Rectangle 3">
            <a:extLst>
              <a:ext uri="{FF2B5EF4-FFF2-40B4-BE49-F238E27FC236}">
                <a16:creationId xmlns:a16="http://schemas.microsoft.com/office/drawing/2014/main" id="{16FF3C35-C6DB-2D2F-2ABA-2BB9AF1F971A}"/>
              </a:ext>
            </a:extLst>
          </p:cNvPr>
          <p:cNvSpPr txBox="1">
            <a:spLocks noChangeArrowheads="1"/>
          </p:cNvSpPr>
          <p:nvPr/>
        </p:nvSpPr>
        <p:spPr>
          <a:xfrm>
            <a:off x="-25539" y="137336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3" name="Text Box 15">
            <a:extLst>
              <a:ext uri="{FF2B5EF4-FFF2-40B4-BE49-F238E27FC236}">
                <a16:creationId xmlns:a16="http://schemas.microsoft.com/office/drawing/2014/main" id="{37DBCEE1-CA08-F134-244F-6F7DE9FD09B9}"/>
              </a:ext>
            </a:extLst>
          </p:cNvPr>
          <p:cNvSpPr txBox="1">
            <a:spLocks noChangeArrowheads="1"/>
          </p:cNvSpPr>
          <p:nvPr/>
        </p:nvSpPr>
        <p:spPr bwMode="auto">
          <a:xfrm>
            <a:off x="5929661" y="2143949"/>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99C4220E-FC21-8A60-0DAA-EA8FFF055474}"/>
              </a:ext>
            </a:extLst>
          </p:cNvPr>
          <p:cNvSpPr>
            <a:spLocks noChangeArrowheads="1"/>
          </p:cNvSpPr>
          <p:nvPr/>
        </p:nvSpPr>
        <p:spPr bwMode="auto">
          <a:xfrm>
            <a:off x="2554371" y="1435181"/>
            <a:ext cx="8833208"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https://daytonabeach.erau.edu/-/media/images/university/degree-images/masters-unmanned-autonomous-systems-engineering.jpg</a:t>
            </a: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58860" y="438966"/>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12"/>
          </p:nvPr>
        </p:nvSpPr>
        <p:spPr/>
        <p:txBody>
          <a:bodyPr/>
          <a:lstStyle/>
          <a:p>
            <a:r>
              <a:rPr lang="en-US" dirty="0"/>
              <a:t>Application Layer: 2-</a:t>
            </a:r>
            <a:fld id="{C4204591-24BD-A542-B9D5-F8D8A88D2FEE}" type="slidenum">
              <a:rPr lang="en-US" smtClean="0"/>
              <a:pPr/>
              <a:t>29</a:t>
            </a:fld>
            <a:endParaRPr lang="en-US"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5114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12"/>
          </p:nvPr>
        </p:nvSpPr>
        <p:spPr/>
        <p:txBody>
          <a:bodyPr/>
          <a:lstStyle/>
          <a:p>
            <a:r>
              <a:rPr lang="en-US" dirty="0"/>
              <a:t>Application Layer: 2-</a:t>
            </a:r>
            <a:fld id="{C4204591-24BD-A542-B9D5-F8D8A88D2FEE}" type="slidenum">
              <a:rPr lang="en-US" smtClean="0"/>
              <a:pPr/>
              <a:t>30</a:t>
            </a:fld>
            <a:endParaRPr lang="en-US"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677989"/>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752599"/>
            <a:ext cx="5735053" cy="43100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0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22566" y="421897"/>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12"/>
          </p:nvPr>
        </p:nvSpPr>
        <p:spPr/>
        <p:txBody>
          <a:bodyPr/>
          <a:lstStyle/>
          <a:p>
            <a:r>
              <a:rPr lang="en-US" dirty="0"/>
              <a:t>Application Layer: 2-</a:t>
            </a:r>
            <a:fld id="{C4204591-24BD-A542-B9D5-F8D8A88D2FEE}" type="slidenum">
              <a:rPr lang="en-US" smtClean="0"/>
              <a:pPr/>
              <a:t>31</a:t>
            </a:fld>
            <a:endParaRPr lang="en-US"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736951"/>
            <a:ext cx="11658600" cy="11368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index.html</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www-net.cs.uga.edu\r\n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html,application</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xhtml+xml</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en-us,en;q</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gzip,deflate</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543874" y="5263022"/>
            <a:ext cx="3267254" cy="923330"/>
            <a:chOff x="743905" y="5548787"/>
            <a:chExt cx="3267254" cy="923330"/>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69733"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27359"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12"/>
          </p:nvPr>
        </p:nvSpPr>
        <p:spPr/>
        <p:txBody>
          <a:bodyPr/>
          <a:lstStyle/>
          <a:p>
            <a:r>
              <a:rPr lang="en-US" dirty="0"/>
              <a:t>Application Layer: 2-</a:t>
            </a:r>
            <a:fld id="{C4204591-24BD-A542-B9D5-F8D8A88D2FEE}" type="slidenum">
              <a:rPr lang="en-US" smtClean="0"/>
              <a:pPr/>
              <a:t>32</a:t>
            </a:fld>
            <a:endParaRPr lang="en-US"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Tree>
    <p:extLst>
      <p:ext uri="{BB962C8B-B14F-4D97-AF65-F5344CB8AC3E}">
        <p14:creationId xmlns:p14="http://schemas.microsoft.com/office/powerpoint/2010/main" val="37193659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320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12"/>
          </p:nvPr>
        </p:nvSpPr>
        <p:spPr/>
        <p:txBody>
          <a:bodyPr/>
          <a:lstStyle/>
          <a:p>
            <a:r>
              <a:rPr lang="en-US" dirty="0"/>
              <a:t>Application Layer: 2-</a:t>
            </a:r>
            <a:fld id="{C4204591-24BD-A542-B9D5-F8D8A88D2FEE}" type="slidenum">
              <a:rPr lang="en-US" smtClean="0"/>
              <a:pPr/>
              <a:t>33</a:t>
            </a:fld>
            <a:endParaRPr lang="en-US"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t>
            </a: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t>
            </a:r>
            <a:r>
              <a:rPr kumimoji="0" lang="en-US" altLang="en-US" sz="1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animalsearch?monkeys&amp;banana</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a:t>
            </a:r>
            <a:r>
              <a:rPr kumimoji="0" lang="en-US" sz="2400" b="0" i="0" u="none" strike="noStrike" kern="1200" cap="none" spc="0" normalizeH="0" baseline="0" noProof="0" dirty="0">
                <a:ln>
                  <a:noFill/>
                </a:ln>
                <a:solidFill>
                  <a:srgbClr val="FF0000"/>
                </a:solidFill>
                <a:effectLst/>
                <a:uLnTx/>
                <a:uFillTx/>
                <a:latin typeface="Calibri"/>
                <a:ea typeface="+mn-ea"/>
                <a:cs typeface="+mn-cs"/>
              </a:rPr>
              <a:t>PUT </a:t>
            </a:r>
            <a:r>
              <a:rPr kumimoji="0" lang="en-US" sz="2400" b="0" i="0" u="none" strike="noStrike" kern="1200" cap="none" spc="0" normalizeH="0" baseline="0" noProof="0" dirty="0">
                <a:ln>
                  <a:noFill/>
                </a:ln>
                <a:solidFill>
                  <a:prstClr val="black"/>
                </a:solidFill>
                <a:effectLst/>
                <a:uLnTx/>
                <a:uFillTx/>
                <a:latin typeface="Calibri"/>
                <a:ea typeface="+mn-ea"/>
                <a:cs typeface="+mn-cs"/>
              </a:rPr>
              <a:t>HTTP request message</a:t>
            </a:r>
          </a:p>
        </p:txBody>
      </p:sp>
    </p:spTree>
    <p:extLst>
      <p:ext uri="{BB962C8B-B14F-4D97-AF65-F5344CB8AC3E}">
        <p14:creationId xmlns:p14="http://schemas.microsoft.com/office/powerpoint/2010/main" val="369124816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3684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12"/>
          </p:nvPr>
        </p:nvSpPr>
        <p:spPr/>
        <p:txBody>
          <a:bodyPr/>
          <a:lstStyle/>
          <a:p>
            <a:r>
              <a:rPr lang="en-US" dirty="0"/>
              <a:t>Application Layer: 2-</a:t>
            </a:r>
            <a:fld id="{C4204591-24BD-A542-B9D5-F8D8A88D2FEE}" type="slidenum">
              <a:rPr lang="en-US" smtClean="0"/>
              <a:pPr/>
              <a:t>34</a:t>
            </a:fld>
            <a:endParaRPr lang="en-US"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660505"/>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3089736"/>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711934"/>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815654"/>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a:t>
            </a:r>
            <a:r>
              <a:rPr kumimoji="0" lang="en-US" sz="1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mod_perl</a:t>
            </a: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a:t>
            </a: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950595"/>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95505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C9A44120-8306-2742-A6C5-833CF39C2053}"/>
              </a:ext>
            </a:extLst>
          </p:cNvPr>
          <p:cNvSpPr/>
          <p:nvPr/>
        </p:nvSpPr>
        <p:spPr>
          <a:xfrm>
            <a:off x="569055" y="4587903"/>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162175"/>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145847"/>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3043918"/>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42571" y="414244"/>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12"/>
          </p:nvPr>
        </p:nvSpPr>
        <p:spPr/>
        <p:txBody>
          <a:bodyPr/>
          <a:lstStyle/>
          <a:p>
            <a:r>
              <a:rPr lang="en-US" dirty="0"/>
              <a:t>Application Layer: 2-</a:t>
            </a:r>
            <a:fld id="{C4204591-24BD-A542-B9D5-F8D8A88D2FEE}" type="slidenum">
              <a:rPr lang="en-US" smtClean="0"/>
              <a:pPr/>
              <a:t>35</a:t>
            </a:fld>
            <a:endParaRPr lang="en-US"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3886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63110" y="166935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Tree>
    <p:extLst>
      <p:ext uri="{BB962C8B-B14F-4D97-AF65-F5344CB8AC3E}">
        <p14:creationId xmlns:p14="http://schemas.microsoft.com/office/powerpoint/2010/main" val="420651581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71603"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12"/>
          </p:nvPr>
        </p:nvSpPr>
        <p:spPr/>
        <p:txBody>
          <a:bodyPr/>
          <a:lstStyle/>
          <a:p>
            <a:r>
              <a:rPr lang="en-US" dirty="0"/>
              <a:t>Application Layer: 2-</a:t>
            </a:r>
            <a:fld id="{C4204591-24BD-A542-B9D5-F8D8A88D2FEE}" type="slidenum">
              <a:rPr lang="en-US" smtClean="0"/>
              <a:pPr/>
              <a:t>36</a:t>
            </a:fld>
            <a:endParaRPr lang="en-US"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752599"/>
            <a:ext cx="5877880" cy="445225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68595" y="1381232"/>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6096000" y="5912479"/>
            <a:ext cx="565757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5114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12"/>
          </p:nvPr>
        </p:nvSpPr>
        <p:spPr/>
        <p:txBody>
          <a:bodyPr/>
          <a:lstStyle/>
          <a:p>
            <a:r>
              <a:rPr lang="en-US" dirty="0"/>
              <a:t>Application Layer: 2-</a:t>
            </a:r>
            <a:fld id="{C4204591-24BD-A542-B9D5-F8D8A88D2FEE}" type="slidenum">
              <a:rPr lang="en-US" smtClean="0"/>
              <a:pPr/>
              <a:t>37</a:t>
            </a:fld>
            <a:endParaRPr lang="en-US"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800612"/>
            <a:ext cx="6335547" cy="43292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lang="en-US" altLang="en-US" dirty="0">
                <a:solidFill>
                  <a:prstClr val="black"/>
                </a:solidFill>
                <a:latin typeface="Calibri"/>
                <a:ea typeface="ＭＳ Ｐゴシック" panose="020B0600070205080204" pitchFamily="34" charset="-128"/>
              </a:rPr>
              <a:t>’</a:t>
            </a:r>
            <a:r>
              <a:rPr kumimoji="0" lang="en-US" altLang="ja-JP"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a:t>
            </a:r>
            <a:r>
              <a:rPr lang="en-US" altLang="ja-JP" dirty="0">
                <a:solidFill>
                  <a:prstClr val="black"/>
                </a:solidFill>
                <a:latin typeface="Calibri"/>
                <a:ea typeface="ＭＳ Ｐゴシック" panose="020B0600070205080204" pitchFamily="34" charset="-128"/>
              </a:rPr>
              <a:t>r’</a:t>
            </a:r>
            <a:r>
              <a:rPr kumimoji="0" lang="en-US" altLang="ja-JP"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6958155" y="1738699"/>
            <a:ext cx="5004661" cy="445311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dissolve">
                                      <p:cBhvr>
                                        <p:cTn id="7"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46924" y="351233"/>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12"/>
          </p:nvPr>
        </p:nvSpPr>
        <p:spPr/>
        <p:txBody>
          <a:bodyPr/>
          <a:lstStyle/>
          <a:p>
            <a:r>
              <a:rPr lang="en-US" dirty="0"/>
              <a:t>Application Layer: 2-</a:t>
            </a:r>
            <a:fld id="{C4204591-24BD-A542-B9D5-F8D8A88D2FEE}" type="slidenum">
              <a:rPr lang="en-US" smtClean="0"/>
              <a:pPr/>
              <a:t>38</a:t>
            </a:fld>
            <a:endParaRPr lang="en-US"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72999" y="1555531"/>
            <a:ext cx="9669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err="1">
                  <a:ln>
                    <a:noFill/>
                  </a:ln>
                  <a:solidFill>
                    <a:srgbClr val="FFFFFF"/>
                  </a:solidFill>
                  <a:effectLst/>
                  <a:uLnTx/>
                  <a:uFillTx/>
                  <a:latin typeface="Calibri"/>
                  <a:ea typeface="ＭＳ Ｐゴシック" panose="020B0600070205080204" pitchFamily="34" charset="-128"/>
                  <a:cs typeface="+mn-cs"/>
                </a:rPr>
                <a:t>ebay</a:t>
              </a: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22566" y="358980"/>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12"/>
          </p:nvPr>
        </p:nvSpPr>
        <p:spPr/>
        <p:txBody>
          <a:bodyPr/>
          <a:lstStyle/>
          <a:p>
            <a:r>
              <a:rPr lang="en-US" dirty="0"/>
              <a:t>Application Layer: 2-</a:t>
            </a:r>
            <a:fld id="{C4204591-24BD-A542-B9D5-F8D8A88D2FEE}" type="slidenum">
              <a:rPr lang="en-US" smtClean="0"/>
              <a:pPr/>
              <a:t>39</a:t>
            </a:fld>
            <a:endParaRPr lang="en-US"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813618"/>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818616" y="2203934"/>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463893" y="1961356"/>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866252"/>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81113" y="349114"/>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12"/>
          </p:nvPr>
        </p:nvSpPr>
        <p:spPr/>
        <p:txBody>
          <a:bodyPr/>
          <a:lstStyle/>
          <a:p>
            <a:r>
              <a:rPr lang="en-US" dirty="0"/>
              <a:t>Application Layer: 2-</a:t>
            </a:r>
            <a:fld id="{C4204591-24BD-A542-B9D5-F8D8A88D2FEE}" type="slidenum">
              <a:rPr lang="en-US" smtClean="0"/>
              <a:pPr/>
              <a:t>40</a:t>
            </a:fld>
            <a:endParaRPr lang="en-US"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949692" y="1181189"/>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89241" y="382868"/>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12"/>
          </p:nvPr>
        </p:nvSpPr>
        <p:spPr/>
        <p:txBody>
          <a:bodyPr/>
          <a:lstStyle/>
          <a:p>
            <a:r>
              <a:rPr lang="en-US" dirty="0"/>
              <a:t>Application Layer: 2-</a:t>
            </a:r>
            <a:fld id="{C4204591-24BD-A542-B9D5-F8D8A88D2FEE}" type="slidenum">
              <a:rPr lang="en-US" smtClean="0"/>
              <a:pPr/>
              <a:t>41</a:t>
            </a:fld>
            <a:endParaRPr lang="en-US"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7" y="1695283"/>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81158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299498" y="3024761"/>
            <a:ext cx="1858569" cy="1526143"/>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60666" y="389417"/>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12"/>
          </p:nvPr>
        </p:nvSpPr>
        <p:spPr/>
        <p:txBody>
          <a:bodyPr/>
          <a:lstStyle/>
          <a:p>
            <a:r>
              <a:rPr lang="en-US" dirty="0"/>
              <a:t>Application Layer: 2-</a:t>
            </a:r>
            <a:fld id="{C4204591-24BD-A542-B9D5-F8D8A88D2FEE}" type="slidenum">
              <a:rPr lang="en-US" smtClean="0"/>
              <a:pPr/>
              <a:t>42</a:t>
            </a:fld>
            <a:endParaRPr lang="en-US"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60906"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.974</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lvl="0" eaLnBrk="0" fontAlgn="base" hangingPunct="0">
              <a:spcBef>
                <a:spcPts val="600"/>
              </a:spcBef>
              <a:spcAft>
                <a:spcPct val="0"/>
              </a:spcAft>
              <a:buClr>
                <a:srgbClr val="000099"/>
              </a:buClr>
              <a:buSzPct val="100000"/>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a:t>
            </a:r>
            <a:r>
              <a:rPr lang="en-US" sz="2400" dirty="0"/>
              <a:t> </a:t>
            </a:r>
            <a:r>
              <a:rPr lang="en-US" sz="2400" dirty="0" err="1"/>
              <a:t>μsec</a:t>
            </a: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a:t>
            </a:r>
            <a:r>
              <a:rPr kumimoji="0" lang="en-US" sz="2400" b="0" i="0" u="none" strike="noStrike" kern="120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usecs</a:t>
            </a: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03516"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12"/>
          </p:nvPr>
        </p:nvSpPr>
        <p:spPr/>
        <p:txBody>
          <a:bodyPr/>
          <a:lstStyle/>
          <a:p>
            <a:r>
              <a:rPr lang="en-US" dirty="0"/>
              <a:t>Application Layer: 2-</a:t>
            </a:r>
            <a:fld id="{C4204591-24BD-A542-B9D5-F8D8A88D2FEE}" type="slidenum">
              <a:rPr lang="en-US" smtClean="0"/>
              <a:pPr/>
              <a:t>43</a:t>
            </a:fld>
            <a:endParaRPr lang="en-US"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prstClr val="black"/>
                  </a:solidFill>
                  <a:effectLst/>
                  <a:uLnTx/>
                  <a:uFillTx/>
                  <a:latin typeface="Calibri"/>
                  <a:ea typeface="ＭＳ Ｐゴシック" panose="020B0600070205080204" pitchFamily="34" charset="-128"/>
                  <a:cs typeface="+mn-cs"/>
                </a:rPr>
                <a:t>msecs</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60666" y="408583"/>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12"/>
          </p:nvPr>
        </p:nvSpPr>
        <p:spPr/>
        <p:txBody>
          <a:bodyPr/>
          <a:lstStyle/>
          <a:p>
            <a:r>
              <a:rPr lang="en-US" dirty="0"/>
              <a:t>Application Layer: 2-</a:t>
            </a:r>
            <a:fld id="{C4204591-24BD-A542-B9D5-F8D8A88D2FEE}" type="slidenum">
              <a:rPr lang="en-US" smtClean="0"/>
              <a:pPr/>
              <a:t>44</a:t>
            </a:fld>
            <a:endParaRPr lang="en-US"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320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12"/>
          </p:nvPr>
        </p:nvSpPr>
        <p:spPr/>
        <p:txBody>
          <a:bodyPr/>
          <a:lstStyle/>
          <a:p>
            <a:r>
              <a:rPr lang="en-US" dirty="0"/>
              <a:t>Application Layer: 2-</a:t>
            </a:r>
            <a:fld id="{C4204591-24BD-A542-B9D5-F8D8A88D2FEE}" type="slidenum">
              <a:rPr lang="en-US" smtClean="0"/>
              <a:pPr/>
              <a:t>45</a:t>
            </a:fld>
            <a:endParaRPr lang="en-US"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1003611" y="1317308"/>
            <a:ext cx="6166171" cy="456670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(2.XX)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endPar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endParaRP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endPar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endParaRP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endPar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endParaRPr>
          </a:p>
        </p:txBody>
      </p:sp>
      <p:sp>
        <p:nvSpPr>
          <p:cNvPr id="2" name="TextBox 1">
            <a:extLst>
              <a:ext uri="{FF2B5EF4-FFF2-40B4-BE49-F238E27FC236}">
                <a16:creationId xmlns:a16="http://schemas.microsoft.com/office/drawing/2014/main" id="{F3ABE105-9733-D741-944B-F6DC771B29F2}"/>
              </a:ext>
            </a:extLst>
          </p:cNvPr>
          <p:cNvSpPr txBox="1"/>
          <p:nvPr/>
        </p:nvSpPr>
        <p:spPr>
          <a:xfrm>
            <a:off x="770630" y="5966663"/>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nodePh="1">
                                  <p:stCondLst>
                                    <p:cond delay="0"/>
                                  </p:stCondLst>
                                  <p:endCondLst>
                                    <p:cond evt="begin" delay="0">
                                      <p:tn val="5"/>
                                    </p:cond>
                                  </p:end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nodePh="1">
                                  <p:stCondLst>
                                    <p:cond delay="0"/>
                                  </p:stCondLst>
                                  <p:endCondLst>
                                    <p:cond evt="begin" delay="0">
                                      <p:tn val="10"/>
                                    </p:cond>
                                  </p:end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31256" y="379879"/>
            <a:ext cx="10515600" cy="894622"/>
          </a:xfrm>
        </p:spPr>
        <p:txBody>
          <a:bodyPr>
            <a:normAutofit/>
          </a:bodyPr>
          <a:lstStyle/>
          <a:p>
            <a:r>
              <a:rPr lang="en-US" sz="4400" dirty="0">
                <a:ea typeface="ＭＳ Ｐゴシック" panose="020B0600070205080204" pitchFamily="34" charset="-128"/>
              </a:rPr>
              <a:t>Conditional GET</a:t>
            </a:r>
            <a:endParaRPr lang="en-US" sz="4400" dirty="0"/>
          </a:p>
        </p:txBody>
      </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12"/>
          </p:nvPr>
        </p:nvSpPr>
        <p:spPr/>
        <p:txBody>
          <a:bodyPr/>
          <a:lstStyle/>
          <a:p>
            <a:r>
              <a:rPr lang="en-US" dirty="0"/>
              <a:t>Application Layer: 2-</a:t>
            </a:r>
            <a:fld id="{C4204591-24BD-A542-B9D5-F8D8A88D2FEE}" type="slidenum">
              <a:rPr lang="en-US" smtClean="0"/>
              <a:pPr/>
              <a:t>46</a:t>
            </a:fld>
            <a:endParaRPr lang="en-US"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725612"/>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cache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30794" y="2103176"/>
            <a:ext cx="1026243"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kern="1200" cap="none" spc="0" normalizeH="0" noProof="0" dirty="0">
                <a:ln>
                  <a:noFill/>
                </a:ln>
                <a:solidFill>
                  <a:srgbClr val="0000A8"/>
                </a:solidFill>
                <a:effectLst/>
                <a:uLnTx/>
                <a:uFillTx/>
                <a:latin typeface="Calibri"/>
                <a:ea typeface="ＭＳ Ｐゴシック" panose="020B0600070205080204" pitchFamily="34" charset="-128"/>
                <a:cs typeface="+mn-cs"/>
              </a:rPr>
              <a:t>after</a:t>
            </a:r>
            <a:endParaRPr kumimoji="0" lang="en-US" altLang="en-US" sz="1800" b="0" i="0" u="none" strike="sngStrike" kern="1200" cap="none" spc="0" normalizeH="0" baseline="0" noProof="0" dirty="0">
              <a:ln>
                <a:noFill/>
              </a:ln>
              <a:solidFill>
                <a:srgbClr val="0000A8"/>
              </a:solidFill>
              <a:effectLst/>
              <a:uLnTx/>
              <a:uFillTx/>
              <a:latin typeface="Calibri"/>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schemeClr val="accent6">
                    <a:lumMod val="75000"/>
                  </a:schemeClr>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chemeClr val="accent6">
                    <a:lumMod val="75000"/>
                  </a:schemeClr>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931601"/>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spTree>
    <p:extLst>
      <p:ext uri="{BB962C8B-B14F-4D97-AF65-F5344CB8AC3E}">
        <p14:creationId xmlns:p14="http://schemas.microsoft.com/office/powerpoint/2010/main" val="1322648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89592"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12"/>
          </p:nvPr>
        </p:nvSpPr>
        <p:spPr/>
        <p:txBody>
          <a:bodyPr/>
          <a:lstStyle/>
          <a:p>
            <a:r>
              <a:rPr lang="en-US" dirty="0"/>
              <a:t>Application Layer: 2-</a:t>
            </a:r>
            <a:fld id="{C4204591-24BD-A542-B9D5-F8D8A88D2FEE}" type="slidenum">
              <a:rPr lang="en-US" smtClean="0"/>
              <a:pPr/>
              <a:t>47</a:t>
            </a:fld>
            <a:endParaRPr lang="en-US"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682905" y="1193459"/>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Tree>
    <p:extLst>
      <p:ext uri="{BB962C8B-B14F-4D97-AF65-F5344CB8AC3E}">
        <p14:creationId xmlns:p14="http://schemas.microsoft.com/office/powerpoint/2010/main" val="326121607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1816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12"/>
          </p:nvPr>
        </p:nvSpPr>
        <p:spPr/>
        <p:txBody>
          <a:bodyPr/>
          <a:lstStyle/>
          <a:p>
            <a:r>
              <a:rPr lang="en-US" dirty="0"/>
              <a:t>Application Layer: 2-</a:t>
            </a:r>
            <a:fld id="{C4204591-24BD-A542-B9D5-F8D8A88D2FEE}" type="slidenum">
              <a:rPr lang="en-US" smtClean="0"/>
              <a:pPr/>
              <a:t>48</a:t>
            </a:fld>
            <a:endParaRPr lang="en-US"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a:t>
            </a:r>
            <a:r>
              <a:rPr kumimoji="0" lang="en-US" altLang="en-US" sz="2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client-specified object priority</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divide objects into frames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716660" y="1134584"/>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Tree>
    <p:extLst>
      <p:ext uri="{BB962C8B-B14F-4D97-AF65-F5344CB8AC3E}">
        <p14:creationId xmlns:p14="http://schemas.microsoft.com/office/powerpoint/2010/main" val="15347025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400198" y="321787"/>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12"/>
          </p:nvPr>
        </p:nvSpPr>
        <p:spPr/>
        <p:txBody>
          <a:bodyPr/>
          <a:lstStyle/>
          <a:p>
            <a:r>
              <a:rPr lang="en-US" dirty="0"/>
              <a:t>Application Layer: 2-</a:t>
            </a:r>
            <a:fld id="{C4204591-24BD-A542-B9D5-F8D8A88D2FEE}" type="slidenum">
              <a:rPr lang="en-US" smtClean="0"/>
              <a:pPr/>
              <a:t>49</a:t>
            </a:fld>
            <a:endParaRPr lang="en-US"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3652" y="1332684"/>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a:t>
            </a:r>
            <a:r>
              <a:rPr kumimoji="0" lang="en-US" altLang="en-US" sz="2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1.1</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365622" y="592414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400198" y="226046"/>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12"/>
          </p:nvPr>
        </p:nvSpPr>
        <p:spPr/>
        <p:txBody>
          <a:bodyPr/>
          <a:lstStyle/>
          <a:p>
            <a:r>
              <a:rPr lang="en-US" dirty="0"/>
              <a:t>Application Layer: 2-</a:t>
            </a:r>
            <a:fld id="{C4204591-24BD-A542-B9D5-F8D8A88D2FEE}" type="slidenum">
              <a:rPr lang="en-US" smtClean="0"/>
              <a:pPr/>
              <a:t>50</a:t>
            </a:fld>
            <a:endParaRPr lang="en-US"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2</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5898718"/>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308642"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12"/>
          </p:nvPr>
        </p:nvSpPr>
        <p:spPr/>
        <p:txBody>
          <a:bodyPr/>
          <a:lstStyle/>
          <a:p>
            <a:r>
              <a:rPr lang="en-US" dirty="0"/>
              <a:t>Application Layer: 2-</a:t>
            </a:r>
            <a:fld id="{C4204591-24BD-A542-B9D5-F8D8A88D2FEE}" type="slidenum">
              <a:rPr lang="en-US" smtClean="0"/>
              <a:pPr/>
              <a:t>51</a:t>
            </a:fld>
            <a:endParaRPr lang="en-US"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671826" y="1728252"/>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a:t>
            </a:r>
            <a:r>
              <a:rPr kumimoji="0" lang="en-US" altLang="en-US" sz="32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7791" y="282200"/>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52</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Web and HTTP</a:t>
            </a:r>
          </a:p>
          <a:p>
            <a:pPr marL="401638" indent="-401638">
              <a:defRPr/>
            </a:pPr>
            <a:r>
              <a:rPr lang="en-US" sz="3200" dirty="0">
                <a:latin typeface="Calibri" panose="020F0502020204030204" pitchFamily="34" charset="0"/>
                <a:cs typeface="Calibri" panose="020F0502020204030204" pitchFamily="34" charset="0"/>
              </a:rPr>
              <a:t>The Domain Name System DNS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146431943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93966"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12"/>
          </p:nvPr>
        </p:nvSpPr>
        <p:spPr/>
        <p:txBody>
          <a:bodyPr/>
          <a:lstStyle/>
          <a:p>
            <a:r>
              <a:rPr lang="en-US" dirty="0"/>
              <a:t>Application Layer: 2-</a:t>
            </a:r>
            <a:fld id="{C4204591-24BD-A542-B9D5-F8D8A88D2FEE}" type="slidenum">
              <a:rPr lang="en-US" smtClean="0"/>
              <a:pPr/>
              <a:t>53</a:t>
            </a:fld>
            <a:endParaRPr lang="en-US" dirty="0"/>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690060" y="1799997"/>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cs.uga.edu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362272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xEl>
                                              <p:pRg st="1" end="1"/>
                                            </p:txEl>
                                          </p:spTgt>
                                        </p:tgtEl>
                                        <p:attrNameLst>
                                          <p:attrName>style.visibility</p:attrName>
                                        </p:attrNameLst>
                                      </p:cBhvr>
                                      <p:to>
                                        <p:strVal val="visible"/>
                                      </p:to>
                                    </p:set>
                                    <p:animEffect transition="in" filter="dissolve">
                                      <p:cBhvr>
                                        <p:cTn id="26" dur="500"/>
                                        <p:tgtEl>
                                          <p:spTgt spid="128">
                                            <p:txEl>
                                              <p:pRg st="1" end="1"/>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28">
                                            <p:txEl>
                                              <p:pRg st="2" end="2"/>
                                            </p:txEl>
                                          </p:spTgt>
                                        </p:tgtEl>
                                        <p:attrNameLst>
                                          <p:attrName>style.visibility</p:attrName>
                                        </p:attrNameLst>
                                      </p:cBhvr>
                                      <p:to>
                                        <p:strVal val="visible"/>
                                      </p:to>
                                    </p:set>
                                    <p:animEffect transition="in" filter="dissolve">
                                      <p:cBhvr>
                                        <p:cTn id="29" dur="500"/>
                                        <p:tgtEl>
                                          <p:spTgt spid="128">
                                            <p:txEl>
                                              <p:pRg st="2" end="2"/>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128">
                                            <p:txEl>
                                              <p:pRg st="3" end="3"/>
                                            </p:txEl>
                                          </p:spTgt>
                                        </p:tgtEl>
                                        <p:attrNameLst>
                                          <p:attrName>style.visibility</p:attrName>
                                        </p:attrNameLst>
                                      </p:cBhvr>
                                      <p:to>
                                        <p:strVal val="visible"/>
                                      </p:to>
                                    </p:set>
                                    <p:animEffect transition="in" filter="dissolve">
                                      <p:cBhvr>
                                        <p:cTn id="32" dur="500"/>
                                        <p:tgtEl>
                                          <p:spTgt spid="128">
                                            <p:txEl>
                                              <p:pRg st="3" end="3"/>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28">
                                            <p:txEl>
                                              <p:pRg st="4" end="4"/>
                                            </p:txEl>
                                          </p:spTgt>
                                        </p:tgtEl>
                                        <p:attrNameLst>
                                          <p:attrName>style.visibility</p:attrName>
                                        </p:attrNameLst>
                                      </p:cBhvr>
                                      <p:to>
                                        <p:strVal val="visible"/>
                                      </p:to>
                                    </p:set>
                                    <p:animEffect transition="in" filter="dissolve">
                                      <p:cBhvr>
                                        <p:cTn id="35"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uiExpand="1" build="allAtOnce"/>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81315" y="204842"/>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12"/>
          </p:nvPr>
        </p:nvSpPr>
        <p:spPr/>
        <p:txBody>
          <a:bodyPr/>
          <a:lstStyle/>
          <a:p>
            <a:r>
              <a:rPr lang="en-US" dirty="0"/>
              <a:t>Application Layer: 2-</a:t>
            </a:r>
            <a:fld id="{C4204591-24BD-A542-B9D5-F8D8A88D2FEE}" type="slidenum">
              <a:rPr lang="en-US" smtClean="0"/>
              <a:pPr/>
              <a:t>54</a:t>
            </a:fld>
            <a:endParaRPr lang="en-US" dirty="0"/>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Tree>
    <p:extLst>
      <p:ext uri="{BB962C8B-B14F-4D97-AF65-F5344CB8AC3E}">
        <p14:creationId xmlns:p14="http://schemas.microsoft.com/office/powerpoint/2010/main" val="361909732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81315" y="204842"/>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12"/>
          </p:nvPr>
        </p:nvSpPr>
        <p:spPr/>
        <p:txBody>
          <a:bodyPr/>
          <a:lstStyle/>
          <a:p>
            <a:r>
              <a:rPr lang="en-US" dirty="0"/>
              <a:t>Application Layer: 2-</a:t>
            </a:r>
            <a:fld id="{C4204591-24BD-A542-B9D5-F8D8A88D2FEE}" type="slidenum">
              <a:rPr lang="en-US" smtClean="0"/>
              <a:pPr/>
              <a:t>55</a:t>
            </a:fld>
            <a:endParaRPr lang="en-US" dirty="0"/>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921968"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1081315"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pic>
        <p:nvPicPr>
          <p:cNvPr id="1026" name="Picture 2" descr="The ultimate guide to using distributed databases">
            <a:extLst>
              <a:ext uri="{FF2B5EF4-FFF2-40B4-BE49-F238E27FC236}">
                <a16:creationId xmlns:a16="http://schemas.microsoft.com/office/drawing/2014/main" id="{345BF265-41BE-0AFD-09F9-3BCCF50EBC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86550" y="3429000"/>
            <a:ext cx="4514850" cy="258127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What is a Database-Definition and Types">
            <a:extLst>
              <a:ext uri="{FF2B5EF4-FFF2-40B4-BE49-F238E27FC236}">
                <a16:creationId xmlns:a16="http://schemas.microsoft.com/office/drawing/2014/main" id="{B391917E-B5C9-7D52-10E6-B89EA0EE5A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86550" y="389069"/>
            <a:ext cx="4195598" cy="2581276"/>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E07C83DD-C0DF-313A-43F0-47281CB0C9A6}"/>
              </a:ext>
            </a:extLst>
          </p:cNvPr>
          <p:cNvSpPr txBox="1"/>
          <p:nvPr/>
        </p:nvSpPr>
        <p:spPr>
          <a:xfrm>
            <a:off x="6829425" y="2969906"/>
            <a:ext cx="4052723" cy="369332"/>
          </a:xfrm>
          <a:prstGeom prst="rect">
            <a:avLst/>
          </a:prstGeom>
          <a:noFill/>
        </p:spPr>
        <p:txBody>
          <a:bodyPr wrap="square" rtlCol="0">
            <a:spAutoFit/>
          </a:bodyPr>
          <a:lstStyle/>
          <a:p>
            <a:r>
              <a:rPr lang="en-US" dirty="0"/>
              <a:t>Centralized</a:t>
            </a:r>
          </a:p>
        </p:txBody>
      </p:sp>
      <p:sp>
        <p:nvSpPr>
          <p:cNvPr id="3" name="TextBox 2">
            <a:extLst>
              <a:ext uri="{FF2B5EF4-FFF2-40B4-BE49-F238E27FC236}">
                <a16:creationId xmlns:a16="http://schemas.microsoft.com/office/drawing/2014/main" id="{29A3A218-8AB4-80EB-7BFE-52FE50FA9BFB}"/>
              </a:ext>
            </a:extLst>
          </p:cNvPr>
          <p:cNvSpPr txBox="1"/>
          <p:nvPr/>
        </p:nvSpPr>
        <p:spPr>
          <a:xfrm>
            <a:off x="6686550" y="6010275"/>
            <a:ext cx="4419600" cy="369332"/>
          </a:xfrm>
          <a:prstGeom prst="rect">
            <a:avLst/>
          </a:prstGeom>
          <a:noFill/>
        </p:spPr>
        <p:txBody>
          <a:bodyPr wrap="square" rtlCol="0">
            <a:spAutoFit/>
          </a:bodyPr>
          <a:lstStyle/>
          <a:p>
            <a:r>
              <a:rPr lang="en-US" dirty="0"/>
              <a:t>Distributed</a:t>
            </a:r>
          </a:p>
        </p:txBody>
      </p:sp>
    </p:spTree>
    <p:extLst>
      <p:ext uri="{BB962C8B-B14F-4D97-AF65-F5344CB8AC3E}">
        <p14:creationId xmlns:p14="http://schemas.microsoft.com/office/powerpoint/2010/main" val="3546869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78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12"/>
          </p:nvPr>
        </p:nvSpPr>
        <p:spPr/>
        <p:txBody>
          <a:bodyPr/>
          <a:lstStyle/>
          <a:p>
            <a:r>
              <a:rPr lang="en-US" dirty="0"/>
              <a:t>Application Layer: 2-</a:t>
            </a:r>
            <a:fld id="{C4204591-24BD-A542-B9D5-F8D8A88D2FEE}" type="slidenum">
              <a:rPr lang="en-US" smtClean="0"/>
              <a:pPr/>
              <a:t>56</a:t>
            </a:fld>
            <a:endParaRPr lang="en-US" dirty="0"/>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3704873"/>
            <a:ext cx="2937933" cy="244827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0919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dissolve">
                                      <p:cBhvr>
                                        <p:cTn id="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40020"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12"/>
          </p:nvPr>
        </p:nvSpPr>
        <p:spPr/>
        <p:txBody>
          <a:bodyPr/>
          <a:lstStyle/>
          <a:p>
            <a:r>
              <a:rPr lang="en-US" dirty="0"/>
              <a:t>Application Layer: 2-</a:t>
            </a:r>
            <a:fld id="{C4204591-24BD-A542-B9D5-F8D8A88D2FEE}" type="slidenum">
              <a:rPr lang="en-US" smtClean="0"/>
              <a:pPr/>
              <a:t>57</a:t>
            </a:fld>
            <a:endParaRPr lang="en-US" dirty="0"/>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err="1">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amazon.com</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amazon.com</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17814" y="2181112"/>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edu</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0196" y="1773596"/>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3532" y="3132853"/>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erau.edu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uga.edu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Tree>
    <p:extLst>
      <p:ext uri="{BB962C8B-B14F-4D97-AF65-F5344CB8AC3E}">
        <p14:creationId xmlns:p14="http://schemas.microsoft.com/office/powerpoint/2010/main" val="2709529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925474"/>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942098"/>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98741" y="277437"/>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12"/>
          </p:nvPr>
        </p:nvSpPr>
        <p:spPr/>
        <p:txBody>
          <a:bodyPr/>
          <a:lstStyle/>
          <a:p>
            <a:r>
              <a:rPr lang="en-US" dirty="0"/>
              <a:t>Application Layer: 2-</a:t>
            </a:r>
            <a:fld id="{C4204591-24BD-A542-B9D5-F8D8A88D2FEE}" type="slidenum">
              <a:rPr lang="en-US" smtClean="0"/>
              <a:pPr/>
              <a:t>58</a:t>
            </a:fld>
            <a:endParaRPr lang="en-US" dirty="0"/>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828321"/>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Tree>
    <p:extLst>
      <p:ext uri="{BB962C8B-B14F-4D97-AF65-F5344CB8AC3E}">
        <p14:creationId xmlns:p14="http://schemas.microsoft.com/office/powerpoint/2010/main" val="225468985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65386" y="266584"/>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12"/>
          </p:nvPr>
        </p:nvSpPr>
        <p:spPr/>
        <p:txBody>
          <a:bodyPr/>
          <a:lstStyle/>
          <a:p>
            <a:r>
              <a:rPr lang="en-US" dirty="0"/>
              <a:t>Application Layer: 2-</a:t>
            </a:r>
            <a:fld id="{C4204591-24BD-A542-B9D5-F8D8A88D2FEE}" type="slidenum">
              <a:rPr lang="en-US" smtClean="0"/>
              <a:pPr/>
              <a:t>59</a:t>
            </a:fld>
            <a:endParaRPr lang="en-US" dirty="0"/>
          </a:p>
        </p:txBody>
      </p:sp>
      <p:pic>
        <p:nvPicPr>
          <p:cNvPr id="2" name="Picture 1">
            <a:extLst>
              <a:ext uri="{FF2B5EF4-FFF2-40B4-BE49-F238E27FC236}">
                <a16:creationId xmlns:a16="http://schemas.microsoft.com/office/drawing/2014/main" id="{AF7EF7A5-82F4-A842-BA4B-88DB1EA46A55}"/>
              </a:ext>
            </a:extLst>
          </p:cNvPr>
          <p:cNvPicPr>
            <a:picLocks noChangeAspect="1"/>
          </p:cNvPicPr>
          <p:nvPr/>
        </p:nvPicPr>
        <p:blipFill>
          <a:blip r:embed="rId3"/>
          <a:stretch>
            <a:fillRect/>
          </a:stretch>
        </p:blipFill>
        <p:spPr>
          <a:xfrm>
            <a:off x="5930900" y="2856025"/>
            <a:ext cx="6261100" cy="3200400"/>
          </a:xfrm>
          <a:prstGeom prst="rect">
            <a:avLst/>
          </a:prstGeom>
        </p:spPr>
      </p:pic>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752600"/>
            <a:ext cx="5444283" cy="453978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6423186" y="1752600"/>
            <a:ext cx="5142916"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13 logical root name “</a:t>
            </a:r>
            <a:r>
              <a:rPr kumimoji="0" lang="en-US" altLang="ja-JP"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servers” worldwide each “server” replicated many times (~200 servers in US)</a:t>
            </a:r>
            <a:endParaRPr kumimoji="0" lang="en-US" altLang="ja-JP"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932147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4" end="4"/>
                                            </p:txEl>
                                          </p:spTgt>
                                        </p:tgtEl>
                                        <p:attrNameLst>
                                          <p:attrName>style.visibility</p:attrName>
                                        </p:attrNameLst>
                                      </p:cBhvr>
                                      <p:to>
                                        <p:strVal val="visible"/>
                                      </p:to>
                                    </p:set>
                                    <p:animEffect transition="in" filter="dissolve">
                                      <p:cBhvr>
                                        <p:cTn id="7" dur="500"/>
                                        <p:tgtEl>
                                          <p:spTgt spid="31">
                                            <p:txEl>
                                              <p:pRg st="4" end="4"/>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dissolve">
                                      <p:cBhvr>
                                        <p:cTn id="1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09133"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12"/>
          </p:nvPr>
        </p:nvSpPr>
        <p:spPr/>
        <p:txBody>
          <a:bodyPr/>
          <a:lstStyle/>
          <a:p>
            <a:r>
              <a:rPr lang="en-US" dirty="0"/>
              <a:t>Application Layer: 2-</a:t>
            </a:r>
            <a:fld id="{C4204591-24BD-A542-B9D5-F8D8A88D2FEE}" type="slidenum">
              <a:rPr lang="en-US" smtClean="0"/>
              <a:pPr/>
              <a:t>60</a:t>
            </a:fld>
            <a:endParaRPr lang="en-US" dirty="0"/>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609601" y="1291509"/>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.net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edu</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.aero, .jobs, .museums, and all top-level country domains, e.g.: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cn</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uk</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fr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.ca,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jp</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0375" lvl="1" indent="-287338">
              <a:spcBef>
                <a:spcPts val="400"/>
              </a:spcBef>
              <a:buFont typeface="Wingdings" pitchFamily="2" charset="2"/>
              <a:buChar char="§"/>
              <a:defRPr/>
            </a:pPr>
            <a:r>
              <a:rPr lang="en-US" b="1" dirty="0"/>
              <a:t>Verisign</a:t>
            </a:r>
            <a:r>
              <a:rPr lang="en-US" dirty="0"/>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authoritative registry for .com,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.net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edu</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69635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32680"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12"/>
          </p:nvPr>
        </p:nvSpPr>
        <p:spPr/>
        <p:txBody>
          <a:bodyPr/>
          <a:lstStyle/>
          <a:p>
            <a:r>
              <a:rPr lang="en-US" dirty="0"/>
              <a:t>Application Layer: 2-</a:t>
            </a:r>
            <a:fld id="{C4204591-24BD-A542-B9D5-F8D8A88D2FEE}" type="slidenum">
              <a:rPr lang="en-US" smtClean="0"/>
              <a:pPr/>
              <a:t>61</a:t>
            </a:fld>
            <a:endParaRPr lang="en-US" dirty="0"/>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815103"/>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scutil</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dns</a:t>
            </a:r>
            <a:endPar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endParaRP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Tree>
    <p:extLst>
      <p:ext uri="{BB962C8B-B14F-4D97-AF65-F5344CB8AC3E}">
        <p14:creationId xmlns:p14="http://schemas.microsoft.com/office/powerpoint/2010/main" val="173499052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12371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12"/>
          </p:nvPr>
        </p:nvSpPr>
        <p:spPr/>
        <p:txBody>
          <a:bodyPr/>
          <a:lstStyle/>
          <a:p>
            <a:r>
              <a:rPr lang="en-US" dirty="0"/>
              <a:t>Application Layer: 2-</a:t>
            </a:r>
            <a:fld id="{C4204591-24BD-A542-B9D5-F8D8A88D2FEE}" type="slidenum">
              <a:rPr lang="en-US" smtClean="0"/>
              <a:pPr/>
              <a:t>62</a:t>
            </a:fld>
            <a:endParaRPr lang="en-US" dirty="0"/>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92815" y="2076555"/>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engineering.erau.edu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gaia.cs.uga.edu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67047" y="3283339"/>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2222" y="4307952"/>
            <a:ext cx="187423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engineering.erau.edu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313589" y="4697002"/>
            <a:ext cx="16321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gaia.cs.uga.edu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81510" y="1781655"/>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97849" y="3734998"/>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77399" y="2464910"/>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63149" y="3626960"/>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63149" y="3798410"/>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86949" y="2693510"/>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90125" y="3898920"/>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67725" y="4306416"/>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dns.erau.edu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48113" y="334592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17099" y="2682397"/>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55249" y="292052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9574" y="3330097"/>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9737" y="3817460"/>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96637" y="485727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9899" y="5673247"/>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dns.cs.uga.edu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9574" y="4887435"/>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8636" y="3929719"/>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96474" y="3958747"/>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56787" y="4084160"/>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83197" y="306770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68411" y="5078882"/>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92031" y="3512302"/>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803024" y="4987447"/>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9599" y="3474560"/>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53712" y="2212497"/>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9687" y="3465035"/>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2560331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90601" y="269646"/>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12"/>
          </p:nvPr>
        </p:nvSpPr>
        <p:spPr/>
        <p:txBody>
          <a:bodyPr/>
          <a:lstStyle/>
          <a:p>
            <a:r>
              <a:rPr lang="en-US" dirty="0"/>
              <a:t>Application Layer: 2-</a:t>
            </a:r>
            <a:fld id="{C4204591-24BD-A542-B9D5-F8D8A88D2FEE}" type="slidenum">
              <a:rPr lang="en-US" smtClean="0"/>
              <a:pPr/>
              <a:t>63</a:t>
            </a:fld>
            <a:endParaRPr lang="en-US" dirty="0"/>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59301" y="4213827"/>
            <a:ext cx="187423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engineering.erau.edu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72078" y="4573239"/>
            <a:ext cx="16321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gaia.cs.uga.edu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687530"/>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640873"/>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370785"/>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4125290"/>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4112102"/>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440823"/>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804795"/>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4212291"/>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dns.erau.edu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3251797"/>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58827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495794"/>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428211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4333729"/>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305035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579122"/>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dns.cs.uga.edu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991754"/>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83559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792646"/>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640606"/>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3336649"/>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955119"/>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418177"/>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893322"/>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380435"/>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2118372"/>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370910"/>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3155748"/>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982430"/>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engineering.erau.edu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gaia.cs.uga.edu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97902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55866"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12"/>
          </p:nvPr>
        </p:nvSpPr>
        <p:spPr/>
        <p:txBody>
          <a:bodyPr/>
          <a:lstStyle/>
          <a:p>
            <a:r>
              <a:rPr lang="en-US" dirty="0"/>
              <a:t>Application Layer: 2-</a:t>
            </a:r>
            <a:fld id="{C4204591-24BD-A542-B9D5-F8D8A88D2FEE}" type="slidenum">
              <a:rPr lang="en-US" smtClean="0"/>
              <a:pPr/>
              <a:t>64</a:t>
            </a:fld>
            <a:endParaRPr lang="en-US" dirty="0"/>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704388"/>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82549162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8719" y="190443"/>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12"/>
          </p:nvPr>
        </p:nvSpPr>
        <p:spPr/>
        <p:txBody>
          <a:bodyPr/>
          <a:lstStyle/>
          <a:p>
            <a:r>
              <a:rPr lang="en-US" dirty="0"/>
              <a:t>Application Layer: 2-</a:t>
            </a:r>
            <a:fld id="{C4204591-24BD-A542-B9D5-F8D8A88D2FEE}" type="slidenum">
              <a:rPr lang="en-US" smtClean="0"/>
              <a:pPr/>
              <a:t>65</a:t>
            </a:fld>
            <a:endParaRPr lang="en-US" dirty="0"/>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246065"/>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501586" y="4025356"/>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foo.com</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46075" lvl="1" indent="-288925">
              <a:buFont typeface="Wingdings" pitchFamily="2" charset="2"/>
              <a:buChar char="§"/>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a:t>
            </a:r>
            <a:r>
              <a:rPr lang="en-US" altLang="en-US" dirty="0">
                <a:solidFill>
                  <a:prstClr val="black"/>
                </a:solidFill>
                <a:ea typeface="ＭＳ Ｐゴシック" panose="020B0600070205080204" pitchFamily="34" charset="-128"/>
              </a:rPr>
              <a:t>domain </a:t>
            </a:r>
            <a:r>
              <a:rPr lang="en-US" altLang="en-US" dirty="0">
                <a:ea typeface="ＭＳ Ｐゴシック" panose="020B0600070205080204" pitchFamily="34" charset="-128"/>
              </a:rPr>
              <a:t>(e.g., </a:t>
            </a:r>
            <a:r>
              <a:rPr lang="en-US" altLang="en-US" dirty="0" err="1">
                <a:ea typeface="ＭＳ Ｐゴシック" panose="020B0600070205080204" pitchFamily="34" charset="-128"/>
              </a:rPr>
              <a:t>dns.foo.com</a:t>
            </a:r>
            <a:r>
              <a:rPr lang="en-US" altLang="en-US" dirty="0">
                <a:ea typeface="ＭＳ Ｐゴシック" panose="020B0600070205080204" pitchFamily="34" charset="-128"/>
              </a:rPr>
              <a:t>)</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747293"/>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a:t>
            </a:r>
            <a:r>
              <a:rPr kumimoji="0" lang="en-US" altLang="en-US" sz="2400" b="0" i="0" u="none" strike="noStrike" kern="1200" cap="none" spc="0" normalizeH="0" baseline="0" noProof="0" dirty="0">
                <a:ln>
                  <a:noFill/>
                </a:ln>
                <a:solidFill>
                  <a:srgbClr val="FF0000"/>
                </a:solidFill>
                <a:effectLst/>
                <a:uLnTx/>
                <a:uFillTx/>
                <a:latin typeface="Courier" pitchFamily="2" charset="0"/>
                <a:ea typeface="ＭＳ Ｐゴシック" panose="020B0600070205080204" pitchFamily="34" charset="-128"/>
                <a:cs typeface="+mn-cs"/>
              </a:rPr>
              <a:t>type</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501586" y="2266169"/>
            <a:ext cx="5705856" cy="129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endParaRPr lang="en-US" altLang="en-US" sz="2800" dirty="0">
              <a:solidFill>
                <a:prstClr val="black"/>
              </a:solidFill>
              <a:latin typeface="Calibri" panose="020F0502020204030204"/>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237854"/>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www.ibm.com</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599543"/>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157165"/>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D46E6AFE-EE95-BE72-FCC6-8DCB38480431}"/>
              </a:ext>
            </a:extLst>
          </p:cNvPr>
          <p:cNvSpPr txBox="1"/>
          <p:nvPr/>
        </p:nvSpPr>
        <p:spPr>
          <a:xfrm>
            <a:off x="588817" y="3596243"/>
            <a:ext cx="5039678" cy="369332"/>
          </a:xfrm>
          <a:prstGeom prst="rect">
            <a:avLst/>
          </a:prstGeom>
          <a:noFill/>
          <a:ln>
            <a:solidFill>
              <a:srgbClr val="FF0000"/>
            </a:solidFill>
          </a:ln>
        </p:spPr>
        <p:txBody>
          <a:bodyPr wrap="square">
            <a:spAutoFit/>
          </a:bodyPr>
          <a:lstStyle/>
          <a:p>
            <a:pPr marL="85725" marR="0" lvl="1" algn="l" defTabSz="914400" rtl="0" eaLnBrk="1" fontAlgn="auto" latinLnBrk="0" hangingPunct="1">
              <a:lnSpc>
                <a:spcPct val="100000"/>
              </a:lnSpc>
              <a:spcBef>
                <a:spcPts val="0"/>
              </a:spcBef>
              <a:spcAft>
                <a:spcPts val="0"/>
              </a:spcAft>
              <a:buClr>
                <a:srgbClr val="000099"/>
              </a:buClr>
              <a:buSzTx/>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(relay1.bar.foo.com,</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145.37.93.126, </a:t>
            </a:r>
            <a:r>
              <a:rPr kumimoji="0" lang="en-US" altLang="en-US" sz="1800" b="0" i="0" u="none" strike="noStrike" kern="1200" cap="none" spc="0" normalizeH="0" noProof="0" dirty="0">
                <a:ln>
                  <a:noFill/>
                </a:ln>
                <a:solidFill>
                  <a:srgbClr val="FF0000"/>
                </a:solidFill>
                <a:effectLst/>
                <a:uLnTx/>
                <a:uFillTx/>
                <a:latin typeface="Calibri" panose="020F0502020204030204"/>
                <a:ea typeface="ＭＳ Ｐゴシック" panose="020B0600070205080204" pitchFamily="34" charset="-128"/>
                <a:cs typeface="+mn-cs"/>
              </a:rPr>
              <a:t>A</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300)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2A4C7087-BC4C-5338-DC5A-5A558E7EC30F}"/>
              </a:ext>
            </a:extLst>
          </p:cNvPr>
          <p:cNvSpPr txBox="1"/>
          <p:nvPr/>
        </p:nvSpPr>
        <p:spPr>
          <a:xfrm>
            <a:off x="588817" y="5976915"/>
            <a:ext cx="5039678" cy="369332"/>
          </a:xfrm>
          <a:prstGeom prst="rect">
            <a:avLst/>
          </a:prstGeom>
          <a:noFill/>
          <a:ln>
            <a:solidFill>
              <a:srgbClr val="FF0000"/>
            </a:solidFill>
          </a:ln>
        </p:spPr>
        <p:txBody>
          <a:bodyPr wrap="square">
            <a:spAutoFit/>
          </a:bodyPr>
          <a:lstStyle/>
          <a:p>
            <a:pPr marL="85725" lvl="1">
              <a:buClr>
                <a:srgbClr val="000099"/>
              </a:buClr>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a:t>
            </a:r>
            <a:r>
              <a:rPr lang="en-US" altLang="en-US" dirty="0">
                <a:solidFill>
                  <a:prstClr val="black"/>
                </a:solidFill>
                <a:ea typeface="ＭＳ Ｐゴシック" panose="020B0600070205080204" pitchFamily="34" charset="-128"/>
              </a:rPr>
              <a:t>., (</a:t>
            </a:r>
            <a:r>
              <a:rPr lang="en-US" altLang="en-US" dirty="0" err="1">
                <a:solidFill>
                  <a:prstClr val="black"/>
                </a:solidFill>
                <a:ea typeface="ＭＳ Ｐゴシック" panose="020B0600070205080204" pitchFamily="34" charset="-128"/>
              </a:rPr>
              <a:t>foo.com</a:t>
            </a:r>
            <a:r>
              <a:rPr lang="en-US" altLang="en-US" dirty="0">
                <a:solidFill>
                  <a:prstClr val="black"/>
                </a:solidFill>
                <a:ea typeface="ＭＳ Ｐゴシック" panose="020B0600070205080204" pitchFamily="34" charset="-128"/>
              </a:rPr>
              <a:t>,</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lang="en-US" altLang="en-US" dirty="0" err="1">
                <a:ea typeface="ＭＳ Ｐゴシック" panose="020B0600070205080204" pitchFamily="34" charset="-128"/>
              </a:rPr>
              <a:t>dns.foo.com</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noProof="0" dirty="0">
                <a:ln>
                  <a:noFill/>
                </a:ln>
                <a:solidFill>
                  <a:srgbClr val="FF0000"/>
                </a:solidFill>
                <a:effectLst/>
                <a:uLnTx/>
                <a:uFillTx/>
                <a:latin typeface="Calibri" panose="020F0502020204030204"/>
                <a:ea typeface="ＭＳ Ｐゴシック" panose="020B0600070205080204" pitchFamily="34" charset="-128"/>
                <a:cs typeface="+mn-cs"/>
              </a:rPr>
              <a:t>NS</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300)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 name="TextBox 6">
            <a:extLst>
              <a:ext uri="{FF2B5EF4-FFF2-40B4-BE49-F238E27FC236}">
                <a16:creationId xmlns:a16="http://schemas.microsoft.com/office/drawing/2014/main" id="{D4BC2E5E-B29D-215A-B282-346A330451FE}"/>
              </a:ext>
            </a:extLst>
          </p:cNvPr>
          <p:cNvSpPr txBox="1"/>
          <p:nvPr/>
        </p:nvSpPr>
        <p:spPr>
          <a:xfrm>
            <a:off x="6102635" y="4285967"/>
            <a:ext cx="5953495" cy="369332"/>
          </a:xfrm>
          <a:prstGeom prst="rect">
            <a:avLst/>
          </a:prstGeom>
          <a:noFill/>
          <a:ln>
            <a:solidFill>
              <a:srgbClr val="FF0000"/>
            </a:solidFill>
          </a:ln>
        </p:spPr>
        <p:txBody>
          <a:bodyPr wrap="square">
            <a:spAutoFit/>
          </a:bodyPr>
          <a:lstStyle/>
          <a:p>
            <a:pPr marL="85725" lvl="1">
              <a:buClr>
                <a:srgbClr val="000099"/>
              </a:buClr>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a:t>
            </a:r>
            <a:r>
              <a:rPr lang="en-US" altLang="en-US" dirty="0">
                <a:solidFill>
                  <a:prstClr val="black"/>
                </a:solidFill>
                <a:ea typeface="ＭＳ Ｐゴシック" panose="020B0600070205080204" pitchFamily="34" charset="-128"/>
              </a:rPr>
              <a:t>., (</a:t>
            </a:r>
            <a:r>
              <a:rPr lang="en-US" altLang="en-US" dirty="0" err="1">
                <a:solidFill>
                  <a:prstClr val="black"/>
                </a:solidFill>
                <a:ea typeface="ＭＳ Ｐゴシック" panose="020B0600070205080204" pitchFamily="34" charset="-128"/>
              </a:rPr>
              <a:t>ibm.com</a:t>
            </a:r>
            <a:r>
              <a:rPr lang="en-US" altLang="en-US" dirty="0">
                <a:solidFill>
                  <a:prstClr val="black"/>
                </a:solidFill>
                <a:ea typeface="ＭＳ Ｐゴシック" panose="020B0600070205080204" pitchFamily="34" charset="-128"/>
              </a:rPr>
              <a:t>,</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lang="en-US" altLang="en-US" dirty="0">
                <a:solidFill>
                  <a:prstClr val="black"/>
                </a:solidFill>
                <a:ea typeface="ＭＳ Ｐゴシック" panose="020B0600070205080204" pitchFamily="34" charset="-128"/>
              </a:rPr>
              <a:t>servereast.backup2.ibm.com</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noProof="0" dirty="0">
                <a:ln>
                  <a:noFill/>
                </a:ln>
                <a:solidFill>
                  <a:srgbClr val="FF0000"/>
                </a:solidFill>
                <a:effectLst/>
                <a:uLnTx/>
                <a:uFillTx/>
                <a:latin typeface="Calibri" panose="020F0502020204030204"/>
                <a:ea typeface="ＭＳ Ｐゴシック" panose="020B0600070205080204" pitchFamily="34" charset="-128"/>
                <a:cs typeface="+mn-cs"/>
              </a:rPr>
              <a:t>CNAME</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300)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1D1EBA67-4A2A-9E5B-F5AC-F750C06BA7FF}"/>
              </a:ext>
            </a:extLst>
          </p:cNvPr>
          <p:cNvSpPr txBox="1"/>
          <p:nvPr/>
        </p:nvSpPr>
        <p:spPr>
          <a:xfrm>
            <a:off x="6102635" y="5834220"/>
            <a:ext cx="5631684" cy="369332"/>
          </a:xfrm>
          <a:prstGeom prst="rect">
            <a:avLst/>
          </a:prstGeom>
          <a:noFill/>
          <a:ln>
            <a:solidFill>
              <a:srgbClr val="FF0000"/>
            </a:solidFill>
          </a:ln>
        </p:spPr>
        <p:txBody>
          <a:bodyPr wrap="square">
            <a:spAutoFit/>
          </a:bodyPr>
          <a:lstStyle/>
          <a:p>
            <a:pPr marL="85725" lvl="1">
              <a:buClr>
                <a:srgbClr val="000099"/>
              </a:buClr>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a:t>
            </a:r>
            <a:r>
              <a:rPr lang="en-US" altLang="en-US" dirty="0">
                <a:solidFill>
                  <a:prstClr val="black"/>
                </a:solidFill>
                <a:ea typeface="ＭＳ Ｐゴシック" panose="020B0600070205080204" pitchFamily="34" charset="-128"/>
              </a:rPr>
              <a:t>., (</a:t>
            </a:r>
            <a:r>
              <a:rPr lang="en-US" altLang="en-US" dirty="0" err="1">
                <a:solidFill>
                  <a:prstClr val="black"/>
                </a:solidFill>
                <a:ea typeface="ＭＳ Ｐゴシック" panose="020B0600070205080204" pitchFamily="34" charset="-128"/>
              </a:rPr>
              <a:t>foo.com</a:t>
            </a:r>
            <a:r>
              <a:rPr lang="en-US" altLang="en-US" dirty="0">
                <a:solidFill>
                  <a:prstClr val="black"/>
                </a:solidFill>
                <a:ea typeface="ＭＳ Ｐゴシック" panose="020B0600070205080204" pitchFamily="34" charset="-128"/>
              </a:rPr>
              <a:t>,</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lang="en-US" altLang="en-US" dirty="0" err="1">
                <a:solidFill>
                  <a:prstClr val="black"/>
                </a:solidFill>
                <a:ea typeface="ＭＳ Ｐゴシック" panose="020B0600070205080204" pitchFamily="34" charset="-128"/>
              </a:rPr>
              <a:t>mail.bar.foo.com</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noProof="0" dirty="0">
                <a:ln>
                  <a:noFill/>
                </a:ln>
                <a:solidFill>
                  <a:srgbClr val="FF0000"/>
                </a:solidFill>
                <a:effectLst/>
                <a:uLnTx/>
                <a:uFillTx/>
                <a:latin typeface="Calibri" panose="020F0502020204030204"/>
                <a:ea typeface="ＭＳ Ｐゴシック" panose="020B0600070205080204" pitchFamily="34" charset="-128"/>
                <a:cs typeface="+mn-cs"/>
              </a:rPr>
              <a:t>MX</a:t>
            </a:r>
            <a:r>
              <a:rPr kumimoji="0" lang="en-US" altLang="en-US" sz="1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300)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471211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dissolve">
                                      <p:cBhvr>
                                        <p:cTn id="14" dur="500"/>
                                        <p:tgtEl>
                                          <p:spTgt spid="14"/>
                                        </p:tgtEl>
                                      </p:cBhvr>
                                    </p:animEffec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dissolve">
                                      <p:cBhvr>
                                        <p:cTn id="21" dur="500"/>
                                        <p:tgtEl>
                                          <p:spTgt spid="18"/>
                                        </p:tgtEl>
                                      </p:cBhvr>
                                    </p:animEffect>
                                  </p:childTnLst>
                                </p:cTn>
                              </p:par>
                              <p:par>
                                <p:cTn id="22" presetID="1" presetClass="entr" presetSubtype="0" fill="hold" grpId="0" nodeType="with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dissolve">
                                      <p:cBhvr>
                                        <p:cTn id="28" dur="500"/>
                                        <p:tgtEl>
                                          <p:spTgt spid="19"/>
                                        </p:tgtEl>
                                      </p:cBhvr>
                                    </p:animEffec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P spid="5" grpId="0" animBg="1"/>
      <p:bldP spid="6" grpId="0" animBg="1"/>
      <p:bldP spid="7" grpId="0" animBg="1"/>
      <p:bldP spid="8"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839176"/>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44575" y="277174"/>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12"/>
          </p:nvPr>
        </p:nvSpPr>
        <p:spPr/>
        <p:txBody>
          <a:bodyPr/>
          <a:lstStyle/>
          <a:p>
            <a:r>
              <a:rPr lang="en-US" dirty="0"/>
              <a:t>Application Layer: 2-</a:t>
            </a:r>
            <a:fld id="{C4204591-24BD-A542-B9D5-F8D8A88D2FEE}" type="slidenum">
              <a:rPr lang="en-US" smtClean="0"/>
              <a:pPr/>
              <a:t>66</a:t>
            </a:fld>
            <a:endParaRPr lang="en-US" dirty="0"/>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210690"/>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282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84912" y="1830928"/>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788307" y="1249310"/>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78027" y="3753164"/>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1048370" y="4475476"/>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67947" y="5142453"/>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449603" y="5661083"/>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120707" y="5997386"/>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128645" y="5338573"/>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136582" y="467976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122295" y="3954273"/>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1039812" y="220271"/>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12"/>
          </p:nvPr>
        </p:nvSpPr>
        <p:spPr/>
        <p:txBody>
          <a:bodyPr/>
          <a:lstStyle/>
          <a:p>
            <a:r>
              <a:rPr lang="en-US" dirty="0"/>
              <a:t>Application Layer: 2-</a:t>
            </a:r>
            <a:fld id="{C4204591-24BD-A542-B9D5-F8D8A88D2FEE}" type="slidenum">
              <a:rPr lang="en-US" smtClean="0"/>
              <a:pPr/>
              <a:t>67</a:t>
            </a:fld>
            <a:endParaRPr lang="en-US" dirty="0"/>
          </a:p>
        </p:txBody>
      </p:sp>
    </p:spTree>
    <p:extLst>
      <p:ext uri="{BB962C8B-B14F-4D97-AF65-F5344CB8AC3E}">
        <p14:creationId xmlns:p14="http://schemas.microsoft.com/office/powerpoint/2010/main" val="3203310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95375" y="238853"/>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12"/>
          </p:nvPr>
        </p:nvSpPr>
        <p:spPr/>
        <p:txBody>
          <a:bodyPr/>
          <a:lstStyle/>
          <a:p>
            <a:r>
              <a:rPr lang="en-US" dirty="0"/>
              <a:t>Application Layer: 2-</a:t>
            </a:r>
            <a:fld id="{C4204591-24BD-A542-B9D5-F8D8A88D2FEE}" type="slidenum">
              <a:rPr lang="en-US" smtClean="0"/>
              <a:pPr/>
              <a:t>68</a:t>
            </a:fld>
            <a:endParaRPr lang="en-US" dirty="0"/>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72838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networkutopia.com</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200" b="0"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networkutopia.com</a:t>
            </a: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networkutopia.com</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57503590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047750" y="236395"/>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12"/>
          </p:nvPr>
        </p:nvSpPr>
        <p:spPr/>
        <p:txBody>
          <a:bodyPr/>
          <a:lstStyle/>
          <a:p>
            <a:r>
              <a:rPr lang="en-US" dirty="0"/>
              <a:t>Application Layer: 2-</a:t>
            </a:r>
            <a:fld id="{C4204591-24BD-A542-B9D5-F8D8A88D2FEE}" type="slidenum">
              <a:rPr lang="en-US" smtClean="0"/>
              <a:pPr/>
              <a:t>69</a:t>
            </a:fld>
            <a:endParaRPr lang="en-US" dirty="0"/>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933450" y="1783269"/>
            <a:ext cx="5025571" cy="419843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191250" y="1783269"/>
            <a:ext cx="4760686" cy="4198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Tree>
    <p:extLst>
      <p:ext uri="{BB962C8B-B14F-4D97-AF65-F5344CB8AC3E}">
        <p14:creationId xmlns:p14="http://schemas.microsoft.com/office/powerpoint/2010/main" val="3984268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7791" y="282200"/>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70</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Web and HTTP</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The Domain Name System DNS</a:t>
            </a:r>
          </a:p>
          <a:p>
            <a:pPr marL="401638" indent="-401638">
              <a:defRPr/>
            </a:pPr>
            <a:r>
              <a:rPr lang="en-US" altLang="en-US" sz="3200" dirty="0">
                <a:latin typeface="Calibri" panose="020F0502020204030204" pitchFamily="34" charset="0"/>
                <a:cs typeface="Calibri" panose="020F0502020204030204" pitchFamily="34" charset="0"/>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345289909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67795" y="251486"/>
            <a:ext cx="10515600" cy="894622"/>
          </a:xfrm>
        </p:spPr>
        <p:txBody>
          <a:bodyPr>
            <a:normAutofit/>
          </a:bodyPr>
          <a:lstStyle/>
          <a:p>
            <a:r>
              <a:rPr lang="en-US" altLang="en-US" sz="4400" dirty="0">
                <a:ea typeface="ＭＳ Ｐゴシック" panose="020B0600070205080204" pitchFamily="34" charset="-128"/>
              </a:rPr>
              <a:t>Peer-to-peer </a:t>
            </a:r>
            <a:r>
              <a:rPr lang="en-US" altLang="en-US" sz="3600" dirty="0">
                <a:ea typeface="ＭＳ Ｐゴシック" panose="020B0600070205080204" pitchFamily="34" charset="-128"/>
              </a:rPr>
              <a:t>(P2P)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11" name="Slide Number Placeholder 2">
            <a:extLst>
              <a:ext uri="{FF2B5EF4-FFF2-40B4-BE49-F238E27FC236}">
                <a16:creationId xmlns:a16="http://schemas.microsoft.com/office/drawing/2014/main" id="{033BFF8E-A045-F641-9334-CFBF85BE3F5F}"/>
              </a:ext>
            </a:extLst>
          </p:cNvPr>
          <p:cNvSpPr>
            <a:spLocks noGrp="1"/>
          </p:cNvSpPr>
          <p:nvPr>
            <p:ph type="sldNum" sz="quarter" idx="12"/>
          </p:nvPr>
        </p:nvSpPr>
        <p:spPr/>
        <p:txBody>
          <a:bodyPr/>
          <a:lstStyle/>
          <a:p>
            <a:r>
              <a:rPr lang="en-US"/>
              <a:t>Application Layer: 2-</a:t>
            </a:r>
            <a:fld id="{C4204591-24BD-A542-B9D5-F8D8A88D2FEE}" type="slidenum">
              <a:rPr lang="en-US" smtClean="0"/>
              <a:pPr/>
              <a:t>71</a:t>
            </a:fld>
            <a:endParaRPr lang="en-US"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664326" y="1928772"/>
            <a:ext cx="6067848" cy="3918235"/>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sz="2400" i="1" dirty="0">
                <a:ea typeface="ＭＳ Ｐゴシック" panose="020B0600070205080204" pitchFamily="34" charset="-128"/>
              </a:rPr>
              <a:t>no</a:t>
            </a:r>
            <a:r>
              <a:rPr lang="en-US" altLang="en-US" sz="2400" dirty="0">
                <a:ea typeface="ＭＳ Ｐゴシック" panose="020B0600070205080204" pitchFamily="34" charset="-128"/>
              </a:rPr>
              <a:t> always-on server</a:t>
            </a:r>
          </a:p>
          <a:p>
            <a:pPr>
              <a:spcBef>
                <a:spcPts val="400"/>
              </a:spcBef>
            </a:pPr>
            <a:r>
              <a:rPr lang="en-US" altLang="en-US" sz="2400" dirty="0">
                <a:ea typeface="ＭＳ Ｐゴシック" panose="020B0600070205080204" pitchFamily="34" charset="-128"/>
              </a:rPr>
              <a:t>arbitrary end systems directly communicate</a:t>
            </a:r>
          </a:p>
          <a:p>
            <a:pPr>
              <a:spcBef>
                <a:spcPts val="400"/>
              </a:spcBef>
            </a:pPr>
            <a:r>
              <a:rPr lang="en-US" altLang="en-US" sz="2400" dirty="0">
                <a:ea typeface="ＭＳ Ｐゴシック" panose="020B0600070205080204" pitchFamily="34" charset="-128"/>
              </a:rPr>
              <a:t>peers request service from other peers, provide service in return to other peers</a:t>
            </a:r>
          </a:p>
          <a:p>
            <a:pPr marL="582613" lvl="1" indent="-225425"/>
            <a:r>
              <a:rPr lang="en-US" altLang="en-US" sz="2000" i="1" dirty="0">
                <a:solidFill>
                  <a:srgbClr val="CC0000"/>
                </a:solidFill>
                <a:ea typeface="ＭＳ Ｐゴシック" panose="020B0600070205080204" pitchFamily="34" charset="-128"/>
              </a:rPr>
              <a:t>self scalability</a:t>
            </a:r>
            <a:r>
              <a:rPr lang="en-US" altLang="en-US" sz="2000" dirty="0">
                <a:solidFill>
                  <a:srgbClr val="CC0000"/>
                </a:solidFill>
                <a:ea typeface="ＭＳ Ｐゴシック" panose="020B0600070205080204" pitchFamily="34" charset="-128"/>
              </a:rPr>
              <a:t> – new peers bring new service capacity, and new service demands</a:t>
            </a:r>
          </a:p>
          <a:p>
            <a:pPr>
              <a:spcBef>
                <a:spcPts val="400"/>
              </a:spcBef>
            </a:pPr>
            <a:r>
              <a:rPr lang="en-US" altLang="en-US" sz="2400" dirty="0">
                <a:ea typeface="ＭＳ Ｐゴシック" panose="020B0600070205080204" pitchFamily="34" charset="-128"/>
              </a:rPr>
              <a:t>peers are intermittently connected and change IP addresses</a:t>
            </a:r>
          </a:p>
          <a:p>
            <a:pPr lvl="1">
              <a:spcBef>
                <a:spcPts val="400"/>
              </a:spcBef>
            </a:pPr>
            <a:r>
              <a:rPr lang="en-US" altLang="en-US" sz="2000" dirty="0">
                <a:ea typeface="ＭＳ Ｐゴシック" panose="020B0600070205080204" pitchFamily="34" charset="-128"/>
              </a:rPr>
              <a:t>complex management</a:t>
            </a:r>
          </a:p>
          <a:p>
            <a:pPr>
              <a:spcBef>
                <a:spcPts val="400"/>
              </a:spcBef>
            </a:pPr>
            <a:r>
              <a:rPr lang="en-US" sz="2400" dirty="0"/>
              <a:t>examples: </a:t>
            </a:r>
            <a:r>
              <a:rPr lang="en-US" sz="2000" dirty="0"/>
              <a:t>P2P file sharing (BitTorrent), streaming (</a:t>
            </a:r>
            <a:r>
              <a:rPr lang="en-US" sz="2000" dirty="0" err="1"/>
              <a:t>KanKan</a:t>
            </a:r>
            <a:r>
              <a:rPr lang="en-US" sz="2000" dirty="0"/>
              <a:t>), VoIP (Skype)</a:t>
            </a:r>
            <a:endParaRPr lang="en-US" sz="2400" dirty="0"/>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321834492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76164" y="289325"/>
            <a:ext cx="10515600" cy="894622"/>
          </a:xfrm>
        </p:spPr>
        <p:txBody>
          <a:bodyPr>
            <a:normAutofit/>
          </a:bodyPr>
          <a:lstStyle/>
          <a:p>
            <a:r>
              <a:rPr lang="en-US" altLang="en-US" sz="4400" dirty="0">
                <a:ea typeface="ＭＳ Ｐゴシック" panose="020B0600070205080204" pitchFamily="34" charset="-128"/>
              </a:rPr>
              <a:t>File distribution: client-server vs P2P</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12"/>
          </p:nvPr>
        </p:nvSpPr>
        <p:spPr/>
        <p:txBody>
          <a:bodyPr/>
          <a:lstStyle/>
          <a:p>
            <a:r>
              <a:rPr lang="en-US"/>
              <a:t>Introduction: 1-</a:t>
            </a:r>
            <a:fld id="{C4204591-24BD-A542-B9D5-F8D8A88D2FEE}" type="slidenum">
              <a:rPr lang="en-US" smtClean="0"/>
              <a:pPr/>
              <a:t>72</a:t>
            </a:fld>
            <a:endParaRPr lang="en-US" dirty="0"/>
          </a:p>
        </p:txBody>
      </p:sp>
      <p:sp>
        <p:nvSpPr>
          <p:cNvPr id="613" name="Rectangle 3">
            <a:extLst>
              <a:ext uri="{FF2B5EF4-FFF2-40B4-BE49-F238E27FC236}">
                <a16:creationId xmlns:a16="http://schemas.microsoft.com/office/drawing/2014/main" id="{D33C12FB-7815-3541-8A29-9A4570C91901}"/>
              </a:ext>
            </a:extLst>
          </p:cNvPr>
          <p:cNvSpPr txBox="1">
            <a:spLocks noChangeArrowheads="1"/>
          </p:cNvSpPr>
          <p:nvPr/>
        </p:nvSpPr>
        <p:spPr>
          <a:xfrm>
            <a:off x="22196" y="1247014"/>
            <a:ext cx="12169804" cy="12967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013" indent="-542925">
              <a:buFont typeface="Wingdings" pitchFamily="2" charset="2"/>
              <a:buNone/>
            </a:pPr>
            <a:r>
              <a:rPr lang="en-US" altLang="en-US" sz="3200" i="1" u="sng" dirty="0">
                <a:solidFill>
                  <a:srgbClr val="CC0000"/>
                </a:solidFill>
                <a:ea typeface="ＭＳ Ｐゴシック" panose="020B0600070205080204" pitchFamily="34" charset="-128"/>
              </a:rPr>
              <a:t>Q</a:t>
            </a:r>
            <a:r>
              <a:rPr lang="en-US" altLang="en-US" sz="3200" i="1" dirty="0">
                <a:solidFill>
                  <a:srgbClr val="CC0000"/>
                </a:solidFill>
                <a:ea typeface="ＭＳ Ｐゴシック" panose="020B0600070205080204" pitchFamily="34" charset="-128"/>
              </a:rPr>
              <a:t>:</a:t>
            </a:r>
            <a:r>
              <a:rPr lang="en-US" altLang="en-US" sz="3200" dirty="0">
                <a:ea typeface="ＭＳ Ｐゴシック" panose="020B0600070205080204" pitchFamily="34" charset="-128"/>
              </a:rPr>
              <a:t> how much time to distribute file (size </a:t>
            </a:r>
            <a:r>
              <a:rPr lang="en-US" altLang="en-US" sz="3200" i="1" dirty="0">
                <a:ea typeface="ＭＳ Ｐゴシック" panose="020B0600070205080204" pitchFamily="34" charset="-128"/>
              </a:rPr>
              <a:t>F</a:t>
            </a:r>
            <a:r>
              <a:rPr lang="en-US" altLang="en-US" sz="3200" dirty="0">
                <a:ea typeface="ＭＳ Ｐゴシック" panose="020B0600070205080204" pitchFamily="34" charset="-128"/>
              </a:rPr>
              <a:t>) from one server to </a:t>
            </a:r>
            <a:r>
              <a:rPr lang="en-US" altLang="en-US" sz="3200" i="1" dirty="0">
                <a:ea typeface="ＭＳ Ｐゴシック" panose="020B0600070205080204" pitchFamily="34" charset="-128"/>
              </a:rPr>
              <a:t>N peers</a:t>
            </a:r>
            <a:r>
              <a:rPr lang="en-US" altLang="en-US" sz="3200" dirty="0">
                <a:ea typeface="ＭＳ Ｐゴシック" panose="020B0600070205080204" pitchFamily="34" charset="-128"/>
              </a:rPr>
              <a:t>?</a:t>
            </a:r>
          </a:p>
          <a:p>
            <a:pPr marL="858838" lvl="1" indent="-238125"/>
            <a:r>
              <a:rPr lang="en-US" altLang="en-US" dirty="0">
                <a:ea typeface="ＭＳ Ｐゴシック" panose="020B0600070205080204" pitchFamily="34" charset="-128"/>
              </a:rPr>
              <a:t>peer upload/download capacity is limited resource</a:t>
            </a:r>
          </a:p>
        </p:txBody>
      </p:sp>
      <p:sp>
        <p:nvSpPr>
          <p:cNvPr id="749" name="Freeform 4">
            <a:extLst>
              <a:ext uri="{FF2B5EF4-FFF2-40B4-BE49-F238E27FC236}">
                <a16:creationId xmlns:a16="http://schemas.microsoft.com/office/drawing/2014/main" id="{5781B526-D87C-EC44-AD4E-445965AD662B}"/>
              </a:ext>
            </a:extLst>
          </p:cNvPr>
          <p:cNvSpPr>
            <a:spLocks/>
          </p:cNvSpPr>
          <p:nvPr/>
        </p:nvSpPr>
        <p:spPr bwMode="auto">
          <a:xfrm>
            <a:off x="4222013" y="4263052"/>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20000"/>
              </a:spcBef>
              <a:spcAft>
                <a:spcPct val="0"/>
              </a:spcAft>
              <a:buClr>
                <a:srgbClr val="3333CC"/>
              </a:buClr>
              <a:buSzPct val="85000"/>
              <a:buFont typeface="ZapfDingbats" charset="2"/>
              <a:buNone/>
            </a:pPr>
            <a:endParaRPr lang="en-US" sz="2400">
              <a:solidFill>
                <a:srgbClr val="000000"/>
              </a:solidFill>
              <a:latin typeface="Arial" panose="020B0604020202020204" pitchFamily="34" charset="0"/>
              <a:ea typeface="ＭＳ Ｐゴシック" panose="020B0600070205080204" pitchFamily="34" charset="-128"/>
            </a:endParaRPr>
          </a:p>
        </p:txBody>
      </p:sp>
      <p:sp>
        <p:nvSpPr>
          <p:cNvPr id="750" name="Line 14">
            <a:extLst>
              <a:ext uri="{FF2B5EF4-FFF2-40B4-BE49-F238E27FC236}">
                <a16:creationId xmlns:a16="http://schemas.microsoft.com/office/drawing/2014/main" id="{88305A7F-251D-B74C-8F8E-CCB1F71A8C69}"/>
              </a:ext>
            </a:extLst>
          </p:cNvPr>
          <p:cNvSpPr>
            <a:spLocks noChangeShapeType="1"/>
          </p:cNvSpPr>
          <p:nvPr/>
        </p:nvSpPr>
        <p:spPr bwMode="auto">
          <a:xfrm>
            <a:off x="3756875" y="4226539"/>
            <a:ext cx="803275" cy="3111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1" name="Text Box 15">
            <a:extLst>
              <a:ext uri="{FF2B5EF4-FFF2-40B4-BE49-F238E27FC236}">
                <a16:creationId xmlns:a16="http://schemas.microsoft.com/office/drawing/2014/main" id="{B8157757-C95F-CB42-9942-11A4F3D252C7}"/>
              </a:ext>
            </a:extLst>
          </p:cNvPr>
          <p:cNvSpPr txBox="1">
            <a:spLocks noChangeArrowheads="1"/>
          </p:cNvSpPr>
          <p:nvPr/>
        </p:nvSpPr>
        <p:spPr bwMode="auto">
          <a:xfrm>
            <a:off x="4041038" y="4024927"/>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s</a:t>
            </a:r>
          </a:p>
        </p:txBody>
      </p:sp>
      <p:sp>
        <p:nvSpPr>
          <p:cNvPr id="752" name="Line 39">
            <a:extLst>
              <a:ext uri="{FF2B5EF4-FFF2-40B4-BE49-F238E27FC236}">
                <a16:creationId xmlns:a16="http://schemas.microsoft.com/office/drawing/2014/main" id="{33B391C4-AA6E-EF49-929E-18C688BE0299}"/>
              </a:ext>
            </a:extLst>
          </p:cNvPr>
          <p:cNvSpPr>
            <a:spLocks noChangeShapeType="1"/>
          </p:cNvSpPr>
          <p:nvPr/>
        </p:nvSpPr>
        <p:spPr bwMode="auto">
          <a:xfrm>
            <a:off x="3313963" y="5137764"/>
            <a:ext cx="10160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3" name="Line 40">
            <a:extLst>
              <a:ext uri="{FF2B5EF4-FFF2-40B4-BE49-F238E27FC236}">
                <a16:creationId xmlns:a16="http://schemas.microsoft.com/office/drawing/2014/main" id="{55D5EF82-1A60-6045-9491-ACB495A754FE}"/>
              </a:ext>
            </a:extLst>
          </p:cNvPr>
          <p:cNvSpPr>
            <a:spLocks noChangeShapeType="1"/>
          </p:cNvSpPr>
          <p:nvPr/>
        </p:nvSpPr>
        <p:spPr bwMode="auto">
          <a:xfrm flipH="1">
            <a:off x="3369525" y="5285402"/>
            <a:ext cx="10033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4" name="Text Box 41">
            <a:extLst>
              <a:ext uri="{FF2B5EF4-FFF2-40B4-BE49-F238E27FC236}">
                <a16:creationId xmlns:a16="http://schemas.microsoft.com/office/drawing/2014/main" id="{551344A9-80D5-6B4D-8C5F-1C743F9C413B}"/>
              </a:ext>
            </a:extLst>
          </p:cNvPr>
          <p:cNvSpPr txBox="1">
            <a:spLocks noChangeArrowheads="1"/>
          </p:cNvSpPr>
          <p:nvPr/>
        </p:nvSpPr>
        <p:spPr bwMode="auto">
          <a:xfrm>
            <a:off x="3602888" y="4748827"/>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5" name="Text Box 42">
            <a:extLst>
              <a:ext uri="{FF2B5EF4-FFF2-40B4-BE49-F238E27FC236}">
                <a16:creationId xmlns:a16="http://schemas.microsoft.com/office/drawing/2014/main" id="{DA13FA8F-3C26-0B46-A3A1-BC7065C4DDF0}"/>
              </a:ext>
            </a:extLst>
          </p:cNvPr>
          <p:cNvSpPr txBox="1">
            <a:spLocks noChangeArrowheads="1"/>
          </p:cNvSpPr>
          <p:nvPr/>
        </p:nvSpPr>
        <p:spPr bwMode="auto">
          <a:xfrm>
            <a:off x="3583838" y="5263177"/>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6" name="Text Box 43">
            <a:extLst>
              <a:ext uri="{FF2B5EF4-FFF2-40B4-BE49-F238E27FC236}">
                <a16:creationId xmlns:a16="http://schemas.microsoft.com/office/drawing/2014/main" id="{1E15BC0C-6AFB-CF4C-B899-707280EA49EB}"/>
              </a:ext>
            </a:extLst>
          </p:cNvPr>
          <p:cNvSpPr txBox="1">
            <a:spLocks noChangeArrowheads="1"/>
          </p:cNvSpPr>
          <p:nvPr/>
        </p:nvSpPr>
        <p:spPr bwMode="auto">
          <a:xfrm>
            <a:off x="3083775" y="4247177"/>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server</a:t>
            </a:r>
            <a:endParaRPr kumimoji="0" lang="en-US" altLang="en-US" b="0" i="0"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7" name="Text Box 44">
            <a:extLst>
              <a:ext uri="{FF2B5EF4-FFF2-40B4-BE49-F238E27FC236}">
                <a16:creationId xmlns:a16="http://schemas.microsoft.com/office/drawing/2014/main" id="{B744D31B-0064-CC4C-813B-2342EBCCC1F3}"/>
              </a:ext>
            </a:extLst>
          </p:cNvPr>
          <p:cNvSpPr txBox="1">
            <a:spLocks noChangeArrowheads="1"/>
          </p:cNvSpPr>
          <p:nvPr/>
        </p:nvSpPr>
        <p:spPr bwMode="auto">
          <a:xfrm>
            <a:off x="4619310" y="4774227"/>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rPr>
              <a:t>network (with abundant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rPr>
              <a:t> bandwidth)</a:t>
            </a:r>
          </a:p>
        </p:txBody>
      </p:sp>
      <p:sp>
        <p:nvSpPr>
          <p:cNvPr id="758" name="Text Box 47">
            <a:extLst>
              <a:ext uri="{FF2B5EF4-FFF2-40B4-BE49-F238E27FC236}">
                <a16:creationId xmlns:a16="http://schemas.microsoft.com/office/drawing/2014/main" id="{3CFD7627-4852-C14C-83FC-5338E04E251F}"/>
              </a:ext>
            </a:extLst>
          </p:cNvPr>
          <p:cNvSpPr txBox="1">
            <a:spLocks noChangeArrowheads="1"/>
          </p:cNvSpPr>
          <p:nvPr/>
        </p:nvSpPr>
        <p:spPr bwMode="auto">
          <a:xfrm>
            <a:off x="2191600" y="3999527"/>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file, size F</a:t>
            </a:r>
            <a:endParaRPr kumimoji="0" lang="en-US" altLang="en-US" sz="1800"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9" name="Text Box 49">
            <a:extLst>
              <a:ext uri="{FF2B5EF4-FFF2-40B4-BE49-F238E27FC236}">
                <a16:creationId xmlns:a16="http://schemas.microsoft.com/office/drawing/2014/main" id="{59DA6353-13D5-E042-BEEE-6FF767E8640F}"/>
              </a:ext>
            </a:extLst>
          </p:cNvPr>
          <p:cNvSpPr txBox="1">
            <a:spLocks noChangeArrowheads="1"/>
          </p:cNvSpPr>
          <p:nvPr/>
        </p:nvSpPr>
        <p:spPr bwMode="auto">
          <a:xfrm>
            <a:off x="3362504" y="2825710"/>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0" name="Text Box 50">
            <a:extLst>
              <a:ext uri="{FF2B5EF4-FFF2-40B4-BE49-F238E27FC236}">
                <a16:creationId xmlns:a16="http://schemas.microsoft.com/office/drawing/2014/main" id="{51F84BDF-7DCA-0A43-ACDB-9BE70839157D}"/>
              </a:ext>
            </a:extLst>
          </p:cNvPr>
          <p:cNvSpPr txBox="1">
            <a:spLocks noChangeArrowheads="1"/>
          </p:cNvSpPr>
          <p:nvPr/>
        </p:nvSpPr>
        <p:spPr bwMode="auto">
          <a:xfrm>
            <a:off x="8214575" y="5666402"/>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err="1">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err="1">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a:t>
            </a:r>
            <a:r>
              <a:rPr kumimoji="0" lang="en-US" altLang="en-US" sz="2400" b="0" i="0" u="none" strike="noStrike" kern="0" cap="none" spc="0" normalizeH="0" baseline="0" noProof="0" dirty="0" err="1">
                <a:ln>
                  <a:noFill/>
                </a:ln>
                <a:solidFill>
                  <a:srgbClr val="000000"/>
                </a:solidFill>
                <a:effectLst/>
                <a:uLnTx/>
                <a:uFillTx/>
                <a:latin typeface="+mn-lt"/>
                <a:ea typeface="ＭＳ Ｐゴシック" panose="020B0600070205080204" pitchFamily="34" charset="-128"/>
              </a:rPr>
              <a:t>i</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upload capacity</a:t>
            </a:r>
          </a:p>
        </p:txBody>
      </p:sp>
      <p:sp>
        <p:nvSpPr>
          <p:cNvPr id="761" name="Text Box 51">
            <a:extLst>
              <a:ext uri="{FF2B5EF4-FFF2-40B4-BE49-F238E27FC236}">
                <a16:creationId xmlns:a16="http://schemas.microsoft.com/office/drawing/2014/main" id="{A5D79A43-11C7-6349-BEB0-7438447D9B0E}"/>
              </a:ext>
            </a:extLst>
          </p:cNvPr>
          <p:cNvSpPr txBox="1">
            <a:spLocks noChangeArrowheads="1"/>
          </p:cNvSpPr>
          <p:nvPr/>
        </p:nvSpPr>
        <p:spPr bwMode="auto">
          <a:xfrm>
            <a:off x="8277419" y="3647216"/>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a:t>
            </a:r>
            <a:r>
              <a:rPr kumimoji="0" lang="en-US" altLang="en-US" sz="2400" b="0" i="0" u="none" strike="noStrike" kern="0" cap="none" spc="0" normalizeH="0" baseline="0" noProof="0" dirty="0" err="1">
                <a:ln>
                  <a:noFill/>
                </a:ln>
                <a:solidFill>
                  <a:srgbClr val="000000"/>
                </a:solidFill>
                <a:effectLst/>
                <a:uLnTx/>
                <a:uFillTx/>
                <a:latin typeface="+mn-lt"/>
                <a:ea typeface="ＭＳ Ｐゴシック" panose="020B0600070205080204" pitchFamily="34" charset="-128"/>
              </a:rPr>
              <a:t>i</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download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2" name="AutoShape 327">
            <a:extLst>
              <a:ext uri="{FF2B5EF4-FFF2-40B4-BE49-F238E27FC236}">
                <a16:creationId xmlns:a16="http://schemas.microsoft.com/office/drawing/2014/main" id="{369AE872-BFBD-8443-A484-E1FE4F07BC75}"/>
              </a:ext>
            </a:extLst>
          </p:cNvPr>
          <p:cNvSpPr>
            <a:spLocks noChangeArrowheads="1"/>
          </p:cNvSpPr>
          <p:nvPr/>
        </p:nvSpPr>
        <p:spPr bwMode="auto">
          <a:xfrm>
            <a:off x="2701188" y="3445489"/>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grpSp>
        <p:nvGrpSpPr>
          <p:cNvPr id="763" name="Group 76">
            <a:extLst>
              <a:ext uri="{FF2B5EF4-FFF2-40B4-BE49-F238E27FC236}">
                <a16:creationId xmlns:a16="http://schemas.microsoft.com/office/drawing/2014/main" id="{1E070762-6E91-C249-87E6-742CA28F4553}"/>
              </a:ext>
            </a:extLst>
          </p:cNvPr>
          <p:cNvGrpSpPr>
            <a:grpSpLocks/>
          </p:cNvGrpSpPr>
          <p:nvPr/>
        </p:nvGrpSpPr>
        <p:grpSpPr bwMode="auto">
          <a:xfrm>
            <a:off x="5436450" y="3723302"/>
            <a:ext cx="2138363" cy="903287"/>
            <a:chOff x="2204" y="2030"/>
            <a:chExt cx="1347" cy="774"/>
          </a:xfrm>
        </p:grpSpPr>
        <p:sp>
          <p:nvSpPr>
            <p:cNvPr id="764" name="Text Box 19">
              <a:extLst>
                <a:ext uri="{FF2B5EF4-FFF2-40B4-BE49-F238E27FC236}">
                  <a16:creationId xmlns:a16="http://schemas.microsoft.com/office/drawing/2014/main" id="{616B15BE-44B0-0344-B31F-91A938627F51}"/>
                </a:ext>
              </a:extLst>
            </p:cNvPr>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5" name="Line 22">
              <a:extLst>
                <a:ext uri="{FF2B5EF4-FFF2-40B4-BE49-F238E27FC236}">
                  <a16:creationId xmlns:a16="http://schemas.microsoft.com/office/drawing/2014/main" id="{468AACC5-62A5-624B-8074-C32AC02B5E08}"/>
                </a:ext>
              </a:extLst>
            </p:cNvPr>
            <p:cNvSpPr>
              <a:spLocks noChangeShapeType="1"/>
            </p:cNvSpPr>
            <p:nvPr/>
          </p:nvSpPr>
          <p:spPr bwMode="auto">
            <a:xfrm flipV="1">
              <a:off x="2997" y="2133"/>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6" name="Line 23">
              <a:extLst>
                <a:ext uri="{FF2B5EF4-FFF2-40B4-BE49-F238E27FC236}">
                  <a16:creationId xmlns:a16="http://schemas.microsoft.com/office/drawing/2014/main" id="{6ADDCF08-0E06-944A-88C1-8C3B5B0B51DC}"/>
                </a:ext>
              </a:extLst>
            </p:cNvPr>
            <p:cNvSpPr>
              <a:spLocks noChangeShapeType="1"/>
            </p:cNvSpPr>
            <p:nvPr/>
          </p:nvSpPr>
          <p:spPr bwMode="auto">
            <a:xfrm flipH="1">
              <a:off x="3082" y="2141"/>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7" name="Text Box 24">
              <a:extLst>
                <a:ext uri="{FF2B5EF4-FFF2-40B4-BE49-F238E27FC236}">
                  <a16:creationId xmlns:a16="http://schemas.microsoft.com/office/drawing/2014/main" id="{0F3475ED-2A92-4E41-84C3-7C019E7EFEB6}"/>
                </a:ext>
              </a:extLst>
            </p:cNvPr>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8" name="Text Box 19">
              <a:extLst>
                <a:ext uri="{FF2B5EF4-FFF2-40B4-BE49-F238E27FC236}">
                  <a16:creationId xmlns:a16="http://schemas.microsoft.com/office/drawing/2014/main" id="{0B070290-50F4-544A-8EB8-39FD5D70755B}"/>
                </a:ext>
              </a:extLst>
            </p:cNvPr>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769" name="Line 22">
              <a:extLst>
                <a:ext uri="{FF2B5EF4-FFF2-40B4-BE49-F238E27FC236}">
                  <a16:creationId xmlns:a16="http://schemas.microsoft.com/office/drawing/2014/main" id="{EDD90978-FEC1-EC4A-9B82-FE08AA882131}"/>
                </a:ext>
              </a:extLst>
            </p:cNvPr>
            <p:cNvSpPr>
              <a:spLocks noChangeShapeType="1"/>
            </p:cNvSpPr>
            <p:nvPr/>
          </p:nvSpPr>
          <p:spPr bwMode="auto">
            <a:xfrm flipV="1">
              <a:off x="2345" y="2030"/>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0" name="Line 23">
              <a:extLst>
                <a:ext uri="{FF2B5EF4-FFF2-40B4-BE49-F238E27FC236}">
                  <a16:creationId xmlns:a16="http://schemas.microsoft.com/office/drawing/2014/main" id="{D06A7A37-85E1-7F49-8794-07F8D4C654DC}"/>
                </a:ext>
              </a:extLst>
            </p:cNvPr>
            <p:cNvSpPr>
              <a:spLocks noChangeShapeType="1"/>
            </p:cNvSpPr>
            <p:nvPr/>
          </p:nvSpPr>
          <p:spPr bwMode="auto">
            <a:xfrm flipH="1">
              <a:off x="2430" y="2038"/>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1" name="Text Box 24">
              <a:extLst>
                <a:ext uri="{FF2B5EF4-FFF2-40B4-BE49-F238E27FC236}">
                  <a16:creationId xmlns:a16="http://schemas.microsoft.com/office/drawing/2014/main" id="{EB274E98-7508-9441-B445-9BFA8D56FBF2}"/>
                </a:ext>
              </a:extLst>
            </p:cNvPr>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grpSp>
      <p:sp>
        <p:nvSpPr>
          <p:cNvPr id="772" name="Line 72">
            <a:extLst>
              <a:ext uri="{FF2B5EF4-FFF2-40B4-BE49-F238E27FC236}">
                <a16:creationId xmlns:a16="http://schemas.microsoft.com/office/drawing/2014/main" id="{47A84A96-E7A3-1843-B72F-6E2E41F4ECFC}"/>
              </a:ext>
            </a:extLst>
          </p:cNvPr>
          <p:cNvSpPr>
            <a:spLocks noChangeShapeType="1"/>
          </p:cNvSpPr>
          <p:nvPr/>
        </p:nvSpPr>
        <p:spPr bwMode="auto">
          <a:xfrm>
            <a:off x="7968513" y="4942502"/>
            <a:ext cx="116522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3" name="Line 73">
            <a:extLst>
              <a:ext uri="{FF2B5EF4-FFF2-40B4-BE49-F238E27FC236}">
                <a16:creationId xmlns:a16="http://schemas.microsoft.com/office/drawing/2014/main" id="{13604104-CB34-D540-BE37-408B7E70081B}"/>
              </a:ext>
            </a:extLst>
          </p:cNvPr>
          <p:cNvSpPr>
            <a:spLocks noChangeShapeType="1"/>
          </p:cNvSpPr>
          <p:nvPr/>
        </p:nvSpPr>
        <p:spPr bwMode="auto">
          <a:xfrm>
            <a:off x="7976450" y="5094902"/>
            <a:ext cx="1165225"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4" name="Text Box 41">
            <a:extLst>
              <a:ext uri="{FF2B5EF4-FFF2-40B4-BE49-F238E27FC236}">
                <a16:creationId xmlns:a16="http://schemas.microsoft.com/office/drawing/2014/main" id="{6AECF13A-63DD-6440-9CEA-60EFAAE2DE1E}"/>
              </a:ext>
            </a:extLst>
          </p:cNvPr>
          <p:cNvSpPr txBox="1">
            <a:spLocks noChangeArrowheads="1"/>
          </p:cNvSpPr>
          <p:nvPr/>
        </p:nvSpPr>
        <p:spPr bwMode="auto">
          <a:xfrm>
            <a:off x="8128850" y="4531339"/>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5" name="Text Box 41">
            <a:extLst>
              <a:ext uri="{FF2B5EF4-FFF2-40B4-BE49-F238E27FC236}">
                <a16:creationId xmlns:a16="http://schemas.microsoft.com/office/drawing/2014/main" id="{B1B85AB8-3F48-6B40-9E0F-095E131ACC5D}"/>
              </a:ext>
            </a:extLst>
          </p:cNvPr>
          <p:cNvSpPr txBox="1">
            <a:spLocks noChangeArrowheads="1"/>
          </p:cNvSpPr>
          <p:nvPr/>
        </p:nvSpPr>
        <p:spPr bwMode="auto">
          <a:xfrm>
            <a:off x="8152663" y="5064739"/>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6" name="Line 77">
            <a:extLst>
              <a:ext uri="{FF2B5EF4-FFF2-40B4-BE49-F238E27FC236}">
                <a16:creationId xmlns:a16="http://schemas.microsoft.com/office/drawing/2014/main" id="{04740FC7-F24A-9E49-ABD5-CC405E4D6CE3}"/>
              </a:ext>
            </a:extLst>
          </p:cNvPr>
          <p:cNvSpPr>
            <a:spLocks noChangeShapeType="1"/>
          </p:cNvSpPr>
          <p:nvPr/>
        </p:nvSpPr>
        <p:spPr bwMode="auto">
          <a:xfrm>
            <a:off x="4202963" y="3407389"/>
            <a:ext cx="0" cy="663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a:solidFill>
                <a:srgbClr val="000000"/>
              </a:solidFill>
              <a:latin typeface="Arial" panose="020B0604020202020204" pitchFamily="34" charset="0"/>
              <a:ea typeface="ＭＳ Ｐゴシック" panose="020B0600070205080204" pitchFamily="34" charset="-128"/>
            </a:endParaRPr>
          </a:p>
        </p:txBody>
      </p:sp>
      <p:sp>
        <p:nvSpPr>
          <p:cNvPr id="777" name="Line 78">
            <a:extLst>
              <a:ext uri="{FF2B5EF4-FFF2-40B4-BE49-F238E27FC236}">
                <a16:creationId xmlns:a16="http://schemas.microsoft.com/office/drawing/2014/main" id="{644C7641-7528-D04F-B35B-B86B81EEAE45}"/>
              </a:ext>
            </a:extLst>
          </p:cNvPr>
          <p:cNvSpPr>
            <a:spLocks noChangeShapeType="1"/>
          </p:cNvSpPr>
          <p:nvPr/>
        </p:nvSpPr>
        <p:spPr bwMode="auto">
          <a:xfrm flipH="1">
            <a:off x="8416188" y="4321789"/>
            <a:ext cx="369887"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a:solidFill>
                <a:srgbClr val="000000"/>
              </a:solidFill>
              <a:latin typeface="Arial" panose="020B0604020202020204" pitchFamily="34" charset="0"/>
              <a:ea typeface="ＭＳ Ｐゴシック" panose="020B0600070205080204" pitchFamily="34" charset="-128"/>
            </a:endParaRPr>
          </a:p>
        </p:txBody>
      </p:sp>
      <p:sp>
        <p:nvSpPr>
          <p:cNvPr id="778" name="Line 79">
            <a:extLst>
              <a:ext uri="{FF2B5EF4-FFF2-40B4-BE49-F238E27FC236}">
                <a16:creationId xmlns:a16="http://schemas.microsoft.com/office/drawing/2014/main" id="{21210937-40A2-D945-A261-60D041388D1E}"/>
              </a:ext>
            </a:extLst>
          </p:cNvPr>
          <p:cNvSpPr>
            <a:spLocks noChangeShapeType="1"/>
          </p:cNvSpPr>
          <p:nvPr/>
        </p:nvSpPr>
        <p:spPr bwMode="auto">
          <a:xfrm flipH="1" flipV="1">
            <a:off x="8446350" y="5267939"/>
            <a:ext cx="369888"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a:solidFill>
                <a:srgbClr val="000000"/>
              </a:solidFill>
              <a:latin typeface="Arial" panose="020B0604020202020204" pitchFamily="34" charset="0"/>
              <a:ea typeface="ＭＳ Ｐゴシック" panose="020B0600070205080204" pitchFamily="34" charset="-128"/>
            </a:endParaRPr>
          </a:p>
        </p:txBody>
      </p:sp>
      <p:grpSp>
        <p:nvGrpSpPr>
          <p:cNvPr id="779" name="Group 81">
            <a:extLst>
              <a:ext uri="{FF2B5EF4-FFF2-40B4-BE49-F238E27FC236}">
                <a16:creationId xmlns:a16="http://schemas.microsoft.com/office/drawing/2014/main" id="{70E00E57-2D7F-E34A-A62C-8B64AA1FAC60}"/>
              </a:ext>
            </a:extLst>
          </p:cNvPr>
          <p:cNvGrpSpPr>
            <a:grpSpLocks/>
          </p:cNvGrpSpPr>
          <p:nvPr/>
        </p:nvGrpSpPr>
        <p:grpSpPr bwMode="auto">
          <a:xfrm>
            <a:off x="3472713" y="3507402"/>
            <a:ext cx="465137" cy="803275"/>
            <a:chOff x="4140" y="429"/>
            <a:chExt cx="1425" cy="2396"/>
          </a:xfrm>
        </p:grpSpPr>
        <p:sp>
          <p:nvSpPr>
            <p:cNvPr id="780" name="Freeform 82">
              <a:extLst>
                <a:ext uri="{FF2B5EF4-FFF2-40B4-BE49-F238E27FC236}">
                  <a16:creationId xmlns:a16="http://schemas.microsoft.com/office/drawing/2014/main" id="{79E2F9B0-711F-DE4C-965B-924CC303B5A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1" name="Rectangle 83">
              <a:extLst>
                <a:ext uri="{FF2B5EF4-FFF2-40B4-BE49-F238E27FC236}">
                  <a16:creationId xmlns:a16="http://schemas.microsoft.com/office/drawing/2014/main" id="{F06DAE2F-17DE-D941-923C-E70BDCB41B7D}"/>
                </a:ext>
              </a:extLst>
            </p:cNvPr>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2" name="Freeform 84">
              <a:extLst>
                <a:ext uri="{FF2B5EF4-FFF2-40B4-BE49-F238E27FC236}">
                  <a16:creationId xmlns:a16="http://schemas.microsoft.com/office/drawing/2014/main" id="{946A9E21-9E85-934A-A686-0A8D135B290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3" name="Freeform 85">
              <a:extLst>
                <a:ext uri="{FF2B5EF4-FFF2-40B4-BE49-F238E27FC236}">
                  <a16:creationId xmlns:a16="http://schemas.microsoft.com/office/drawing/2014/main" id="{72BE6A9C-0FBC-364A-A7ED-A2A6F01790A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4" name="Rectangle 86">
              <a:extLst>
                <a:ext uri="{FF2B5EF4-FFF2-40B4-BE49-F238E27FC236}">
                  <a16:creationId xmlns:a16="http://schemas.microsoft.com/office/drawing/2014/main" id="{6408A6CA-7347-8E43-98E8-BCFA0438401E}"/>
                </a:ext>
              </a:extLst>
            </p:cNvPr>
            <p:cNvSpPr>
              <a:spLocks noChangeArrowheads="1"/>
            </p:cNvSpPr>
            <p:nvPr/>
          </p:nvSpPr>
          <p:spPr bwMode="auto">
            <a:xfrm>
              <a:off x="4213" y="694"/>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7" name="Group 87">
              <a:extLst>
                <a:ext uri="{FF2B5EF4-FFF2-40B4-BE49-F238E27FC236}">
                  <a16:creationId xmlns:a16="http://schemas.microsoft.com/office/drawing/2014/main" id="{3BB80181-EFB9-654A-9C2B-37611F58AC52}"/>
                </a:ext>
              </a:extLst>
            </p:cNvPr>
            <p:cNvGrpSpPr>
              <a:grpSpLocks/>
            </p:cNvGrpSpPr>
            <p:nvPr/>
          </p:nvGrpSpPr>
          <p:grpSpPr bwMode="auto">
            <a:xfrm>
              <a:off x="4749" y="668"/>
              <a:ext cx="581" cy="145"/>
              <a:chOff x="614" y="2568"/>
              <a:chExt cx="725" cy="139"/>
            </a:xfrm>
          </p:grpSpPr>
          <p:sp>
            <p:nvSpPr>
              <p:cNvPr id="822" name="AutoShape 88">
                <a:extLst>
                  <a:ext uri="{FF2B5EF4-FFF2-40B4-BE49-F238E27FC236}">
                    <a16:creationId xmlns:a16="http://schemas.microsoft.com/office/drawing/2014/main" id="{755E2639-6DC2-B445-8BA7-4A95A040D34D}"/>
                  </a:ext>
                </a:extLst>
              </p:cNvPr>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4" name="AutoShape 89">
                <a:extLst>
                  <a:ext uri="{FF2B5EF4-FFF2-40B4-BE49-F238E27FC236}">
                    <a16:creationId xmlns:a16="http://schemas.microsoft.com/office/drawing/2014/main" id="{60B2F854-EFB8-E64E-8D27-5F6F8D396A82}"/>
                  </a:ext>
                </a:extLst>
              </p:cNvPr>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88" name="Rectangle 90">
              <a:extLst>
                <a:ext uri="{FF2B5EF4-FFF2-40B4-BE49-F238E27FC236}">
                  <a16:creationId xmlns:a16="http://schemas.microsoft.com/office/drawing/2014/main" id="{57F9C28A-1132-144B-9916-B507ADCEDDF3}"/>
                </a:ext>
              </a:extLst>
            </p:cNvPr>
            <p:cNvSpPr>
              <a:spLocks noChangeArrowheads="1"/>
            </p:cNvSpPr>
            <p:nvPr/>
          </p:nvSpPr>
          <p:spPr bwMode="auto">
            <a:xfrm>
              <a:off x="4223" y="1021"/>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9" name="Group 91">
              <a:extLst>
                <a:ext uri="{FF2B5EF4-FFF2-40B4-BE49-F238E27FC236}">
                  <a16:creationId xmlns:a16="http://schemas.microsoft.com/office/drawing/2014/main" id="{5E2EEB51-C433-4146-9A07-B904C9EFB0AE}"/>
                </a:ext>
              </a:extLst>
            </p:cNvPr>
            <p:cNvGrpSpPr>
              <a:grpSpLocks/>
            </p:cNvGrpSpPr>
            <p:nvPr/>
          </p:nvGrpSpPr>
          <p:grpSpPr bwMode="auto">
            <a:xfrm>
              <a:off x="4747" y="994"/>
              <a:ext cx="581" cy="134"/>
              <a:chOff x="614" y="2568"/>
              <a:chExt cx="725" cy="139"/>
            </a:xfrm>
          </p:grpSpPr>
          <p:sp>
            <p:nvSpPr>
              <p:cNvPr id="820" name="AutoShape 92">
                <a:extLst>
                  <a:ext uri="{FF2B5EF4-FFF2-40B4-BE49-F238E27FC236}">
                    <a16:creationId xmlns:a16="http://schemas.microsoft.com/office/drawing/2014/main" id="{3A27EE24-9EA3-5849-AF8B-3DE9ED4D01A9}"/>
                  </a:ext>
                </a:extLst>
              </p:cNvPr>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1" name="AutoShape 93">
                <a:extLst>
                  <a:ext uri="{FF2B5EF4-FFF2-40B4-BE49-F238E27FC236}">
                    <a16:creationId xmlns:a16="http://schemas.microsoft.com/office/drawing/2014/main" id="{6AFF8567-F6C4-0747-BA7C-1662595446F1}"/>
                  </a:ext>
                </a:extLst>
              </p:cNvPr>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0" name="Rectangle 94">
              <a:extLst>
                <a:ext uri="{FF2B5EF4-FFF2-40B4-BE49-F238E27FC236}">
                  <a16:creationId xmlns:a16="http://schemas.microsoft.com/office/drawing/2014/main" id="{481071F4-7660-1F49-867C-3C721C3F028A}"/>
                </a:ext>
              </a:extLst>
            </p:cNvPr>
            <p:cNvSpPr>
              <a:spLocks noChangeArrowheads="1"/>
            </p:cNvSpPr>
            <p:nvPr/>
          </p:nvSpPr>
          <p:spPr bwMode="auto">
            <a:xfrm>
              <a:off x="4218" y="1357"/>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1" name="Rectangle 95">
              <a:extLst>
                <a:ext uri="{FF2B5EF4-FFF2-40B4-BE49-F238E27FC236}">
                  <a16:creationId xmlns:a16="http://schemas.microsoft.com/office/drawing/2014/main" id="{F9E573B0-F1E0-0244-84F0-5D9DC86D8E1B}"/>
                </a:ext>
              </a:extLst>
            </p:cNvPr>
            <p:cNvSpPr>
              <a:spLocks noChangeArrowheads="1"/>
            </p:cNvSpPr>
            <p:nvPr/>
          </p:nvSpPr>
          <p:spPr bwMode="auto">
            <a:xfrm>
              <a:off x="4228" y="1655"/>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3" name="Group 96">
              <a:extLst>
                <a:ext uri="{FF2B5EF4-FFF2-40B4-BE49-F238E27FC236}">
                  <a16:creationId xmlns:a16="http://schemas.microsoft.com/office/drawing/2014/main" id="{60F43234-7837-E047-B8D9-B93960C93F0B}"/>
                </a:ext>
              </a:extLst>
            </p:cNvPr>
            <p:cNvGrpSpPr>
              <a:grpSpLocks/>
            </p:cNvGrpSpPr>
            <p:nvPr/>
          </p:nvGrpSpPr>
          <p:grpSpPr bwMode="auto">
            <a:xfrm>
              <a:off x="4735" y="1627"/>
              <a:ext cx="582" cy="151"/>
              <a:chOff x="614" y="2568"/>
              <a:chExt cx="725" cy="139"/>
            </a:xfrm>
          </p:grpSpPr>
          <p:sp>
            <p:nvSpPr>
              <p:cNvPr id="815" name="AutoShape 97">
                <a:extLst>
                  <a:ext uri="{FF2B5EF4-FFF2-40B4-BE49-F238E27FC236}">
                    <a16:creationId xmlns:a16="http://schemas.microsoft.com/office/drawing/2014/main" id="{AA061C9E-39EE-B14D-A8E3-104E2701398E}"/>
                  </a:ext>
                </a:extLst>
              </p:cNvPr>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7" name="AutoShape 98">
                <a:extLst>
                  <a:ext uri="{FF2B5EF4-FFF2-40B4-BE49-F238E27FC236}">
                    <a16:creationId xmlns:a16="http://schemas.microsoft.com/office/drawing/2014/main" id="{12C304B6-6E69-644F-91BB-9F1C86D1DB78}"/>
                  </a:ext>
                </a:extLst>
              </p:cNvPr>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4" name="Freeform 99">
              <a:extLst>
                <a:ext uri="{FF2B5EF4-FFF2-40B4-BE49-F238E27FC236}">
                  <a16:creationId xmlns:a16="http://schemas.microsoft.com/office/drawing/2014/main" id="{D5358657-0340-9248-AA9C-2F41E4340AA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6" name="Group 100">
              <a:extLst>
                <a:ext uri="{FF2B5EF4-FFF2-40B4-BE49-F238E27FC236}">
                  <a16:creationId xmlns:a16="http://schemas.microsoft.com/office/drawing/2014/main" id="{87CDCAD0-C1B4-8646-B58D-6CD9FF243261}"/>
                </a:ext>
              </a:extLst>
            </p:cNvPr>
            <p:cNvGrpSpPr>
              <a:grpSpLocks/>
            </p:cNvGrpSpPr>
            <p:nvPr/>
          </p:nvGrpSpPr>
          <p:grpSpPr bwMode="auto">
            <a:xfrm>
              <a:off x="4739" y="1327"/>
              <a:ext cx="582" cy="139"/>
              <a:chOff x="614" y="2568"/>
              <a:chExt cx="725" cy="139"/>
            </a:xfrm>
          </p:grpSpPr>
          <p:sp>
            <p:nvSpPr>
              <p:cNvPr id="812" name="AutoShape 101">
                <a:extLst>
                  <a:ext uri="{FF2B5EF4-FFF2-40B4-BE49-F238E27FC236}">
                    <a16:creationId xmlns:a16="http://schemas.microsoft.com/office/drawing/2014/main" id="{53F473DF-D46D-0345-9F7F-49F5BE50C97A}"/>
                  </a:ext>
                </a:extLst>
              </p:cNvPr>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4" name="AutoShape 102">
                <a:extLst>
                  <a:ext uri="{FF2B5EF4-FFF2-40B4-BE49-F238E27FC236}">
                    <a16:creationId xmlns:a16="http://schemas.microsoft.com/office/drawing/2014/main" id="{EF047A49-61C2-3A41-8A53-6F24E9E5C014}"/>
                  </a:ext>
                </a:extLst>
              </p:cNvPr>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7" name="Rectangle 103">
              <a:extLst>
                <a:ext uri="{FF2B5EF4-FFF2-40B4-BE49-F238E27FC236}">
                  <a16:creationId xmlns:a16="http://schemas.microsoft.com/office/drawing/2014/main" id="{0DC41427-3FCF-3949-97B5-7D608D26FCB5}"/>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8" name="Freeform 104">
              <a:extLst>
                <a:ext uri="{FF2B5EF4-FFF2-40B4-BE49-F238E27FC236}">
                  <a16:creationId xmlns:a16="http://schemas.microsoft.com/office/drawing/2014/main" id="{8F8A38B2-57F8-E945-BFD5-DF65BDBFA8B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9" name="Freeform 105">
              <a:extLst>
                <a:ext uri="{FF2B5EF4-FFF2-40B4-BE49-F238E27FC236}">
                  <a16:creationId xmlns:a16="http://schemas.microsoft.com/office/drawing/2014/main" id="{0F08B7AC-3180-754D-94CE-9FA5F6748B0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1" name="Oval 106">
              <a:extLst>
                <a:ext uri="{FF2B5EF4-FFF2-40B4-BE49-F238E27FC236}">
                  <a16:creationId xmlns:a16="http://schemas.microsoft.com/office/drawing/2014/main" id="{C5F7D344-4D6F-D646-8C93-A97BAB8C49A2}"/>
                </a:ext>
              </a:extLst>
            </p:cNvPr>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2" name="Freeform 107">
              <a:extLst>
                <a:ext uri="{FF2B5EF4-FFF2-40B4-BE49-F238E27FC236}">
                  <a16:creationId xmlns:a16="http://schemas.microsoft.com/office/drawing/2014/main" id="{BE829AA4-D020-7348-B510-9FB2A8536A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4" name="AutoShape 108">
              <a:extLst>
                <a:ext uri="{FF2B5EF4-FFF2-40B4-BE49-F238E27FC236}">
                  <a16:creationId xmlns:a16="http://schemas.microsoft.com/office/drawing/2014/main" id="{35AAD988-1211-1E40-91C0-3937CD2ECC6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5" name="AutoShape 109">
              <a:extLst>
                <a:ext uri="{FF2B5EF4-FFF2-40B4-BE49-F238E27FC236}">
                  <a16:creationId xmlns:a16="http://schemas.microsoft.com/office/drawing/2014/main" id="{4305931D-5D5C-9D4F-AAD7-AB64D64AD994}"/>
                </a:ext>
              </a:extLst>
            </p:cNvPr>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6" name="Oval 110">
              <a:extLst>
                <a:ext uri="{FF2B5EF4-FFF2-40B4-BE49-F238E27FC236}">
                  <a16:creationId xmlns:a16="http://schemas.microsoft.com/office/drawing/2014/main" id="{83363F10-1097-A54D-ADAB-24C8B3E21A0B}"/>
                </a:ext>
              </a:extLst>
            </p:cNvPr>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7" name="Oval 111">
              <a:extLst>
                <a:ext uri="{FF2B5EF4-FFF2-40B4-BE49-F238E27FC236}">
                  <a16:creationId xmlns:a16="http://schemas.microsoft.com/office/drawing/2014/main" id="{B44F4B51-7681-9C40-9F0A-A4B645261271}"/>
                </a:ext>
              </a:extLst>
            </p:cNvPr>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809" name="Oval 112">
              <a:extLst>
                <a:ext uri="{FF2B5EF4-FFF2-40B4-BE49-F238E27FC236}">
                  <a16:creationId xmlns:a16="http://schemas.microsoft.com/office/drawing/2014/main" id="{5582586B-92B3-3A4A-8CAC-5102119501E2}"/>
                </a:ext>
              </a:extLst>
            </p:cNvPr>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0" name="Rectangle 113">
              <a:extLst>
                <a:ext uri="{FF2B5EF4-FFF2-40B4-BE49-F238E27FC236}">
                  <a16:creationId xmlns:a16="http://schemas.microsoft.com/office/drawing/2014/main" id="{5238CEC3-5101-4E45-98C3-C884DC6204FE}"/>
                </a:ext>
              </a:extLst>
            </p:cNvPr>
            <p:cNvSpPr>
              <a:spLocks noChangeArrowheads="1"/>
            </p:cNvSpPr>
            <p:nvPr/>
          </p:nvSpPr>
          <p:spPr bwMode="auto">
            <a:xfrm>
              <a:off x="5064" y="1835"/>
              <a:ext cx="83"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26" name="Group 114">
            <a:extLst>
              <a:ext uri="{FF2B5EF4-FFF2-40B4-BE49-F238E27FC236}">
                <a16:creationId xmlns:a16="http://schemas.microsoft.com/office/drawing/2014/main" id="{CE9E5FE1-98E9-5B4B-A4A4-DFCEF9DD2F2A}"/>
              </a:ext>
            </a:extLst>
          </p:cNvPr>
          <p:cNvGrpSpPr>
            <a:grpSpLocks/>
          </p:cNvGrpSpPr>
          <p:nvPr/>
        </p:nvGrpSpPr>
        <p:grpSpPr bwMode="auto">
          <a:xfrm>
            <a:off x="2382100" y="4810739"/>
            <a:ext cx="925513" cy="795338"/>
            <a:chOff x="-44" y="1473"/>
            <a:chExt cx="981" cy="1105"/>
          </a:xfrm>
        </p:grpSpPr>
        <p:pic>
          <p:nvPicPr>
            <p:cNvPr id="828" name="Picture 115" descr="desktop_computer_stylized_medium">
              <a:extLst>
                <a:ext uri="{FF2B5EF4-FFF2-40B4-BE49-F238E27FC236}">
                  <a16:creationId xmlns:a16="http://schemas.microsoft.com/office/drawing/2014/main" id="{EA6E5654-65B1-E143-93FC-22FF8A007C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a:extLst>
                <a:ext uri="{FF2B5EF4-FFF2-40B4-BE49-F238E27FC236}">
                  <a16:creationId xmlns:a16="http://schemas.microsoft.com/office/drawing/2014/main" id="{2A3D29B4-8BC4-A546-9C7A-F25B946004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1" name="Group 117">
            <a:extLst>
              <a:ext uri="{FF2B5EF4-FFF2-40B4-BE49-F238E27FC236}">
                <a16:creationId xmlns:a16="http://schemas.microsoft.com/office/drawing/2014/main" id="{9E284045-6147-7B47-BC5C-5CC7FF81FE0A}"/>
              </a:ext>
            </a:extLst>
          </p:cNvPr>
          <p:cNvGrpSpPr>
            <a:grpSpLocks/>
          </p:cNvGrpSpPr>
          <p:nvPr/>
        </p:nvGrpSpPr>
        <p:grpSpPr bwMode="auto">
          <a:xfrm>
            <a:off x="5603138" y="2991464"/>
            <a:ext cx="925512" cy="795338"/>
            <a:chOff x="-44" y="1473"/>
            <a:chExt cx="981" cy="1105"/>
          </a:xfrm>
        </p:grpSpPr>
        <p:pic>
          <p:nvPicPr>
            <p:cNvPr id="832" name="Picture 118" descr="desktop_computer_stylized_medium">
              <a:extLst>
                <a:ext uri="{FF2B5EF4-FFF2-40B4-BE49-F238E27FC236}">
                  <a16:creationId xmlns:a16="http://schemas.microsoft.com/office/drawing/2014/main" id="{ED57643D-213A-0D48-ACB2-47375B1F6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a:extLst>
                <a:ext uri="{FF2B5EF4-FFF2-40B4-BE49-F238E27FC236}">
                  <a16:creationId xmlns:a16="http://schemas.microsoft.com/office/drawing/2014/main" id="{C945A6F0-C64A-034A-808B-026CA37D34A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4" name="Group 120">
            <a:extLst>
              <a:ext uri="{FF2B5EF4-FFF2-40B4-BE49-F238E27FC236}">
                <a16:creationId xmlns:a16="http://schemas.microsoft.com/office/drawing/2014/main" id="{DC1F1924-84C9-2D4F-BED7-1D7A99AAAF5D}"/>
              </a:ext>
            </a:extLst>
          </p:cNvPr>
          <p:cNvGrpSpPr>
            <a:grpSpLocks/>
          </p:cNvGrpSpPr>
          <p:nvPr/>
        </p:nvGrpSpPr>
        <p:grpSpPr bwMode="auto">
          <a:xfrm>
            <a:off x="6647713" y="3132752"/>
            <a:ext cx="925512" cy="795337"/>
            <a:chOff x="-44" y="1473"/>
            <a:chExt cx="981" cy="1105"/>
          </a:xfrm>
        </p:grpSpPr>
        <p:pic>
          <p:nvPicPr>
            <p:cNvPr id="835" name="Picture 121" descr="desktop_computer_stylized_medium">
              <a:extLst>
                <a:ext uri="{FF2B5EF4-FFF2-40B4-BE49-F238E27FC236}">
                  <a16:creationId xmlns:a16="http://schemas.microsoft.com/office/drawing/2014/main" id="{5CB3D6E4-1267-BA47-946E-11A72D2BB2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a:extLst>
                <a:ext uri="{FF2B5EF4-FFF2-40B4-BE49-F238E27FC236}">
                  <a16:creationId xmlns:a16="http://schemas.microsoft.com/office/drawing/2014/main" id="{0260D56A-2D23-4B40-82DB-9E620FF6E88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7" name="Group 123">
            <a:extLst>
              <a:ext uri="{FF2B5EF4-FFF2-40B4-BE49-F238E27FC236}">
                <a16:creationId xmlns:a16="http://schemas.microsoft.com/office/drawing/2014/main" id="{7F9A075B-9EA6-8048-A759-51935B47F745}"/>
              </a:ext>
            </a:extLst>
          </p:cNvPr>
          <p:cNvGrpSpPr>
            <a:grpSpLocks/>
          </p:cNvGrpSpPr>
          <p:nvPr/>
        </p:nvGrpSpPr>
        <p:grpSpPr bwMode="auto">
          <a:xfrm flipH="1">
            <a:off x="9117863" y="4580552"/>
            <a:ext cx="925512" cy="795337"/>
            <a:chOff x="-44" y="1473"/>
            <a:chExt cx="981" cy="1105"/>
          </a:xfrm>
        </p:grpSpPr>
        <p:pic>
          <p:nvPicPr>
            <p:cNvPr id="838" name="Picture 124" descr="desktop_computer_stylized_medium">
              <a:extLst>
                <a:ext uri="{FF2B5EF4-FFF2-40B4-BE49-F238E27FC236}">
                  <a16:creationId xmlns:a16="http://schemas.microsoft.com/office/drawing/2014/main" id="{BECC09C1-57D5-7847-8F83-B0BFE5CF6A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a:extLst>
                <a:ext uri="{FF2B5EF4-FFF2-40B4-BE49-F238E27FC236}">
                  <a16:creationId xmlns:a16="http://schemas.microsoft.com/office/drawing/2014/main" id="{7D172349-8EB7-C043-850F-2ACA8BB1C8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Tree>
    <p:extLst>
      <p:ext uri="{BB962C8B-B14F-4D97-AF65-F5344CB8AC3E}">
        <p14:creationId xmlns:p14="http://schemas.microsoft.com/office/powerpoint/2010/main" val="333181797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46341" y="289325"/>
            <a:ext cx="10515600" cy="894622"/>
          </a:xfrm>
        </p:spPr>
        <p:txBody>
          <a:bodyPr>
            <a:normAutofit/>
          </a:bodyPr>
          <a:lstStyle/>
          <a:p>
            <a:r>
              <a:rPr lang="en-US" altLang="en-US" sz="4400" dirty="0">
                <a:ea typeface="ＭＳ Ｐゴシック" panose="020B0600070205080204" pitchFamily="34" charset="-128"/>
              </a:rPr>
              <a:t>File distribution time: </a:t>
            </a:r>
            <a:r>
              <a:rPr lang="en-US" altLang="en-US" sz="4400" dirty="0">
                <a:highlight>
                  <a:srgbClr val="FFFF00"/>
                </a:highlight>
                <a:ea typeface="ＭＳ Ｐゴシック" panose="020B0600070205080204" pitchFamily="34" charset="-128"/>
              </a:rPr>
              <a:t>client-server</a:t>
            </a:r>
            <a:endParaRPr lang="en-US" sz="4400" dirty="0">
              <a:highlight>
                <a:srgbClr val="FFFF00"/>
              </a:highlight>
            </a:endParaRPr>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12"/>
          </p:nvPr>
        </p:nvSpPr>
        <p:spPr/>
        <p:txBody>
          <a:bodyPr/>
          <a:lstStyle/>
          <a:p>
            <a:r>
              <a:rPr lang="en-US" dirty="0"/>
              <a:t>Introduction: 1-</a:t>
            </a:r>
            <a:fld id="{C4204591-24BD-A542-B9D5-F8D8A88D2FEE}" type="slidenum">
              <a:rPr lang="en-US" smtClean="0"/>
              <a:pPr/>
              <a:t>73</a:t>
            </a:fld>
            <a:endParaRPr lang="en-US"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437885" y="1727769"/>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sequentially send (upload) </a:t>
            </a:r>
            <a:r>
              <a:rPr lang="en-US" altLang="en-US" i="1" dirty="0">
                <a:ea typeface="ＭＳ Ｐゴシック" panose="020B0600070205080204" pitchFamily="34" charset="-128"/>
              </a:rPr>
              <a:t>N </a:t>
            </a:r>
            <a:r>
              <a:rPr lang="en-US" altLang="en-US" dirty="0">
                <a:ea typeface="ＭＳ Ｐゴシック" panose="020B0600070205080204" pitchFamily="34" charset="-128"/>
              </a:rPr>
              <a:t>file</a:t>
            </a:r>
            <a:r>
              <a:rPr lang="en-US" altLang="en-US" i="1" dirty="0">
                <a:ea typeface="ＭＳ Ｐゴシック" panose="020B0600070205080204" pitchFamily="34" charset="-128"/>
              </a:rPr>
              <a:t> </a:t>
            </a:r>
            <a:r>
              <a:rPr lang="en-US" altLang="en-US" dirty="0">
                <a:ea typeface="ＭＳ Ｐゴシック" panose="020B0600070205080204" pitchFamily="34" charset="-128"/>
              </a:rPr>
              <a:t>copies:</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a:p>
            <a:pPr lvl="1">
              <a:lnSpc>
                <a:spcPct val="100000"/>
              </a:lnSpc>
            </a:pPr>
            <a:r>
              <a:rPr lang="en-US" altLang="en-US" dirty="0">
                <a:ea typeface="ＭＳ Ｐゴシック" panose="020B0600070205080204" pitchFamily="34" charset="-128"/>
              </a:rPr>
              <a:t>time to send </a:t>
            </a:r>
            <a:r>
              <a:rPr lang="en-US" altLang="en-US" i="1" dirty="0">
                <a:ea typeface="ＭＳ Ｐゴシック" panose="020B0600070205080204" pitchFamily="34" charset="-128"/>
              </a:rPr>
              <a:t>N</a:t>
            </a:r>
            <a:r>
              <a:rPr lang="en-US" altLang="en-US" dirty="0">
                <a:ea typeface="ＭＳ Ｐゴシック" panose="020B0600070205080204" pitchFamily="34" charset="-128"/>
              </a:rPr>
              <a:t> copies: </a:t>
            </a:r>
            <a:r>
              <a:rPr lang="en-US" altLang="en-US" i="1" dirty="0">
                <a:ea typeface="ＭＳ Ｐゴシック" panose="020B0600070205080204" pitchFamily="34" charset="-128"/>
              </a:rPr>
              <a:t>NF/u</a:t>
            </a:r>
            <a:r>
              <a:rPr lang="en-US" altLang="en-US" i="1" baseline="-25000" dirty="0">
                <a:ea typeface="ＭＳ Ｐゴシック" panose="020B0600070205080204" pitchFamily="34" charset="-128"/>
              </a:rPr>
              <a:t>s</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342492" y="3732396"/>
            <a:ext cx="4137610"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i="1" dirty="0" err="1">
                <a:latin typeface="+mn-lt"/>
              </a:rPr>
              <a:t>d</a:t>
            </a:r>
            <a:r>
              <a:rPr lang="en-US" altLang="en-US" sz="2400" i="1" baseline="-25000" dirty="0" err="1">
                <a:latin typeface="+mn-lt"/>
              </a:rPr>
              <a:t>mi</a:t>
            </a:r>
            <a:r>
              <a:rPr lang="en-US" altLang="en-US" sz="2400" baseline="-25000" dirty="0" err="1">
                <a:latin typeface="+mn-lt"/>
              </a:rPr>
              <a:t>n</a:t>
            </a:r>
            <a:r>
              <a:rPr lang="en-US" altLang="en-US" sz="2400" dirty="0">
                <a:latin typeface="+mn-lt"/>
              </a:rPr>
              <a:t> = min client download rate</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a:t>
            </a:r>
            <a:r>
              <a:rPr lang="en-US" altLang="en-US" sz="2400" i="1" dirty="0" err="1">
                <a:latin typeface="+mn-lt"/>
              </a:rPr>
              <a:t>d</a:t>
            </a:r>
            <a:r>
              <a:rPr lang="en-US" altLang="en-US" sz="2400" i="1" baseline="-25000" dirty="0" err="1">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6796266" y="1727769"/>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d</a:t>
              </a:r>
              <a:r>
                <a:rPr lang="en-US" altLang="en-US" sz="1800" i="1" baseline="-2500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a:latin typeface="+mn-lt"/>
                </a:rPr>
                <a:t>F</a:t>
              </a:r>
              <a:endParaRPr lang="en-US" altLang="en-US" sz="1600" i="1" baseline="-2500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sp>
        <p:nvSpPr>
          <p:cNvPr id="145" name="Line 53">
            <a:extLst>
              <a:ext uri="{FF2B5EF4-FFF2-40B4-BE49-F238E27FC236}">
                <a16:creationId xmlns:a16="http://schemas.microsoft.com/office/drawing/2014/main" id="{5B4F3401-24CB-7648-BD89-1A7CFF53418C}"/>
              </a:ext>
            </a:extLst>
          </p:cNvPr>
          <p:cNvSpPr>
            <a:spLocks noChangeShapeType="1"/>
          </p:cNvSpPr>
          <p:nvPr/>
        </p:nvSpPr>
        <p:spPr bwMode="auto">
          <a:xfrm flipV="1">
            <a:off x="9388712" y="5446102"/>
            <a:ext cx="430213" cy="692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46" name="Text Box 54">
            <a:extLst>
              <a:ext uri="{FF2B5EF4-FFF2-40B4-BE49-F238E27FC236}">
                <a16:creationId xmlns:a16="http://schemas.microsoft.com/office/drawing/2014/main" id="{5BD0C7E9-770D-0B41-BE6E-3ADF84797818}"/>
              </a:ext>
            </a:extLst>
          </p:cNvPr>
          <p:cNvSpPr txBox="1">
            <a:spLocks noChangeArrowheads="1"/>
          </p:cNvSpPr>
          <p:nvPr/>
        </p:nvSpPr>
        <p:spPr bwMode="auto">
          <a:xfrm>
            <a:off x="6535612" y="5974740"/>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N</a:t>
            </a:r>
          </a:p>
        </p:txBody>
      </p:sp>
      <p:sp>
        <p:nvSpPr>
          <p:cNvPr id="147" name="Text Box 51">
            <a:extLst>
              <a:ext uri="{FF2B5EF4-FFF2-40B4-BE49-F238E27FC236}">
                <a16:creationId xmlns:a16="http://schemas.microsoft.com/office/drawing/2014/main" id="{49B83A0D-0FBE-7E43-85D0-C80B2E74DD2A}"/>
              </a:ext>
            </a:extLst>
          </p:cNvPr>
          <p:cNvSpPr txBox="1">
            <a:spLocks noChangeArrowheads="1"/>
          </p:cNvSpPr>
          <p:nvPr/>
        </p:nvSpPr>
        <p:spPr bwMode="auto">
          <a:xfrm>
            <a:off x="4778054" y="4739665"/>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400" i="1" dirty="0">
                <a:latin typeface="+mn-lt"/>
              </a:rPr>
              <a:t>time to  distribute F </a:t>
            </a:r>
          </a:p>
          <a:p>
            <a:pPr algn="r">
              <a:lnSpc>
                <a:spcPct val="80000"/>
              </a:lnSpc>
            </a:pPr>
            <a:r>
              <a:rPr lang="en-US" altLang="en-US" sz="2400" i="1" dirty="0">
                <a:latin typeface="+mn-lt"/>
              </a:rPr>
              <a:t>to N clients using </a:t>
            </a:r>
          </a:p>
          <a:p>
            <a:pPr algn="r">
              <a:lnSpc>
                <a:spcPct val="80000"/>
              </a:lnSpc>
            </a:pPr>
            <a:r>
              <a:rPr lang="en-US" altLang="en-US" sz="2400" i="1" dirty="0">
                <a:highlight>
                  <a:srgbClr val="FFFF00"/>
                </a:highlight>
                <a:latin typeface="+mn-lt"/>
              </a:rPr>
              <a:t>client-server approach</a:t>
            </a:r>
            <a:r>
              <a:rPr lang="en-US" altLang="en-US" sz="2800" dirty="0">
                <a:highlight>
                  <a:srgbClr val="FFFF00"/>
                </a:highlight>
                <a:latin typeface="+mn-lt"/>
              </a:rPr>
              <a:t> </a:t>
            </a:r>
            <a:endParaRPr lang="en-US" altLang="en-US" sz="3200" dirty="0">
              <a:highlight>
                <a:srgbClr val="FFFF00"/>
              </a:highlight>
              <a:latin typeface="+mn-lt"/>
            </a:endParaRPr>
          </a:p>
        </p:txBody>
      </p:sp>
      <p:sp>
        <p:nvSpPr>
          <p:cNvPr id="148" name="Rectangle 55">
            <a:extLst>
              <a:ext uri="{FF2B5EF4-FFF2-40B4-BE49-F238E27FC236}">
                <a16:creationId xmlns:a16="http://schemas.microsoft.com/office/drawing/2014/main" id="{01D3C4E1-DA80-A24C-A094-D590BCC34655}"/>
              </a:ext>
            </a:extLst>
          </p:cNvPr>
          <p:cNvSpPr>
            <a:spLocks noChangeArrowheads="1"/>
          </p:cNvSpPr>
          <p:nvPr/>
        </p:nvSpPr>
        <p:spPr bwMode="auto">
          <a:xfrm>
            <a:off x="4560176" y="4668227"/>
            <a:ext cx="7421599" cy="12350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149" name="Text Box 96">
            <a:extLst>
              <a:ext uri="{FF2B5EF4-FFF2-40B4-BE49-F238E27FC236}">
                <a16:creationId xmlns:a16="http://schemas.microsoft.com/office/drawing/2014/main" id="{11EFB657-3D70-CB41-8FB4-5E358070DDC4}"/>
              </a:ext>
            </a:extLst>
          </p:cNvPr>
          <p:cNvSpPr txBox="1">
            <a:spLocks noChangeArrowheads="1"/>
          </p:cNvSpPr>
          <p:nvPr/>
        </p:nvSpPr>
        <p:spPr bwMode="auto">
          <a:xfrm>
            <a:off x="7738387" y="4982552"/>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a:t>
            </a:r>
            <a:r>
              <a:rPr lang="en-US" altLang="en-US" sz="3200" i="1" dirty="0" err="1">
                <a:latin typeface="+mn-lt"/>
              </a:rPr>
              <a:t>D</a:t>
            </a:r>
            <a:r>
              <a:rPr lang="en-US" altLang="en-US" sz="3200" i="1" baseline="-25000" dirty="0" err="1">
                <a:latin typeface="+mn-lt"/>
              </a:rPr>
              <a:t>cs</a:t>
            </a:r>
            <a:r>
              <a:rPr lang="en-US" altLang="en-US" sz="3200" i="1" dirty="0">
                <a:latin typeface="+mn-lt"/>
              </a:rPr>
              <a:t> &gt; max{</a:t>
            </a:r>
            <a:r>
              <a:rPr lang="en-US" altLang="en-US" sz="3200" i="1" dirty="0">
                <a:solidFill>
                  <a:srgbClr val="FF0000"/>
                </a:solidFill>
                <a:latin typeface="+mn-lt"/>
              </a:rPr>
              <a:t>NF/</a:t>
            </a:r>
            <a:r>
              <a:rPr lang="en-US" altLang="en-US" sz="3200" i="1" dirty="0" err="1">
                <a:solidFill>
                  <a:srgbClr val="FF0000"/>
                </a:solidFill>
                <a:latin typeface="+mn-lt"/>
              </a:rPr>
              <a:t>u</a:t>
            </a:r>
            <a:r>
              <a:rPr lang="en-US" altLang="en-US" sz="3200" i="1" baseline="-25000" dirty="0" err="1">
                <a:solidFill>
                  <a:srgbClr val="FF0000"/>
                </a:solidFill>
                <a:latin typeface="+mn-lt"/>
              </a:rPr>
              <a:t>s</a:t>
            </a:r>
            <a:r>
              <a:rPr lang="en-US" altLang="en-US" sz="3200" i="1" baseline="-25000" dirty="0" err="1">
                <a:latin typeface="+mn-lt"/>
              </a:rPr>
              <a:t>,</a:t>
            </a:r>
            <a:r>
              <a:rPr lang="en-US" altLang="en-US" sz="3200" i="1" dirty="0" err="1">
                <a:latin typeface="+mn-lt"/>
              </a:rPr>
              <a:t>,</a:t>
            </a:r>
            <a:r>
              <a:rPr lang="en-US" altLang="en-US" sz="3200" i="1" dirty="0" err="1">
                <a:solidFill>
                  <a:srgbClr val="3C6CDF"/>
                </a:solidFill>
                <a:latin typeface="+mn-lt"/>
              </a:rPr>
              <a:t>F</a:t>
            </a:r>
            <a:r>
              <a:rPr lang="en-US" altLang="en-US" sz="3200" i="1" dirty="0">
                <a:solidFill>
                  <a:srgbClr val="3C6CDF"/>
                </a:solidFill>
                <a:latin typeface="+mn-lt"/>
              </a:rPr>
              <a:t>/</a:t>
            </a:r>
            <a:r>
              <a:rPr lang="en-US" altLang="en-US" sz="3200" i="1" dirty="0" err="1">
                <a:solidFill>
                  <a:srgbClr val="3C6CDF"/>
                </a:solidFill>
                <a:latin typeface="+mn-lt"/>
              </a:rPr>
              <a:t>d</a:t>
            </a:r>
            <a:r>
              <a:rPr lang="en-US" altLang="en-US" sz="3200" i="1" baseline="-25000" dirty="0" err="1">
                <a:solidFill>
                  <a:srgbClr val="3C6CDF"/>
                </a:solidFill>
                <a:latin typeface="+mn-lt"/>
              </a:rPr>
              <a:t>min</a:t>
            </a:r>
            <a:r>
              <a:rPr lang="en-US" altLang="en-US" sz="3200" i="1" dirty="0">
                <a:latin typeface="+mn-lt"/>
              </a:rPr>
              <a:t>}</a:t>
            </a:r>
            <a:r>
              <a:rPr lang="en-US" altLang="en-US" sz="3200" i="1" dirty="0">
                <a:solidFill>
                  <a:srgbClr val="CC0000"/>
                </a:solidFill>
                <a:latin typeface="+mn-lt"/>
              </a:rPr>
              <a:t> </a:t>
            </a:r>
          </a:p>
        </p:txBody>
      </p:sp>
      <p:sp>
        <p:nvSpPr>
          <p:cNvPr id="150" name="Line 120">
            <a:extLst>
              <a:ext uri="{FF2B5EF4-FFF2-40B4-BE49-F238E27FC236}">
                <a16:creationId xmlns:a16="http://schemas.microsoft.com/office/drawing/2014/main" id="{804EF034-3125-A746-B994-CD76FEE71CF1}"/>
              </a:ext>
            </a:extLst>
          </p:cNvPr>
          <p:cNvSpPr>
            <a:spLocks noChangeShapeType="1"/>
          </p:cNvSpPr>
          <p:nvPr/>
        </p:nvSpPr>
        <p:spPr bwMode="auto">
          <a:xfrm>
            <a:off x="8635325" y="5411177"/>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Tree>
    <p:extLst>
      <p:ext uri="{BB962C8B-B14F-4D97-AF65-F5344CB8AC3E}">
        <p14:creationId xmlns:p14="http://schemas.microsoft.com/office/powerpoint/2010/main" val="83199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09197" y="289325"/>
            <a:ext cx="10515600" cy="894622"/>
          </a:xfrm>
        </p:spPr>
        <p:txBody>
          <a:bodyPr>
            <a:normAutofit/>
          </a:bodyPr>
          <a:lstStyle/>
          <a:p>
            <a:r>
              <a:rPr lang="en-US" altLang="en-US" sz="4400" dirty="0">
                <a:ea typeface="ＭＳ Ｐゴシック" panose="020B0600070205080204" pitchFamily="34" charset="-128"/>
              </a:rPr>
              <a:t>File distribution time: </a:t>
            </a:r>
            <a:r>
              <a:rPr lang="en-US" altLang="en-US" sz="4400" dirty="0">
                <a:highlight>
                  <a:srgbClr val="00FF00"/>
                </a:highlight>
                <a:ea typeface="ＭＳ Ｐゴシック" panose="020B0600070205080204" pitchFamily="34" charset="-128"/>
              </a:rPr>
              <a:t>P2P</a:t>
            </a:r>
            <a:endParaRPr lang="en-US" sz="4400" dirty="0">
              <a:highlight>
                <a:srgbClr val="00FF00"/>
              </a:highlight>
            </a:endParaRPr>
          </a:p>
        </p:txBody>
      </p:sp>
      <p:sp>
        <p:nvSpPr>
          <p:cNvPr id="145" name="Slide Number Placeholder 2">
            <a:extLst>
              <a:ext uri="{FF2B5EF4-FFF2-40B4-BE49-F238E27FC236}">
                <a16:creationId xmlns:a16="http://schemas.microsoft.com/office/drawing/2014/main" id="{BC91CBC4-36C0-F74A-BE01-5502315631ED}"/>
              </a:ext>
            </a:extLst>
          </p:cNvPr>
          <p:cNvSpPr>
            <a:spLocks noGrp="1"/>
          </p:cNvSpPr>
          <p:nvPr>
            <p:ph type="sldNum" sz="quarter" idx="12"/>
          </p:nvPr>
        </p:nvSpPr>
        <p:spPr/>
        <p:txBody>
          <a:bodyPr/>
          <a:lstStyle/>
          <a:p>
            <a:r>
              <a:rPr lang="en-US" dirty="0"/>
              <a:t>Application Layer: 2-</a:t>
            </a:r>
            <a:fld id="{C4204591-24BD-A542-B9D5-F8D8A88D2FEE}" type="slidenum">
              <a:rPr lang="en-US" smtClean="0"/>
              <a:pPr/>
              <a:t>74</a:t>
            </a:fld>
            <a:endParaRPr lang="en-US"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2355" y="1256869"/>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upload at least one copy:</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165517" y="2640917"/>
            <a:ext cx="6712047"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a:t>
            </a:r>
            <a:r>
              <a:rPr lang="en-US" altLang="en-US" sz="2400" i="1" dirty="0" err="1">
                <a:latin typeface="+mn-lt"/>
              </a:rPr>
              <a:t>d</a:t>
            </a:r>
            <a:r>
              <a:rPr lang="en-US" altLang="en-US" sz="2400" i="1" baseline="-25000" dirty="0" err="1">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7006772" y="1790995"/>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d</a:t>
              </a:r>
              <a:r>
                <a:rPr lang="en-US" altLang="en-US" sz="1800" i="1" baseline="-2500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a:latin typeface="+mn-lt"/>
                </a:rPr>
                <a:t>F</a:t>
              </a:r>
              <a:endParaRPr lang="en-US" altLang="en-US" sz="1600" i="1" baseline="-2500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sp>
        <p:nvSpPr>
          <p:cNvPr id="74" name="Rectangle 47">
            <a:extLst>
              <a:ext uri="{FF2B5EF4-FFF2-40B4-BE49-F238E27FC236}">
                <a16:creationId xmlns:a16="http://schemas.microsoft.com/office/drawing/2014/main" id="{26E15167-D083-564B-BF0B-913CAA6175CE}"/>
              </a:ext>
            </a:extLst>
          </p:cNvPr>
          <p:cNvSpPr>
            <a:spLocks noChangeArrowheads="1"/>
          </p:cNvSpPr>
          <p:nvPr/>
        </p:nvSpPr>
        <p:spPr bwMode="auto">
          <a:xfrm>
            <a:off x="114320" y="3525208"/>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itchFamily="2" charset="2"/>
              </a:rPr>
              <a:t>S</a:t>
            </a:r>
            <a:r>
              <a:rPr lang="en-US" altLang="en-US" sz="2400" i="1" dirty="0">
                <a:latin typeface="+mn-lt"/>
              </a:rPr>
              <a:t>u</a:t>
            </a:r>
            <a:r>
              <a:rPr lang="en-US" altLang="en-US" sz="2400" i="1" baseline="-25000" dirty="0">
                <a:latin typeface="+mn-lt"/>
              </a:rPr>
              <a:t>i</a:t>
            </a:r>
          </a:p>
        </p:txBody>
      </p:sp>
      <p:sp>
        <p:nvSpPr>
          <p:cNvPr id="75" name="Text Box 51">
            <a:extLst>
              <a:ext uri="{FF2B5EF4-FFF2-40B4-BE49-F238E27FC236}">
                <a16:creationId xmlns:a16="http://schemas.microsoft.com/office/drawing/2014/main" id="{6898F8CA-12DA-BE4E-B99B-FD50E8479F39}"/>
              </a:ext>
            </a:extLst>
          </p:cNvPr>
          <p:cNvSpPr txBox="1">
            <a:spLocks noChangeArrowheads="1"/>
          </p:cNvSpPr>
          <p:nvPr/>
        </p:nvSpPr>
        <p:spPr bwMode="auto">
          <a:xfrm>
            <a:off x="3169534" y="4689268"/>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i="1" dirty="0">
                <a:latin typeface="+mn-lt"/>
              </a:rPr>
              <a:t>time to  distribute F </a:t>
            </a:r>
          </a:p>
          <a:p>
            <a:pPr algn="r">
              <a:lnSpc>
                <a:spcPct val="80000"/>
              </a:lnSpc>
            </a:pPr>
            <a:r>
              <a:rPr lang="en-US" altLang="en-US" i="1" dirty="0">
                <a:latin typeface="+mn-lt"/>
              </a:rPr>
              <a:t>to N clients using </a:t>
            </a:r>
          </a:p>
          <a:p>
            <a:pPr algn="r">
              <a:lnSpc>
                <a:spcPct val="80000"/>
              </a:lnSpc>
            </a:pPr>
            <a:r>
              <a:rPr lang="en-US" altLang="en-US" i="1" dirty="0">
                <a:highlight>
                  <a:srgbClr val="00FF00"/>
                </a:highlight>
                <a:latin typeface="+mn-lt"/>
              </a:rPr>
              <a:t>P2P approach</a:t>
            </a:r>
            <a:r>
              <a:rPr lang="en-US" altLang="en-US" sz="2400" dirty="0">
                <a:highlight>
                  <a:srgbClr val="00FF00"/>
                </a:highlight>
                <a:latin typeface="+mn-lt"/>
              </a:rPr>
              <a:t> </a:t>
            </a:r>
            <a:endParaRPr lang="en-US" altLang="en-US" sz="2800" dirty="0">
              <a:highlight>
                <a:srgbClr val="00FF00"/>
              </a:highlight>
              <a:latin typeface="+mn-lt"/>
            </a:endParaRPr>
          </a:p>
        </p:txBody>
      </p:sp>
      <p:sp>
        <p:nvSpPr>
          <p:cNvPr id="76" name="Rectangle 55">
            <a:extLst>
              <a:ext uri="{FF2B5EF4-FFF2-40B4-BE49-F238E27FC236}">
                <a16:creationId xmlns:a16="http://schemas.microsoft.com/office/drawing/2014/main" id="{07D73A35-ECF9-A74A-AC62-7DA2D51708AB}"/>
              </a:ext>
            </a:extLst>
          </p:cNvPr>
          <p:cNvSpPr>
            <a:spLocks noChangeArrowheads="1"/>
          </p:cNvSpPr>
          <p:nvPr/>
        </p:nvSpPr>
        <p:spPr bwMode="auto">
          <a:xfrm>
            <a:off x="3009219" y="4592537"/>
            <a:ext cx="9155099" cy="1006589"/>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a:latin typeface="+mn-lt"/>
            </a:endParaRPr>
          </a:p>
        </p:txBody>
      </p:sp>
      <p:sp>
        <p:nvSpPr>
          <p:cNvPr id="77" name="Text Box 31">
            <a:extLst>
              <a:ext uri="{FF2B5EF4-FFF2-40B4-BE49-F238E27FC236}">
                <a16:creationId xmlns:a16="http://schemas.microsoft.com/office/drawing/2014/main" id="{1DD5EA55-8934-0448-A71E-1044D6D26535}"/>
              </a:ext>
            </a:extLst>
          </p:cNvPr>
          <p:cNvSpPr txBox="1">
            <a:spLocks noChangeArrowheads="1"/>
          </p:cNvSpPr>
          <p:nvPr/>
        </p:nvSpPr>
        <p:spPr bwMode="auto">
          <a:xfrm>
            <a:off x="5886618" y="4803606"/>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a:t>
            </a:r>
            <a:r>
              <a:rPr lang="en-US" altLang="en-US" sz="3200" i="1" dirty="0">
                <a:solidFill>
                  <a:srgbClr val="FF0000"/>
                </a:solidFill>
                <a:latin typeface="+mn-lt"/>
              </a:rPr>
              <a:t>F/</a:t>
            </a:r>
            <a:r>
              <a:rPr lang="en-US" altLang="en-US" sz="3200" i="1" dirty="0" err="1">
                <a:solidFill>
                  <a:srgbClr val="FF0000"/>
                </a:solidFill>
                <a:latin typeface="+mn-lt"/>
              </a:rPr>
              <a:t>u</a:t>
            </a:r>
            <a:r>
              <a:rPr lang="en-US" altLang="en-US" sz="3200" i="1" baseline="-25000" dirty="0" err="1">
                <a:solidFill>
                  <a:srgbClr val="FF0000"/>
                </a:solidFill>
                <a:latin typeface="+mn-lt"/>
              </a:rPr>
              <a:t>s</a:t>
            </a:r>
            <a:r>
              <a:rPr lang="en-US" altLang="en-US" sz="3200" i="1" baseline="-25000" dirty="0" err="1">
                <a:latin typeface="+mn-lt"/>
              </a:rPr>
              <a:t>,</a:t>
            </a:r>
            <a:r>
              <a:rPr lang="en-US" altLang="en-US" sz="3200" i="1" dirty="0" err="1">
                <a:latin typeface="+mn-lt"/>
              </a:rPr>
              <a:t>,</a:t>
            </a:r>
            <a:r>
              <a:rPr lang="en-US" altLang="en-US" sz="3200" i="1" dirty="0" err="1">
                <a:solidFill>
                  <a:srgbClr val="3C6CDF"/>
                </a:solidFill>
                <a:latin typeface="+mn-lt"/>
              </a:rPr>
              <a:t>F</a:t>
            </a:r>
            <a:r>
              <a:rPr lang="en-US" altLang="en-US" sz="3200" i="1" dirty="0">
                <a:solidFill>
                  <a:srgbClr val="3C6CDF"/>
                </a:solidFill>
                <a:latin typeface="+mn-lt"/>
              </a:rPr>
              <a:t>/</a:t>
            </a:r>
            <a:r>
              <a:rPr lang="en-US" altLang="en-US" sz="3200" i="1" dirty="0" err="1">
                <a:solidFill>
                  <a:srgbClr val="3C6CDF"/>
                </a:solidFill>
                <a:latin typeface="+mn-lt"/>
              </a:rPr>
              <a:t>d</a:t>
            </a:r>
            <a:r>
              <a:rPr lang="en-US" altLang="en-US" sz="3200" i="1" baseline="-25000" dirty="0" err="1">
                <a:solidFill>
                  <a:srgbClr val="3C6CDF"/>
                </a:solidFill>
                <a:latin typeface="+mn-lt"/>
              </a:rPr>
              <a:t>min</a:t>
            </a:r>
            <a:r>
              <a:rPr lang="en-US" altLang="en-US" sz="3200" i="1" baseline="-25000" dirty="0">
                <a:latin typeface="+mn-lt"/>
              </a:rPr>
              <a:t>,</a:t>
            </a:r>
            <a:r>
              <a:rPr lang="en-US" altLang="en-US" sz="3200" i="1" dirty="0">
                <a:latin typeface="+mn-lt"/>
              </a:rPr>
              <a:t>,</a:t>
            </a:r>
            <a:r>
              <a:rPr lang="en-US" altLang="en-US" sz="3200" i="1" dirty="0">
                <a:solidFill>
                  <a:srgbClr val="FF0000"/>
                </a:solidFill>
                <a:latin typeface="+mn-lt"/>
              </a:rPr>
              <a:t>NF/(</a:t>
            </a:r>
            <a:r>
              <a:rPr lang="en-US" altLang="en-US" sz="2800" i="1" dirty="0">
                <a:solidFill>
                  <a:srgbClr val="FF0000"/>
                </a:solidFill>
                <a:latin typeface="+mn-lt"/>
              </a:rPr>
              <a:t>u</a:t>
            </a:r>
            <a:r>
              <a:rPr lang="en-US" altLang="en-US" sz="2800" i="1" baseline="-25000" dirty="0">
                <a:solidFill>
                  <a:srgbClr val="FF0000"/>
                </a:solidFill>
                <a:latin typeface="+mn-lt"/>
              </a:rPr>
              <a:t>s</a:t>
            </a:r>
            <a:r>
              <a:rPr lang="en-US" altLang="en-US" sz="2800" i="1" dirty="0">
                <a:solidFill>
                  <a:srgbClr val="FF0000"/>
                </a:solidFill>
                <a:latin typeface="+mn-lt"/>
              </a:rPr>
              <a:t> + </a:t>
            </a:r>
            <a:r>
              <a:rPr lang="en-US" altLang="en-US" sz="3200" i="1" dirty="0">
                <a:solidFill>
                  <a:srgbClr val="FF0000"/>
                </a:solidFill>
                <a:latin typeface="Symbol" pitchFamily="2" charset="2"/>
              </a:rPr>
              <a:t>S</a:t>
            </a:r>
            <a:r>
              <a:rPr lang="en-US" altLang="en-US" sz="2800" i="1" dirty="0">
                <a:solidFill>
                  <a:srgbClr val="FF0000"/>
                </a:solidFill>
                <a:latin typeface="+mn-lt"/>
              </a:rPr>
              <a:t>u</a:t>
            </a:r>
            <a:r>
              <a:rPr lang="en-US" altLang="en-US" sz="2800" i="1" baseline="-25000" dirty="0">
                <a:solidFill>
                  <a:srgbClr val="FF0000"/>
                </a:solidFill>
                <a:latin typeface="+mn-lt"/>
              </a:rPr>
              <a:t>i</a:t>
            </a:r>
            <a:r>
              <a:rPr lang="en-US" altLang="en-US" sz="3200" dirty="0">
                <a:solidFill>
                  <a:srgbClr val="FF0000"/>
                </a:solidFill>
                <a:latin typeface="+mn-lt"/>
              </a:rPr>
              <a:t>)</a:t>
            </a:r>
            <a:r>
              <a:rPr lang="en-US" altLang="en-US" sz="3200" i="1" dirty="0">
                <a:latin typeface="+mn-lt"/>
              </a:rPr>
              <a:t>}</a:t>
            </a:r>
            <a:r>
              <a:rPr lang="en-US" altLang="en-US" sz="3200" i="1" dirty="0">
                <a:solidFill>
                  <a:srgbClr val="CC0000"/>
                </a:solidFill>
                <a:latin typeface="+mn-lt"/>
              </a:rPr>
              <a:t> </a:t>
            </a:r>
          </a:p>
        </p:txBody>
      </p:sp>
      <p:grpSp>
        <p:nvGrpSpPr>
          <p:cNvPr id="2" name="Group 1">
            <a:extLst>
              <a:ext uri="{FF2B5EF4-FFF2-40B4-BE49-F238E27FC236}">
                <a16:creationId xmlns:a16="http://schemas.microsoft.com/office/drawing/2014/main" id="{2ECD18A4-3D93-C746-80BB-B1FC987C2D33}"/>
              </a:ext>
            </a:extLst>
          </p:cNvPr>
          <p:cNvGrpSpPr/>
          <p:nvPr/>
        </p:nvGrpSpPr>
        <p:grpSpPr>
          <a:xfrm>
            <a:off x="4699735" y="5238581"/>
            <a:ext cx="7034618" cy="1072227"/>
            <a:chOff x="3027135" y="5637812"/>
            <a:chExt cx="7034618" cy="1072227"/>
          </a:xfrm>
        </p:grpSpPr>
        <p:sp>
          <p:nvSpPr>
            <p:cNvPr id="78" name="Line 33">
              <a:extLst>
                <a:ext uri="{FF2B5EF4-FFF2-40B4-BE49-F238E27FC236}">
                  <a16:creationId xmlns:a16="http://schemas.microsoft.com/office/drawing/2014/main" id="{9C4B1B80-0BB4-8F40-8465-4FD53B2DEEF4}"/>
                </a:ext>
              </a:extLst>
            </p:cNvPr>
            <p:cNvSpPr>
              <a:spLocks noChangeShapeType="1"/>
            </p:cNvSpPr>
            <p:nvPr/>
          </p:nvSpPr>
          <p:spPr bwMode="auto">
            <a:xfrm>
              <a:off x="5247481" y="5669562"/>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79" name="Line 53">
              <a:extLst>
                <a:ext uri="{FF2B5EF4-FFF2-40B4-BE49-F238E27FC236}">
                  <a16:creationId xmlns:a16="http://schemas.microsoft.com/office/drawing/2014/main" id="{79E64125-C1DB-B546-9439-BAE60A04A25F}"/>
                </a:ext>
              </a:extLst>
            </p:cNvPr>
            <p:cNvSpPr>
              <a:spLocks noChangeShapeType="1"/>
            </p:cNvSpPr>
            <p:nvPr/>
          </p:nvSpPr>
          <p:spPr bwMode="auto">
            <a:xfrm flipV="1">
              <a:off x="9282594" y="5731183"/>
              <a:ext cx="376235" cy="57991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82" name="Text Box 54">
              <a:extLst>
                <a:ext uri="{FF2B5EF4-FFF2-40B4-BE49-F238E27FC236}">
                  <a16:creationId xmlns:a16="http://schemas.microsoft.com/office/drawing/2014/main" id="{8D508472-5111-9543-8884-ADE493736001}"/>
                </a:ext>
              </a:extLst>
            </p:cNvPr>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 but so does this, as each peer brings service capacity</a:t>
              </a:r>
            </a:p>
          </p:txBody>
        </p:sp>
        <p:sp>
          <p:nvSpPr>
            <p:cNvPr id="151" name="Line 53">
              <a:extLst>
                <a:ext uri="{FF2B5EF4-FFF2-40B4-BE49-F238E27FC236}">
                  <a16:creationId xmlns:a16="http://schemas.microsoft.com/office/drawing/2014/main" id="{C2E61335-33C5-8040-B976-4A6DABA4E40E}"/>
                </a:ext>
              </a:extLst>
            </p:cNvPr>
            <p:cNvSpPr>
              <a:spLocks noChangeShapeType="1"/>
            </p:cNvSpPr>
            <p:nvPr/>
          </p:nvSpPr>
          <p:spPr bwMode="auto">
            <a:xfrm flipV="1">
              <a:off x="7935121" y="5637812"/>
              <a:ext cx="376235" cy="46253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152" name="Text Box 54">
              <a:extLst>
                <a:ext uri="{FF2B5EF4-FFF2-40B4-BE49-F238E27FC236}">
                  <a16:creationId xmlns:a16="http://schemas.microsoft.com/office/drawing/2014/main" id="{5FCFA7D9-F5C4-B849-A76B-A54251B68BDC}"/>
                </a:ext>
              </a:extLst>
            </p:cNvPr>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p>
          </p:txBody>
        </p:sp>
      </p:grpSp>
    </p:spTree>
    <p:extLst>
      <p:ext uri="{BB962C8B-B14F-4D97-AF65-F5344CB8AC3E}">
        <p14:creationId xmlns:p14="http://schemas.microsoft.com/office/powerpoint/2010/main" val="424119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51116" y="225671"/>
            <a:ext cx="10515600" cy="894622"/>
          </a:xfrm>
        </p:spPr>
        <p:txBody>
          <a:bodyPr>
            <a:normAutofit/>
          </a:bodyPr>
          <a:lstStyle/>
          <a:p>
            <a:r>
              <a:rPr lang="en-US" altLang="en-US" sz="4400" dirty="0">
                <a:ea typeface="ＭＳ Ｐゴシック" panose="020B0600070205080204" pitchFamily="34" charset="-128"/>
              </a:rPr>
              <a:t>Client-server vs. P2P: example</a:t>
            </a:r>
          </a:p>
        </p:txBody>
      </p:sp>
      <p:sp>
        <p:nvSpPr>
          <p:cNvPr id="7" name="Slide Number Placeholder 2">
            <a:extLst>
              <a:ext uri="{FF2B5EF4-FFF2-40B4-BE49-F238E27FC236}">
                <a16:creationId xmlns:a16="http://schemas.microsoft.com/office/drawing/2014/main" id="{97AAACF9-A4E2-714C-A130-30E3EF5AB884}"/>
              </a:ext>
            </a:extLst>
          </p:cNvPr>
          <p:cNvSpPr>
            <a:spLocks noGrp="1"/>
          </p:cNvSpPr>
          <p:nvPr>
            <p:ph type="sldNum" sz="quarter" idx="12"/>
          </p:nvPr>
        </p:nvSpPr>
        <p:spPr/>
        <p:txBody>
          <a:bodyPr/>
          <a:lstStyle/>
          <a:p>
            <a:r>
              <a:rPr lang="en-US"/>
              <a:t>Application Layer: 2-</a:t>
            </a:r>
            <a:fld id="{C4204591-24BD-A542-B9D5-F8D8A88D2FEE}" type="slidenum">
              <a:rPr lang="en-US" smtClean="0"/>
              <a:pPr/>
              <a:t>75</a:t>
            </a:fld>
            <a:endParaRPr lang="en-US" dirty="0"/>
          </a:p>
        </p:txBody>
      </p:sp>
      <p:sp>
        <p:nvSpPr>
          <p:cNvPr id="145" name="Text Box 5">
            <a:extLst>
              <a:ext uri="{FF2B5EF4-FFF2-40B4-BE49-F238E27FC236}">
                <a16:creationId xmlns:a16="http://schemas.microsoft.com/office/drawing/2014/main" id="{EEB38FFC-0E85-9543-BFA8-AC6EA14AA840}"/>
              </a:ext>
            </a:extLst>
          </p:cNvPr>
          <p:cNvSpPr txBox="1">
            <a:spLocks noChangeArrowheads="1"/>
          </p:cNvSpPr>
          <p:nvPr/>
        </p:nvSpPr>
        <p:spPr bwMode="auto">
          <a:xfrm>
            <a:off x="2668182" y="124104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a:t>
            </a:r>
            <a:r>
              <a:rPr lang="en-US" altLang="en-US" sz="2400" i="1" dirty="0" err="1">
                <a:latin typeface="+mn-lt"/>
              </a:rPr>
              <a:t>d</a:t>
            </a:r>
            <a:r>
              <a:rPr lang="en-US" altLang="en-US" sz="2400" i="1" baseline="-25000" dirty="0" err="1">
                <a:latin typeface="+mn-lt"/>
              </a:rPr>
              <a:t>min</a:t>
            </a:r>
            <a:r>
              <a:rPr lang="en-US" altLang="en-US" sz="2400" i="1" dirty="0">
                <a:latin typeface="+mn-lt"/>
              </a:rPr>
              <a:t> ≥ u</a:t>
            </a:r>
            <a:r>
              <a:rPr lang="en-US" altLang="en-US" sz="2400" i="1" baseline="-25000" dirty="0">
                <a:latin typeface="+mn-lt"/>
              </a:rPr>
              <a:t>s</a:t>
            </a:r>
          </a:p>
        </p:txBody>
      </p:sp>
      <p:graphicFrame>
        <p:nvGraphicFramePr>
          <p:cNvPr id="146" name="Object 2">
            <a:extLst>
              <a:ext uri="{FF2B5EF4-FFF2-40B4-BE49-F238E27FC236}">
                <a16:creationId xmlns:a16="http://schemas.microsoft.com/office/drawing/2014/main" id="{DA2A3735-C6EA-E243-957F-9D948479EA07}"/>
              </a:ext>
            </a:extLst>
          </p:cNvPr>
          <p:cNvGraphicFramePr>
            <a:graphicFrameLocks noChangeAspect="1"/>
          </p:cNvGraphicFramePr>
          <p:nvPr>
            <p:extLst>
              <p:ext uri="{D42A27DB-BD31-4B8C-83A1-F6EECF244321}">
                <p14:modId xmlns:p14="http://schemas.microsoft.com/office/powerpoint/2010/main" val="3728578848"/>
              </p:ext>
            </p:extLst>
          </p:nvPr>
        </p:nvGraphicFramePr>
        <p:xfrm>
          <a:off x="2976864" y="1835409"/>
          <a:ext cx="6567186" cy="4473716"/>
        </p:xfrm>
        <a:graphic>
          <a:graphicData uri="http://schemas.openxmlformats.org/presentationml/2006/ole">
            <mc:AlternateContent xmlns:mc="http://schemas.openxmlformats.org/markup-compatibility/2006">
              <mc:Choice xmlns:v="urn:schemas-microsoft-com:vml" Requires="v">
                <p:oleObj name="Chart" r:id="rId3" imgW="7734300" imgH="5295900" progId="Excel.Chart.8">
                  <p:embed/>
                </p:oleObj>
              </mc:Choice>
              <mc:Fallback>
                <p:oleObj name="Chart" r:id="rId3" imgW="7734300" imgH="5295900" progId="Excel.Chart.8">
                  <p:embed/>
                  <p:pic>
                    <p:nvPicPr>
                      <p:cNvPr id="146" name="Object 2">
                        <a:extLst>
                          <a:ext uri="{FF2B5EF4-FFF2-40B4-BE49-F238E27FC236}">
                            <a16:creationId xmlns:a16="http://schemas.microsoft.com/office/drawing/2014/main" id="{DA2A3735-C6EA-E243-957F-9D948479EA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6864" y="1835409"/>
                        <a:ext cx="6567186" cy="4473716"/>
                      </a:xfrm>
                      <a:prstGeom prst="rect">
                        <a:avLst/>
                      </a:prstGeom>
                      <a:noFill/>
                      <a:ln>
                        <a:noFill/>
                      </a:ln>
                      <a:effectLst/>
                    </p:spPr>
                  </p:pic>
                </p:oleObj>
              </mc:Fallback>
            </mc:AlternateContent>
          </a:graphicData>
        </a:graphic>
      </p:graphicFrame>
    </p:spTree>
    <p:extLst>
      <p:ext uri="{BB962C8B-B14F-4D97-AF65-F5344CB8AC3E}">
        <p14:creationId xmlns:p14="http://schemas.microsoft.com/office/powerpoint/2010/main" val="180274535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10570" y="82031"/>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92" name="Slide Number Placeholder 2">
            <a:extLst>
              <a:ext uri="{FF2B5EF4-FFF2-40B4-BE49-F238E27FC236}">
                <a16:creationId xmlns:a16="http://schemas.microsoft.com/office/drawing/2014/main" id="{D180C486-5822-2A45-9DAC-775AB430BAD2}"/>
              </a:ext>
            </a:extLst>
          </p:cNvPr>
          <p:cNvSpPr>
            <a:spLocks noGrp="1"/>
          </p:cNvSpPr>
          <p:nvPr>
            <p:ph type="sldNum" sz="quarter" idx="12"/>
          </p:nvPr>
        </p:nvSpPr>
        <p:spPr/>
        <p:txBody>
          <a:bodyPr/>
          <a:lstStyle/>
          <a:p>
            <a:r>
              <a:rPr lang="en-US"/>
              <a:t>Application Layer: 2-</a:t>
            </a:r>
            <a:fld id="{C4204591-24BD-A542-B9D5-F8D8A88D2FEE}" type="slidenum">
              <a:rPr lang="en-US" smtClean="0"/>
              <a:pPr/>
              <a:t>76</a:t>
            </a:fld>
            <a:endParaRPr lang="en-US" dirty="0"/>
          </a:p>
        </p:txBody>
      </p:sp>
      <p:sp>
        <p:nvSpPr>
          <p:cNvPr id="8" name="Rectangle 43">
            <a:extLst>
              <a:ext uri="{FF2B5EF4-FFF2-40B4-BE49-F238E27FC236}">
                <a16:creationId xmlns:a16="http://schemas.microsoft.com/office/drawing/2014/main" id="{9F70DCCB-36C3-394B-AA08-EB0F698CB2D1}"/>
              </a:ext>
            </a:extLst>
          </p:cNvPr>
          <p:cNvSpPr>
            <a:spLocks noChangeArrowheads="1"/>
          </p:cNvSpPr>
          <p:nvPr/>
        </p:nvSpPr>
        <p:spPr bwMode="auto">
          <a:xfrm>
            <a:off x="548459" y="1833868"/>
            <a:ext cx="2619036"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buClr>
                <a:srgbClr val="000099"/>
              </a:buClr>
              <a:buSzPct val="100000"/>
              <a:buFont typeface="Wingdings" pitchFamily="2" charset="2"/>
              <a:buChar char="§"/>
            </a:pPr>
            <a:r>
              <a:rPr lang="en-US" altLang="en-US" sz="2800" dirty="0">
                <a:latin typeface="+mn-lt"/>
              </a:rPr>
              <a:t>file divided into 256Kb chunks</a:t>
            </a:r>
          </a:p>
          <a:p>
            <a:pPr>
              <a:buClr>
                <a:srgbClr val="000099"/>
              </a:buClr>
              <a:buSzPct val="100000"/>
              <a:buFont typeface="Wingdings"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a:extLst>
              <a:ext uri="{FF2B5EF4-FFF2-40B4-BE49-F238E27FC236}">
                <a16:creationId xmlns:a16="http://schemas.microsoft.com/office/drawing/2014/main" id="{5650BC65-B000-EC4F-B4E6-547C48D655DC}"/>
              </a:ext>
            </a:extLst>
          </p:cNvPr>
          <p:cNvSpPr txBox="1">
            <a:spLocks noChangeArrowheads="1"/>
          </p:cNvSpPr>
          <p:nvPr/>
        </p:nvSpPr>
        <p:spPr bwMode="auto">
          <a:xfrm>
            <a:off x="3172733" y="1823565"/>
            <a:ext cx="2837155" cy="1403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p>
          <a:p>
            <a:pPr eaLnBrk="1" hangingPunct="1">
              <a:lnSpc>
                <a:spcPct val="85000"/>
              </a:lnSpc>
              <a:spcBef>
                <a:spcPct val="0"/>
              </a:spcBef>
              <a:buClrTx/>
              <a:buSzTx/>
              <a:buFontTx/>
              <a:buNone/>
            </a:pPr>
            <a:r>
              <a:rPr lang="en-US" altLang="en-US" sz="2400" dirty="0">
                <a:latin typeface="+mn-lt"/>
              </a:rPr>
              <a:t>participating in torrent</a:t>
            </a:r>
          </a:p>
        </p:txBody>
      </p:sp>
      <p:sp>
        <p:nvSpPr>
          <p:cNvPr id="10" name="Text Box 41">
            <a:extLst>
              <a:ext uri="{FF2B5EF4-FFF2-40B4-BE49-F238E27FC236}">
                <a16:creationId xmlns:a16="http://schemas.microsoft.com/office/drawing/2014/main" id="{2814A19F-08C5-434B-8DB2-D40537539D75}"/>
              </a:ext>
            </a:extLst>
          </p:cNvPr>
          <p:cNvSpPr txBox="1">
            <a:spLocks noChangeArrowheads="1"/>
          </p:cNvSpPr>
          <p:nvPr/>
        </p:nvSpPr>
        <p:spPr bwMode="auto">
          <a:xfrm>
            <a:off x="8484657" y="1837127"/>
            <a:ext cx="3441454" cy="1089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p>
        </p:txBody>
      </p:sp>
      <p:sp>
        <p:nvSpPr>
          <p:cNvPr id="11" name="Line 21">
            <a:extLst>
              <a:ext uri="{FF2B5EF4-FFF2-40B4-BE49-F238E27FC236}">
                <a16:creationId xmlns:a16="http://schemas.microsoft.com/office/drawing/2014/main" id="{91218428-BF18-064C-AC6D-09C6F280B6C1}"/>
              </a:ext>
            </a:extLst>
          </p:cNvPr>
          <p:cNvSpPr>
            <a:spLocks noChangeShapeType="1"/>
          </p:cNvSpPr>
          <p:nvPr/>
        </p:nvSpPr>
        <p:spPr bwMode="auto">
          <a:xfrm>
            <a:off x="5509683" y="3216664"/>
            <a:ext cx="1492" cy="536575"/>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25">
            <a:extLst>
              <a:ext uri="{FF2B5EF4-FFF2-40B4-BE49-F238E27FC236}">
                <a16:creationId xmlns:a16="http://schemas.microsoft.com/office/drawing/2014/main" id="{83D9B80D-0209-4147-9E8B-F917A5CACC46}"/>
              </a:ext>
            </a:extLst>
          </p:cNvPr>
          <p:cNvSpPr>
            <a:spLocks noChangeShapeType="1"/>
          </p:cNvSpPr>
          <p:nvPr/>
        </p:nvSpPr>
        <p:spPr bwMode="auto">
          <a:xfrm>
            <a:off x="6855882" y="2945202"/>
            <a:ext cx="2397628"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 name="Line 26">
            <a:extLst>
              <a:ext uri="{FF2B5EF4-FFF2-40B4-BE49-F238E27FC236}">
                <a16:creationId xmlns:a16="http://schemas.microsoft.com/office/drawing/2014/main" id="{F9471077-2BA5-5449-84C5-497550D1A88E}"/>
              </a:ext>
            </a:extLst>
          </p:cNvPr>
          <p:cNvSpPr>
            <a:spLocks noChangeShapeType="1"/>
          </p:cNvSpPr>
          <p:nvPr/>
        </p:nvSpPr>
        <p:spPr bwMode="auto">
          <a:xfrm>
            <a:off x="6652682" y="3096014"/>
            <a:ext cx="2327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4" name="Line 27">
            <a:extLst>
              <a:ext uri="{FF2B5EF4-FFF2-40B4-BE49-F238E27FC236}">
                <a16:creationId xmlns:a16="http://schemas.microsoft.com/office/drawing/2014/main" id="{10E079A5-4F27-9043-ABC7-F13963D847DE}"/>
              </a:ext>
            </a:extLst>
          </p:cNvPr>
          <p:cNvSpPr>
            <a:spLocks noChangeShapeType="1"/>
          </p:cNvSpPr>
          <p:nvPr/>
        </p:nvSpPr>
        <p:spPr bwMode="auto">
          <a:xfrm flipH="1" flipV="1">
            <a:off x="8292569" y="2856301"/>
            <a:ext cx="1098105"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 name="Line 28">
            <a:extLst>
              <a:ext uri="{FF2B5EF4-FFF2-40B4-BE49-F238E27FC236}">
                <a16:creationId xmlns:a16="http://schemas.microsoft.com/office/drawing/2014/main" id="{5691CE8D-190A-8F4F-81D8-DA20F9A0255C}"/>
              </a:ext>
            </a:extLst>
          </p:cNvPr>
          <p:cNvSpPr>
            <a:spLocks noChangeShapeType="1"/>
          </p:cNvSpPr>
          <p:nvPr/>
        </p:nvSpPr>
        <p:spPr bwMode="auto">
          <a:xfrm flipH="1">
            <a:off x="7476594" y="3392877"/>
            <a:ext cx="191720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9">
            <a:extLst>
              <a:ext uri="{FF2B5EF4-FFF2-40B4-BE49-F238E27FC236}">
                <a16:creationId xmlns:a16="http://schemas.microsoft.com/office/drawing/2014/main" id="{0B716A5B-3226-9240-889D-C421A6779BC9}"/>
              </a:ext>
            </a:extLst>
          </p:cNvPr>
          <p:cNvSpPr>
            <a:spLocks noChangeShapeType="1"/>
          </p:cNvSpPr>
          <p:nvPr/>
        </p:nvSpPr>
        <p:spPr bwMode="auto">
          <a:xfrm flipH="1">
            <a:off x="7563906" y="5358202"/>
            <a:ext cx="695267"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30">
            <a:extLst>
              <a:ext uri="{FF2B5EF4-FFF2-40B4-BE49-F238E27FC236}">
                <a16:creationId xmlns:a16="http://schemas.microsoft.com/office/drawing/2014/main" id="{CB541843-3E52-6849-8C3D-ACA1E8B0A9DC}"/>
              </a:ext>
            </a:extLst>
          </p:cNvPr>
          <p:cNvSpPr>
            <a:spLocks noChangeShapeType="1"/>
          </p:cNvSpPr>
          <p:nvPr/>
        </p:nvSpPr>
        <p:spPr bwMode="auto">
          <a:xfrm flipH="1">
            <a:off x="7082893" y="3054739"/>
            <a:ext cx="845959"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31">
            <a:extLst>
              <a:ext uri="{FF2B5EF4-FFF2-40B4-BE49-F238E27FC236}">
                <a16:creationId xmlns:a16="http://schemas.microsoft.com/office/drawing/2014/main" id="{52216A70-C583-4540-BB2D-CF1771FB2AD5}"/>
              </a:ext>
            </a:extLst>
          </p:cNvPr>
          <p:cNvSpPr>
            <a:spLocks noChangeShapeType="1"/>
          </p:cNvSpPr>
          <p:nvPr/>
        </p:nvSpPr>
        <p:spPr bwMode="auto">
          <a:xfrm flipV="1">
            <a:off x="7247994" y="4440627"/>
            <a:ext cx="1993299"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32">
            <a:extLst>
              <a:ext uri="{FF2B5EF4-FFF2-40B4-BE49-F238E27FC236}">
                <a16:creationId xmlns:a16="http://schemas.microsoft.com/office/drawing/2014/main" id="{F807AF1E-A5B9-A540-A172-58D4029FDE3C}"/>
              </a:ext>
            </a:extLst>
          </p:cNvPr>
          <p:cNvSpPr>
            <a:spLocks noChangeShapeType="1"/>
          </p:cNvSpPr>
          <p:nvPr/>
        </p:nvSpPr>
        <p:spPr bwMode="auto">
          <a:xfrm>
            <a:off x="8248119" y="2999177"/>
            <a:ext cx="1111533"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33">
            <a:extLst>
              <a:ext uri="{FF2B5EF4-FFF2-40B4-BE49-F238E27FC236}">
                <a16:creationId xmlns:a16="http://schemas.microsoft.com/office/drawing/2014/main" id="{57AE3ACE-B172-774D-A007-D1E10D3347F5}"/>
              </a:ext>
            </a:extLst>
          </p:cNvPr>
          <p:cNvSpPr>
            <a:spLocks noChangeShapeType="1"/>
          </p:cNvSpPr>
          <p:nvPr/>
        </p:nvSpPr>
        <p:spPr bwMode="auto">
          <a:xfrm>
            <a:off x="8691032" y="5380427"/>
            <a:ext cx="353601"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34">
            <a:extLst>
              <a:ext uri="{FF2B5EF4-FFF2-40B4-BE49-F238E27FC236}">
                <a16:creationId xmlns:a16="http://schemas.microsoft.com/office/drawing/2014/main" id="{AD1B36D1-84DC-F74A-AFE8-CA1FD75FB991}"/>
              </a:ext>
            </a:extLst>
          </p:cNvPr>
          <p:cNvSpPr>
            <a:spLocks noChangeShapeType="1"/>
          </p:cNvSpPr>
          <p:nvPr/>
        </p:nvSpPr>
        <p:spPr bwMode="auto">
          <a:xfrm>
            <a:off x="7576607" y="5675702"/>
            <a:ext cx="1400978"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 name="Text Box 35">
            <a:extLst>
              <a:ext uri="{FF2B5EF4-FFF2-40B4-BE49-F238E27FC236}">
                <a16:creationId xmlns:a16="http://schemas.microsoft.com/office/drawing/2014/main" id="{4EFE36E1-3543-7248-A7C0-2AC7D4F78F38}"/>
              </a:ext>
            </a:extLst>
          </p:cNvPr>
          <p:cNvSpPr txBox="1">
            <a:spLocks noChangeArrowheads="1"/>
          </p:cNvSpPr>
          <p:nvPr/>
        </p:nvSpPr>
        <p:spPr bwMode="auto">
          <a:xfrm>
            <a:off x="2938490" y="3840723"/>
            <a:ext cx="2049881"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pPr>
            <a:r>
              <a:rPr lang="en-US" altLang="en-US" sz="1800" dirty="0">
                <a:latin typeface="+mn-lt"/>
              </a:rPr>
              <a:t>Alice arrives</a:t>
            </a:r>
          </a:p>
          <a:p>
            <a:pPr marL="285750" indent="-285750">
              <a:spcBef>
                <a:spcPct val="0"/>
              </a:spcBef>
              <a:buFont typeface="Arial" panose="020B0604020202020204" pitchFamily="34" charset="0"/>
              <a:buChar char="•"/>
            </a:pPr>
            <a:r>
              <a:rPr lang="en-US" altLang="en-US" sz="1800" dirty="0">
                <a:latin typeface="+mn-lt"/>
              </a:rPr>
              <a:t>obtains list of peers from tracker and begins exchanging </a:t>
            </a:r>
          </a:p>
          <a:p>
            <a:pPr marL="285750" indent="-285750">
              <a:spcBef>
                <a:spcPct val="0"/>
              </a:spcBef>
              <a:buFont typeface="Arial" panose="020B0604020202020204" pitchFamily="34" charset="0"/>
              <a:buChar char="•"/>
            </a:pPr>
            <a:r>
              <a:rPr lang="en-US" altLang="en-US" sz="1800" dirty="0">
                <a:latin typeface="+mn-lt"/>
              </a:rPr>
              <a:t>file chunks with peers in torrent</a:t>
            </a:r>
          </a:p>
          <a:p>
            <a:pPr>
              <a:spcBef>
                <a:spcPct val="0"/>
              </a:spcBef>
            </a:pPr>
            <a:endParaRPr lang="en-US" altLang="en-US" sz="1800" dirty="0">
              <a:latin typeface="+mn-lt"/>
            </a:endParaRPr>
          </a:p>
        </p:txBody>
      </p:sp>
      <p:sp>
        <p:nvSpPr>
          <p:cNvPr id="23" name="Line 38">
            <a:extLst>
              <a:ext uri="{FF2B5EF4-FFF2-40B4-BE49-F238E27FC236}">
                <a16:creationId xmlns:a16="http://schemas.microsoft.com/office/drawing/2014/main" id="{E123A252-D37E-4649-B66C-7F9C1DB6CC0B}"/>
              </a:ext>
            </a:extLst>
          </p:cNvPr>
          <p:cNvSpPr>
            <a:spLocks noChangeShapeType="1"/>
          </p:cNvSpPr>
          <p:nvPr/>
        </p:nvSpPr>
        <p:spPr bwMode="auto">
          <a:xfrm flipH="1">
            <a:off x="9241894" y="4615252"/>
            <a:ext cx="247670"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pic>
        <p:nvPicPr>
          <p:cNvPr id="24" name="Picture 39" descr="Alice">
            <a:extLst>
              <a:ext uri="{FF2B5EF4-FFF2-40B4-BE49-F238E27FC236}">
                <a16:creationId xmlns:a16="http://schemas.microsoft.com/office/drawing/2014/main" id="{6F308F82-9362-FC4F-921E-2715C3D3E7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6907" y="3735777"/>
            <a:ext cx="446105"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a:extLst>
              <a:ext uri="{FF2B5EF4-FFF2-40B4-BE49-F238E27FC236}">
                <a16:creationId xmlns:a16="http://schemas.microsoft.com/office/drawing/2014/main" id="{3C11B289-FD57-9D4E-9E24-3A266C61D954}"/>
              </a:ext>
            </a:extLst>
          </p:cNvPr>
          <p:cNvSpPr>
            <a:spLocks noChangeShapeType="1"/>
          </p:cNvSpPr>
          <p:nvPr/>
        </p:nvSpPr>
        <p:spPr bwMode="auto">
          <a:xfrm>
            <a:off x="4783297" y="2219715"/>
            <a:ext cx="447597" cy="258762"/>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 name="Group 68">
            <a:extLst>
              <a:ext uri="{FF2B5EF4-FFF2-40B4-BE49-F238E27FC236}">
                <a16:creationId xmlns:a16="http://schemas.microsoft.com/office/drawing/2014/main" id="{0CB0B1F3-FC8E-0A48-BF34-45F53DE7FC53}"/>
              </a:ext>
            </a:extLst>
          </p:cNvPr>
          <p:cNvGrpSpPr>
            <a:grpSpLocks/>
          </p:cNvGrpSpPr>
          <p:nvPr/>
        </p:nvGrpSpPr>
        <p:grpSpPr bwMode="auto">
          <a:xfrm>
            <a:off x="5889094" y="3022989"/>
            <a:ext cx="3282379" cy="2163763"/>
            <a:chOff x="1752" y="2166"/>
            <a:chExt cx="2200" cy="1363"/>
          </a:xfrm>
        </p:grpSpPr>
        <p:sp>
          <p:nvSpPr>
            <p:cNvPr id="28" name="Line 22">
              <a:extLst>
                <a:ext uri="{FF2B5EF4-FFF2-40B4-BE49-F238E27FC236}">
                  <a16:creationId xmlns:a16="http://schemas.microsoft.com/office/drawing/2014/main" id="{07CCED51-0858-B14F-BA5F-7B3C851D3C7C}"/>
                </a:ext>
              </a:extLst>
            </p:cNvPr>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9" name="Line 23">
              <a:extLst>
                <a:ext uri="{FF2B5EF4-FFF2-40B4-BE49-F238E27FC236}">
                  <a16:creationId xmlns:a16="http://schemas.microsoft.com/office/drawing/2014/main" id="{AE1CB49D-CE6D-D143-95DB-E659615A3630}"/>
                </a:ext>
              </a:extLst>
            </p:cNvPr>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0" name="Line 24">
              <a:extLst>
                <a:ext uri="{FF2B5EF4-FFF2-40B4-BE49-F238E27FC236}">
                  <a16:creationId xmlns:a16="http://schemas.microsoft.com/office/drawing/2014/main" id="{327E99FD-0AAB-E84D-845A-9A6E34919AAE}"/>
                </a:ext>
              </a:extLst>
            </p:cNvPr>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32" name="Group 71">
            <a:extLst>
              <a:ext uri="{FF2B5EF4-FFF2-40B4-BE49-F238E27FC236}">
                <a16:creationId xmlns:a16="http://schemas.microsoft.com/office/drawing/2014/main" id="{A0FCD1EA-5119-B341-A835-E304CBD33AC4}"/>
              </a:ext>
            </a:extLst>
          </p:cNvPr>
          <p:cNvGrpSpPr>
            <a:grpSpLocks/>
          </p:cNvGrpSpPr>
          <p:nvPr/>
        </p:nvGrpSpPr>
        <p:grpSpPr bwMode="auto">
          <a:xfrm>
            <a:off x="5292195" y="2532452"/>
            <a:ext cx="356586" cy="604837"/>
            <a:chOff x="4140" y="429"/>
            <a:chExt cx="1425" cy="2396"/>
          </a:xfrm>
        </p:grpSpPr>
        <p:sp>
          <p:nvSpPr>
            <p:cNvPr id="33" name="Freeform 72">
              <a:extLst>
                <a:ext uri="{FF2B5EF4-FFF2-40B4-BE49-F238E27FC236}">
                  <a16:creationId xmlns:a16="http://schemas.microsoft.com/office/drawing/2014/main" id="{36B6D999-1302-CA4C-9CFD-B5CDD5323C9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Rectangle 73">
              <a:extLst>
                <a:ext uri="{FF2B5EF4-FFF2-40B4-BE49-F238E27FC236}">
                  <a16:creationId xmlns:a16="http://schemas.microsoft.com/office/drawing/2014/main" id="{AE763A03-0DD4-834A-B674-79B066627380}"/>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35" name="Freeform 74">
              <a:extLst>
                <a:ext uri="{FF2B5EF4-FFF2-40B4-BE49-F238E27FC236}">
                  <a16:creationId xmlns:a16="http://schemas.microsoft.com/office/drawing/2014/main" id="{1AF22850-A524-C34B-9648-D7E113A5151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75">
              <a:extLst>
                <a:ext uri="{FF2B5EF4-FFF2-40B4-BE49-F238E27FC236}">
                  <a16:creationId xmlns:a16="http://schemas.microsoft.com/office/drawing/2014/main" id="{E1031A0C-C898-9240-84A5-5DF224E406F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Rectangle 76">
              <a:extLst>
                <a:ext uri="{FF2B5EF4-FFF2-40B4-BE49-F238E27FC236}">
                  <a16:creationId xmlns:a16="http://schemas.microsoft.com/office/drawing/2014/main" id="{FE7D0B4D-AB22-7349-A08A-69B9AFDFEEA0}"/>
                </a:ext>
              </a:extLst>
            </p:cNvPr>
            <p:cNvSpPr>
              <a:spLocks noChangeArrowheads="1"/>
            </p:cNvSpPr>
            <p:nvPr/>
          </p:nvSpPr>
          <p:spPr bwMode="auto">
            <a:xfrm>
              <a:off x="4212" y="693"/>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nvGrpSpPr>
            <p:cNvPr id="38" name="Group 77">
              <a:extLst>
                <a:ext uri="{FF2B5EF4-FFF2-40B4-BE49-F238E27FC236}">
                  <a16:creationId xmlns:a16="http://schemas.microsoft.com/office/drawing/2014/main" id="{4BEA5B83-9C56-7E41-BD11-39235643453A}"/>
                </a:ext>
              </a:extLst>
            </p:cNvPr>
            <p:cNvGrpSpPr>
              <a:grpSpLocks/>
            </p:cNvGrpSpPr>
            <p:nvPr/>
          </p:nvGrpSpPr>
          <p:grpSpPr bwMode="auto">
            <a:xfrm>
              <a:off x="4749" y="668"/>
              <a:ext cx="581" cy="145"/>
              <a:chOff x="614" y="2568"/>
              <a:chExt cx="725" cy="139"/>
            </a:xfrm>
          </p:grpSpPr>
          <p:sp>
            <p:nvSpPr>
              <p:cNvPr id="63" name="AutoShape 78">
                <a:extLst>
                  <a:ext uri="{FF2B5EF4-FFF2-40B4-BE49-F238E27FC236}">
                    <a16:creationId xmlns:a16="http://schemas.microsoft.com/office/drawing/2014/main" id="{A1F98537-39E1-5140-824E-666C1A8D188B}"/>
                  </a:ext>
                </a:extLst>
              </p:cNvPr>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64" name="AutoShape 79">
                <a:extLst>
                  <a:ext uri="{FF2B5EF4-FFF2-40B4-BE49-F238E27FC236}">
                    <a16:creationId xmlns:a16="http://schemas.microsoft.com/office/drawing/2014/main" id="{3E630405-7E91-474D-81B7-5BE15C86F4F9}"/>
                  </a:ext>
                </a:extLst>
              </p:cNvPr>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39" name="Rectangle 80">
              <a:extLst>
                <a:ext uri="{FF2B5EF4-FFF2-40B4-BE49-F238E27FC236}">
                  <a16:creationId xmlns:a16="http://schemas.microsoft.com/office/drawing/2014/main" id="{B81937BA-7B8F-934F-9886-304C1E0FE0D8}"/>
                </a:ext>
              </a:extLst>
            </p:cNvPr>
            <p:cNvSpPr>
              <a:spLocks noChangeArrowheads="1"/>
            </p:cNvSpPr>
            <p:nvPr/>
          </p:nvSpPr>
          <p:spPr bwMode="auto">
            <a:xfrm>
              <a:off x="4223" y="102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nvGrpSpPr>
            <p:cNvPr id="40" name="Group 81">
              <a:extLst>
                <a:ext uri="{FF2B5EF4-FFF2-40B4-BE49-F238E27FC236}">
                  <a16:creationId xmlns:a16="http://schemas.microsoft.com/office/drawing/2014/main" id="{EB47381C-540F-D44E-B9A6-D96D60900C1B}"/>
                </a:ext>
              </a:extLst>
            </p:cNvPr>
            <p:cNvGrpSpPr>
              <a:grpSpLocks/>
            </p:cNvGrpSpPr>
            <p:nvPr/>
          </p:nvGrpSpPr>
          <p:grpSpPr bwMode="auto">
            <a:xfrm>
              <a:off x="4747" y="994"/>
              <a:ext cx="581" cy="134"/>
              <a:chOff x="614" y="2568"/>
              <a:chExt cx="725" cy="139"/>
            </a:xfrm>
          </p:grpSpPr>
          <p:sp>
            <p:nvSpPr>
              <p:cNvPr id="61" name="AutoShape 82">
                <a:extLst>
                  <a:ext uri="{FF2B5EF4-FFF2-40B4-BE49-F238E27FC236}">
                    <a16:creationId xmlns:a16="http://schemas.microsoft.com/office/drawing/2014/main" id="{CB241153-BE70-A046-A468-0E9F962F2F1A}"/>
                  </a:ext>
                </a:extLst>
              </p:cNvPr>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62" name="AutoShape 83">
                <a:extLst>
                  <a:ext uri="{FF2B5EF4-FFF2-40B4-BE49-F238E27FC236}">
                    <a16:creationId xmlns:a16="http://schemas.microsoft.com/office/drawing/2014/main" id="{AE4F9DC7-0CE7-224E-AC2E-7172DE8E4525}"/>
                  </a:ext>
                </a:extLst>
              </p:cNvPr>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41" name="Rectangle 84">
              <a:extLst>
                <a:ext uri="{FF2B5EF4-FFF2-40B4-BE49-F238E27FC236}">
                  <a16:creationId xmlns:a16="http://schemas.microsoft.com/office/drawing/2014/main" id="{8C5EDE9F-7A54-8E4C-9F85-07C13C5C2FA0}"/>
                </a:ext>
              </a:extLst>
            </p:cNvPr>
            <p:cNvSpPr>
              <a:spLocks noChangeArrowheads="1"/>
            </p:cNvSpPr>
            <p:nvPr/>
          </p:nvSpPr>
          <p:spPr bwMode="auto">
            <a:xfrm>
              <a:off x="4218" y="136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42" name="Rectangle 85">
              <a:extLst>
                <a:ext uri="{FF2B5EF4-FFF2-40B4-BE49-F238E27FC236}">
                  <a16:creationId xmlns:a16="http://schemas.microsoft.com/office/drawing/2014/main" id="{6FEC7A6E-AAC2-3842-B9A4-935F2060DA79}"/>
                </a:ext>
              </a:extLst>
            </p:cNvPr>
            <p:cNvSpPr>
              <a:spLocks noChangeArrowheads="1"/>
            </p:cNvSpPr>
            <p:nvPr/>
          </p:nvSpPr>
          <p:spPr bwMode="auto">
            <a:xfrm>
              <a:off x="4229" y="1655"/>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nvGrpSpPr>
            <p:cNvPr id="43" name="Group 86">
              <a:extLst>
                <a:ext uri="{FF2B5EF4-FFF2-40B4-BE49-F238E27FC236}">
                  <a16:creationId xmlns:a16="http://schemas.microsoft.com/office/drawing/2014/main" id="{CAC1B168-07EE-3C44-9AEE-5914C1B8DC36}"/>
                </a:ext>
              </a:extLst>
            </p:cNvPr>
            <p:cNvGrpSpPr>
              <a:grpSpLocks/>
            </p:cNvGrpSpPr>
            <p:nvPr/>
          </p:nvGrpSpPr>
          <p:grpSpPr bwMode="auto">
            <a:xfrm>
              <a:off x="4735" y="1627"/>
              <a:ext cx="582" cy="151"/>
              <a:chOff x="614" y="2568"/>
              <a:chExt cx="725" cy="139"/>
            </a:xfrm>
          </p:grpSpPr>
          <p:sp>
            <p:nvSpPr>
              <p:cNvPr id="59" name="AutoShape 87">
                <a:extLst>
                  <a:ext uri="{FF2B5EF4-FFF2-40B4-BE49-F238E27FC236}">
                    <a16:creationId xmlns:a16="http://schemas.microsoft.com/office/drawing/2014/main" id="{F49F383C-F941-F64A-8DDE-13A4D8D164EC}"/>
                  </a:ext>
                </a:extLst>
              </p:cNvPr>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60" name="AutoShape 88">
                <a:extLst>
                  <a:ext uri="{FF2B5EF4-FFF2-40B4-BE49-F238E27FC236}">
                    <a16:creationId xmlns:a16="http://schemas.microsoft.com/office/drawing/2014/main" id="{E3456229-948B-9C4F-B503-DD55D3230823}"/>
                  </a:ext>
                </a:extLst>
              </p:cNvPr>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44" name="Freeform 89">
              <a:extLst>
                <a:ext uri="{FF2B5EF4-FFF2-40B4-BE49-F238E27FC236}">
                  <a16:creationId xmlns:a16="http://schemas.microsoft.com/office/drawing/2014/main" id="{3234093D-FE87-774F-B1CC-0588229AEC8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5" name="Group 90">
              <a:extLst>
                <a:ext uri="{FF2B5EF4-FFF2-40B4-BE49-F238E27FC236}">
                  <a16:creationId xmlns:a16="http://schemas.microsoft.com/office/drawing/2014/main" id="{BA746CA5-383B-584C-B3CE-776F388C942C}"/>
                </a:ext>
              </a:extLst>
            </p:cNvPr>
            <p:cNvGrpSpPr>
              <a:grpSpLocks/>
            </p:cNvGrpSpPr>
            <p:nvPr/>
          </p:nvGrpSpPr>
          <p:grpSpPr bwMode="auto">
            <a:xfrm>
              <a:off x="4739" y="1327"/>
              <a:ext cx="582" cy="139"/>
              <a:chOff x="614" y="2568"/>
              <a:chExt cx="725" cy="139"/>
            </a:xfrm>
          </p:grpSpPr>
          <p:sp>
            <p:nvSpPr>
              <p:cNvPr id="57" name="AutoShape 91">
                <a:extLst>
                  <a:ext uri="{FF2B5EF4-FFF2-40B4-BE49-F238E27FC236}">
                    <a16:creationId xmlns:a16="http://schemas.microsoft.com/office/drawing/2014/main" id="{68AEEFFF-F3C4-BE40-8529-27EE2B357488}"/>
                  </a:ext>
                </a:extLst>
              </p:cNvPr>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8" name="AutoShape 92">
                <a:extLst>
                  <a:ext uri="{FF2B5EF4-FFF2-40B4-BE49-F238E27FC236}">
                    <a16:creationId xmlns:a16="http://schemas.microsoft.com/office/drawing/2014/main" id="{A5A04A8A-7369-354C-9B2B-CE0C0C5721C2}"/>
                  </a:ext>
                </a:extLst>
              </p:cNvPr>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sp>
          <p:nvSpPr>
            <p:cNvPr id="46" name="Rectangle 93">
              <a:extLst>
                <a:ext uri="{FF2B5EF4-FFF2-40B4-BE49-F238E27FC236}">
                  <a16:creationId xmlns:a16="http://schemas.microsoft.com/office/drawing/2014/main" id="{618A0788-435C-8042-AA0E-E94601F03015}"/>
                </a:ext>
              </a:extLst>
            </p:cNvPr>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47" name="Freeform 94">
              <a:extLst>
                <a:ext uri="{FF2B5EF4-FFF2-40B4-BE49-F238E27FC236}">
                  <a16:creationId xmlns:a16="http://schemas.microsoft.com/office/drawing/2014/main" id="{25054F67-2153-544C-AC14-FB9950D7202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95">
              <a:extLst>
                <a:ext uri="{FF2B5EF4-FFF2-40B4-BE49-F238E27FC236}">
                  <a16:creationId xmlns:a16="http://schemas.microsoft.com/office/drawing/2014/main" id="{F3155E84-B2BA-A749-84BE-14633D97E89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Oval 96">
              <a:extLst>
                <a:ext uri="{FF2B5EF4-FFF2-40B4-BE49-F238E27FC236}">
                  <a16:creationId xmlns:a16="http://schemas.microsoft.com/office/drawing/2014/main" id="{CA182219-7AC0-E240-972C-91BD56BAF1EB}"/>
                </a:ext>
              </a:extLst>
            </p:cNvPr>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0" name="Freeform 97">
              <a:extLst>
                <a:ext uri="{FF2B5EF4-FFF2-40B4-BE49-F238E27FC236}">
                  <a16:creationId xmlns:a16="http://schemas.microsoft.com/office/drawing/2014/main" id="{85F80E33-0DDA-284C-9587-26BBD9164AE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 name="AutoShape 98">
              <a:extLst>
                <a:ext uri="{FF2B5EF4-FFF2-40B4-BE49-F238E27FC236}">
                  <a16:creationId xmlns:a16="http://schemas.microsoft.com/office/drawing/2014/main" id="{882E6AD3-0779-D044-AD1D-25D362270922}"/>
                </a:ext>
              </a:extLst>
            </p:cNvPr>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2" name="AutoShape 99">
              <a:extLst>
                <a:ext uri="{FF2B5EF4-FFF2-40B4-BE49-F238E27FC236}">
                  <a16:creationId xmlns:a16="http://schemas.microsoft.com/office/drawing/2014/main" id="{7B40A6F7-0BA7-7E46-8BEC-61560B69323D}"/>
                </a:ext>
              </a:extLst>
            </p:cNvPr>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3" name="Oval 100">
              <a:extLst>
                <a:ext uri="{FF2B5EF4-FFF2-40B4-BE49-F238E27FC236}">
                  <a16:creationId xmlns:a16="http://schemas.microsoft.com/office/drawing/2014/main" id="{F7339661-C71C-C74D-AC1D-5ED32FE9B9D4}"/>
                </a:ext>
              </a:extLst>
            </p:cNvPr>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4" name="Oval 101">
              <a:extLst>
                <a:ext uri="{FF2B5EF4-FFF2-40B4-BE49-F238E27FC236}">
                  <a16:creationId xmlns:a16="http://schemas.microsoft.com/office/drawing/2014/main" id="{B23B5791-AF12-DF45-86A6-EECA1ABBE598}"/>
                </a:ext>
              </a:extLst>
            </p:cNvPr>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55" name="Oval 102">
              <a:extLst>
                <a:ext uri="{FF2B5EF4-FFF2-40B4-BE49-F238E27FC236}">
                  <a16:creationId xmlns:a16="http://schemas.microsoft.com/office/drawing/2014/main" id="{276ECC61-535B-904F-A386-35EBB8EC4328}"/>
                </a:ext>
              </a:extLst>
            </p:cNvPr>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sp>
          <p:nvSpPr>
            <p:cNvPr id="56" name="Rectangle 103">
              <a:extLst>
                <a:ext uri="{FF2B5EF4-FFF2-40B4-BE49-F238E27FC236}">
                  <a16:creationId xmlns:a16="http://schemas.microsoft.com/office/drawing/2014/main" id="{EA9915CD-687B-DC45-B384-ED68394FB0E3}"/>
                </a:ext>
              </a:extLst>
            </p:cNvPr>
            <p:cNvSpPr>
              <a:spLocks noChangeArrowheads="1"/>
            </p:cNvSpPr>
            <p:nvPr/>
          </p:nvSpPr>
          <p:spPr bwMode="auto">
            <a:xfrm>
              <a:off x="5064" y="1838"/>
              <a:ext cx="83" cy="761"/>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latin typeface="+mn-lt"/>
              </a:endParaRPr>
            </a:p>
          </p:txBody>
        </p:sp>
      </p:grpSp>
      <p:grpSp>
        <p:nvGrpSpPr>
          <p:cNvPr id="65" name="Group 104">
            <a:extLst>
              <a:ext uri="{FF2B5EF4-FFF2-40B4-BE49-F238E27FC236}">
                <a16:creationId xmlns:a16="http://schemas.microsoft.com/office/drawing/2014/main" id="{A1CC28AD-9104-D040-9B79-0D23AB0DAD5C}"/>
              </a:ext>
            </a:extLst>
          </p:cNvPr>
          <p:cNvGrpSpPr>
            <a:grpSpLocks/>
          </p:cNvGrpSpPr>
          <p:nvPr/>
        </p:nvGrpSpPr>
        <p:grpSpPr bwMode="auto">
          <a:xfrm>
            <a:off x="5185832" y="3772289"/>
            <a:ext cx="644540" cy="588963"/>
            <a:chOff x="-44" y="1473"/>
            <a:chExt cx="981" cy="1105"/>
          </a:xfrm>
        </p:grpSpPr>
        <p:pic>
          <p:nvPicPr>
            <p:cNvPr id="66" name="Picture 105" descr="desktop_computer_stylized_medium">
              <a:extLst>
                <a:ext uri="{FF2B5EF4-FFF2-40B4-BE49-F238E27FC236}">
                  <a16:creationId xmlns:a16="http://schemas.microsoft.com/office/drawing/2014/main" id="{AAA9C191-A724-DE4E-A0DA-AF600AE1B4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a:extLst>
                <a:ext uri="{FF2B5EF4-FFF2-40B4-BE49-F238E27FC236}">
                  <a16:creationId xmlns:a16="http://schemas.microsoft.com/office/drawing/2014/main" id="{E6FC85B1-48F0-1149-9E86-28C220903AB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68" name="Group 107">
            <a:extLst>
              <a:ext uri="{FF2B5EF4-FFF2-40B4-BE49-F238E27FC236}">
                <a16:creationId xmlns:a16="http://schemas.microsoft.com/office/drawing/2014/main" id="{291F0955-3988-7649-881A-FC89468189F9}"/>
              </a:ext>
            </a:extLst>
          </p:cNvPr>
          <p:cNvGrpSpPr>
            <a:grpSpLocks/>
          </p:cNvGrpSpPr>
          <p:nvPr/>
        </p:nvGrpSpPr>
        <p:grpSpPr bwMode="auto">
          <a:xfrm>
            <a:off x="6555845" y="4785114"/>
            <a:ext cx="684824" cy="620713"/>
            <a:chOff x="-44" y="1473"/>
            <a:chExt cx="981" cy="1105"/>
          </a:xfrm>
        </p:grpSpPr>
        <p:pic>
          <p:nvPicPr>
            <p:cNvPr id="69" name="Picture 108" descr="desktop_computer_stylized_medium">
              <a:extLst>
                <a:ext uri="{FF2B5EF4-FFF2-40B4-BE49-F238E27FC236}">
                  <a16:creationId xmlns:a16="http://schemas.microsoft.com/office/drawing/2014/main" id="{A5B37F88-7E58-784C-A670-1879282E52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a:extLst>
                <a:ext uri="{FF2B5EF4-FFF2-40B4-BE49-F238E27FC236}">
                  <a16:creationId xmlns:a16="http://schemas.microsoft.com/office/drawing/2014/main" id="{36940F9B-2451-784C-B12A-984CF4F8731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1" name="Group 110">
            <a:extLst>
              <a:ext uri="{FF2B5EF4-FFF2-40B4-BE49-F238E27FC236}">
                <a16:creationId xmlns:a16="http://schemas.microsoft.com/office/drawing/2014/main" id="{7F424135-822E-074D-8C17-2A6D6E4ECAFC}"/>
              </a:ext>
            </a:extLst>
          </p:cNvPr>
          <p:cNvGrpSpPr>
            <a:grpSpLocks/>
          </p:cNvGrpSpPr>
          <p:nvPr/>
        </p:nvGrpSpPr>
        <p:grpSpPr bwMode="auto">
          <a:xfrm>
            <a:off x="6838420" y="5362964"/>
            <a:ext cx="684824" cy="620713"/>
            <a:chOff x="-44" y="1473"/>
            <a:chExt cx="981" cy="1105"/>
          </a:xfrm>
        </p:grpSpPr>
        <p:pic>
          <p:nvPicPr>
            <p:cNvPr id="72" name="Picture 111" descr="desktop_computer_stylized_medium">
              <a:extLst>
                <a:ext uri="{FF2B5EF4-FFF2-40B4-BE49-F238E27FC236}">
                  <a16:creationId xmlns:a16="http://schemas.microsoft.com/office/drawing/2014/main" id="{34FC5600-17A3-934E-9068-3B83CAC0C3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a:extLst>
                <a:ext uri="{FF2B5EF4-FFF2-40B4-BE49-F238E27FC236}">
                  <a16:creationId xmlns:a16="http://schemas.microsoft.com/office/drawing/2014/main" id="{1F97F168-3D00-8E46-92E2-721EC7E48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4" name="Group 113">
            <a:extLst>
              <a:ext uri="{FF2B5EF4-FFF2-40B4-BE49-F238E27FC236}">
                <a16:creationId xmlns:a16="http://schemas.microsoft.com/office/drawing/2014/main" id="{C0B69BA7-0A27-7147-8AE9-1235C7C2A05B}"/>
              </a:ext>
            </a:extLst>
          </p:cNvPr>
          <p:cNvGrpSpPr>
            <a:grpSpLocks/>
          </p:cNvGrpSpPr>
          <p:nvPr/>
        </p:nvGrpSpPr>
        <p:grpSpPr bwMode="auto">
          <a:xfrm flipH="1">
            <a:off x="9472082" y="4208852"/>
            <a:ext cx="684823" cy="620712"/>
            <a:chOff x="-44" y="1473"/>
            <a:chExt cx="981" cy="1105"/>
          </a:xfrm>
        </p:grpSpPr>
        <p:pic>
          <p:nvPicPr>
            <p:cNvPr id="75" name="Picture 114" descr="desktop_computer_stylized_medium">
              <a:extLst>
                <a:ext uri="{FF2B5EF4-FFF2-40B4-BE49-F238E27FC236}">
                  <a16:creationId xmlns:a16="http://schemas.microsoft.com/office/drawing/2014/main" id="{F68E7B52-0A00-E34D-9DA2-D7620DF995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a:extLst>
                <a:ext uri="{FF2B5EF4-FFF2-40B4-BE49-F238E27FC236}">
                  <a16:creationId xmlns:a16="http://schemas.microsoft.com/office/drawing/2014/main" id="{CE23A1DF-EAD7-2749-B795-7C811DC2D39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77" name="Group 116">
            <a:extLst>
              <a:ext uri="{FF2B5EF4-FFF2-40B4-BE49-F238E27FC236}">
                <a16:creationId xmlns:a16="http://schemas.microsoft.com/office/drawing/2014/main" id="{C526BB6F-CCDA-0147-8FD0-0F99323F14AB}"/>
              </a:ext>
            </a:extLst>
          </p:cNvPr>
          <p:cNvGrpSpPr>
            <a:grpSpLocks/>
          </p:cNvGrpSpPr>
          <p:nvPr/>
        </p:nvGrpSpPr>
        <p:grpSpPr bwMode="auto">
          <a:xfrm flipH="1">
            <a:off x="9124419" y="5547114"/>
            <a:ext cx="684824" cy="620713"/>
            <a:chOff x="-44" y="1473"/>
            <a:chExt cx="981" cy="1105"/>
          </a:xfrm>
        </p:grpSpPr>
        <p:pic>
          <p:nvPicPr>
            <p:cNvPr id="78" name="Picture 117" descr="desktop_computer_stylized_medium">
              <a:extLst>
                <a:ext uri="{FF2B5EF4-FFF2-40B4-BE49-F238E27FC236}">
                  <a16:creationId xmlns:a16="http://schemas.microsoft.com/office/drawing/2014/main" id="{CDFEDAF9-00CE-D646-8AE3-A7056CD30C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a:extLst>
                <a:ext uri="{FF2B5EF4-FFF2-40B4-BE49-F238E27FC236}">
                  <a16:creationId xmlns:a16="http://schemas.microsoft.com/office/drawing/2014/main" id="{3D90A292-9B8F-C447-9D79-AE8C9EFF482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0" name="Group 119">
            <a:extLst>
              <a:ext uri="{FF2B5EF4-FFF2-40B4-BE49-F238E27FC236}">
                <a16:creationId xmlns:a16="http://schemas.microsoft.com/office/drawing/2014/main" id="{EBC84D0D-5129-DF4C-A746-CE2C76A20F2E}"/>
              </a:ext>
            </a:extLst>
          </p:cNvPr>
          <p:cNvGrpSpPr>
            <a:grpSpLocks/>
          </p:cNvGrpSpPr>
          <p:nvPr/>
        </p:nvGrpSpPr>
        <p:grpSpPr bwMode="auto">
          <a:xfrm flipH="1">
            <a:off x="9526057" y="3021402"/>
            <a:ext cx="684823" cy="620712"/>
            <a:chOff x="-44" y="1473"/>
            <a:chExt cx="981" cy="1105"/>
          </a:xfrm>
        </p:grpSpPr>
        <p:pic>
          <p:nvPicPr>
            <p:cNvPr id="81" name="Picture 120" descr="desktop_computer_stylized_medium">
              <a:extLst>
                <a:ext uri="{FF2B5EF4-FFF2-40B4-BE49-F238E27FC236}">
                  <a16:creationId xmlns:a16="http://schemas.microsoft.com/office/drawing/2014/main" id="{2B752977-E9AF-8448-A2A8-48B1A471FE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a:extLst>
                <a:ext uri="{FF2B5EF4-FFF2-40B4-BE49-F238E27FC236}">
                  <a16:creationId xmlns:a16="http://schemas.microsoft.com/office/drawing/2014/main" id="{2274D970-5334-1C44-8D20-95FD2587ECE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3" name="Group 122">
            <a:extLst>
              <a:ext uri="{FF2B5EF4-FFF2-40B4-BE49-F238E27FC236}">
                <a16:creationId xmlns:a16="http://schemas.microsoft.com/office/drawing/2014/main" id="{62B3C8B1-8466-CB42-A6EE-7A22909BC2AD}"/>
              </a:ext>
            </a:extLst>
          </p:cNvPr>
          <p:cNvGrpSpPr>
            <a:grpSpLocks/>
          </p:cNvGrpSpPr>
          <p:nvPr/>
        </p:nvGrpSpPr>
        <p:grpSpPr bwMode="auto">
          <a:xfrm flipH="1">
            <a:off x="7729007" y="2488002"/>
            <a:ext cx="602764" cy="620712"/>
            <a:chOff x="-44" y="1473"/>
            <a:chExt cx="981" cy="1105"/>
          </a:xfrm>
        </p:grpSpPr>
        <p:pic>
          <p:nvPicPr>
            <p:cNvPr id="84" name="Picture 123" descr="desktop_computer_stylized_medium">
              <a:extLst>
                <a:ext uri="{FF2B5EF4-FFF2-40B4-BE49-F238E27FC236}">
                  <a16:creationId xmlns:a16="http://schemas.microsoft.com/office/drawing/2014/main" id="{AD943130-CC29-0E45-BFE5-3AE7F2348B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a:extLst>
                <a:ext uri="{FF2B5EF4-FFF2-40B4-BE49-F238E27FC236}">
                  <a16:creationId xmlns:a16="http://schemas.microsoft.com/office/drawing/2014/main" id="{D17179B0-F425-1A49-8872-7CDBB0C5274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6" name="Group 125">
            <a:extLst>
              <a:ext uri="{FF2B5EF4-FFF2-40B4-BE49-F238E27FC236}">
                <a16:creationId xmlns:a16="http://schemas.microsoft.com/office/drawing/2014/main" id="{E26E3FBF-E723-C040-AEE6-20EB441E8176}"/>
              </a:ext>
            </a:extLst>
          </p:cNvPr>
          <p:cNvGrpSpPr>
            <a:grpSpLocks/>
          </p:cNvGrpSpPr>
          <p:nvPr/>
        </p:nvGrpSpPr>
        <p:grpSpPr bwMode="auto">
          <a:xfrm>
            <a:off x="6119282" y="2478477"/>
            <a:ext cx="684823" cy="620712"/>
            <a:chOff x="-44" y="1473"/>
            <a:chExt cx="981" cy="1105"/>
          </a:xfrm>
        </p:grpSpPr>
        <p:pic>
          <p:nvPicPr>
            <p:cNvPr id="87" name="Picture 126" descr="desktop_computer_stylized_medium">
              <a:extLst>
                <a:ext uri="{FF2B5EF4-FFF2-40B4-BE49-F238E27FC236}">
                  <a16:creationId xmlns:a16="http://schemas.microsoft.com/office/drawing/2014/main" id="{CF1B6F22-9E2D-1944-A52E-E77715BBD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a:extLst>
                <a:ext uri="{FF2B5EF4-FFF2-40B4-BE49-F238E27FC236}">
                  <a16:creationId xmlns:a16="http://schemas.microsoft.com/office/drawing/2014/main" id="{22CD730C-689A-E44A-91FA-E8E769CE6D9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89" name="Group 129">
            <a:extLst>
              <a:ext uri="{FF2B5EF4-FFF2-40B4-BE49-F238E27FC236}">
                <a16:creationId xmlns:a16="http://schemas.microsoft.com/office/drawing/2014/main" id="{A7C3F63D-74FF-7040-B1D2-88A6E501954B}"/>
              </a:ext>
            </a:extLst>
          </p:cNvPr>
          <p:cNvGrpSpPr>
            <a:grpSpLocks/>
          </p:cNvGrpSpPr>
          <p:nvPr/>
        </p:nvGrpSpPr>
        <p:grpSpPr bwMode="auto">
          <a:xfrm>
            <a:off x="8219544" y="5091502"/>
            <a:ext cx="461025" cy="412750"/>
            <a:chOff x="-44" y="1473"/>
            <a:chExt cx="981" cy="1105"/>
          </a:xfrm>
        </p:grpSpPr>
        <p:pic>
          <p:nvPicPr>
            <p:cNvPr id="90" name="Picture 130" descr="desktop_computer_stylized_medium">
              <a:extLst>
                <a:ext uri="{FF2B5EF4-FFF2-40B4-BE49-F238E27FC236}">
                  <a16:creationId xmlns:a16="http://schemas.microsoft.com/office/drawing/2014/main" id="{45B574F8-532C-7A46-A7F4-34C6C8EBE1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a:extLst>
                <a:ext uri="{FF2B5EF4-FFF2-40B4-BE49-F238E27FC236}">
                  <a16:creationId xmlns:a16="http://schemas.microsoft.com/office/drawing/2014/main" id="{AA7D8503-5853-054D-99AB-15405424F7A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Tree>
    <p:extLst>
      <p:ext uri="{BB962C8B-B14F-4D97-AF65-F5344CB8AC3E}">
        <p14:creationId xmlns:p14="http://schemas.microsoft.com/office/powerpoint/2010/main" val="1172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par>
                                <p:cTn id="14" presetID="9"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dissolv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dissolve">
                                      <p:cBhvr>
                                        <p:cTn id="21" dur="1000"/>
                                        <p:tgtEl>
                                          <p:spTgt spid="27"/>
                                        </p:tgtEl>
                                      </p:cBhvr>
                                    </p:animEffect>
                                  </p:childTnLst>
                                </p:cTn>
                              </p:par>
                              <p:par>
                                <p:cTn id="22" presetID="9" presetClass="exit" presetSubtype="0" fill="hold" nodeType="withEffect">
                                  <p:stCondLst>
                                    <p:cond delay="0"/>
                                  </p:stCondLst>
                                  <p:childTnLst>
                                    <p:animEffect transition="out" filter="dissolve">
                                      <p:cBhvr>
                                        <p:cTn id="23" dur="500"/>
                                        <p:tgtEl>
                                          <p:spTgt spid="11"/>
                                        </p:tgtEl>
                                      </p:cBhvr>
                                    </p:animEffect>
                                    <p:set>
                                      <p:cBhvr>
                                        <p:cTn id="24"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65391" y="24123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83" name="Slide Number Placeholder 2">
            <a:extLst>
              <a:ext uri="{FF2B5EF4-FFF2-40B4-BE49-F238E27FC236}">
                <a16:creationId xmlns:a16="http://schemas.microsoft.com/office/drawing/2014/main" id="{4878E67F-D509-FD42-BE8D-29D25C1A4FCA}"/>
              </a:ext>
            </a:extLst>
          </p:cNvPr>
          <p:cNvSpPr>
            <a:spLocks noGrp="1"/>
          </p:cNvSpPr>
          <p:nvPr>
            <p:ph type="sldNum" sz="quarter" idx="12"/>
          </p:nvPr>
        </p:nvSpPr>
        <p:spPr/>
        <p:txBody>
          <a:bodyPr/>
          <a:lstStyle/>
          <a:p>
            <a:r>
              <a:rPr lang="en-US"/>
              <a:t>Application Layer: 2-</a:t>
            </a:r>
            <a:fld id="{C4204591-24BD-A542-B9D5-F8D8A88D2FEE}" type="slidenum">
              <a:rPr lang="en-US" smtClean="0"/>
              <a:pPr/>
              <a:t>77</a:t>
            </a:fld>
            <a:endParaRPr lang="en-US" dirty="0"/>
          </a:p>
        </p:txBody>
      </p:sp>
      <p:sp>
        <p:nvSpPr>
          <p:cNvPr id="170" name="Rectangle 3">
            <a:extLst>
              <a:ext uri="{FF2B5EF4-FFF2-40B4-BE49-F238E27FC236}">
                <a16:creationId xmlns:a16="http://schemas.microsoft.com/office/drawing/2014/main" id="{BE01B437-A61A-9B44-A8C0-5BAD0C5014B4}"/>
              </a:ext>
            </a:extLst>
          </p:cNvPr>
          <p:cNvSpPr txBox="1">
            <a:spLocks noChangeArrowheads="1"/>
          </p:cNvSpPr>
          <p:nvPr/>
        </p:nvSpPr>
        <p:spPr bwMode="auto">
          <a:xfrm>
            <a:off x="627169" y="1750854"/>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287338" indent="-287338"/>
            <a:r>
              <a:rPr lang="en-US" altLang="en-US" kern="0" dirty="0">
                <a:latin typeface="+mn-lt"/>
                <a:ea typeface="ＭＳ Ｐゴシック" panose="020B0600070205080204" pitchFamily="34" charset="-128"/>
              </a:rPr>
              <a:t>peer joining torrent: </a:t>
            </a:r>
          </a:p>
          <a:p>
            <a:pPr marL="681038" lvl="1" indent="-223838"/>
            <a:r>
              <a:rPr lang="en-US" altLang="en-US" kern="0" dirty="0">
                <a:latin typeface="+mn-lt"/>
                <a:ea typeface="ＭＳ Ｐゴシック" panose="020B0600070205080204" pitchFamily="34" charset="-128"/>
              </a:rPr>
              <a:t>has no chunks, but will accumulate them over time from other peers</a:t>
            </a:r>
          </a:p>
          <a:p>
            <a:pPr marL="681038" lvl="1" indent="-223838"/>
            <a:r>
              <a:rPr lang="en-US" altLang="en-US" kern="0" dirty="0">
                <a:latin typeface="+mn-lt"/>
                <a:ea typeface="ＭＳ Ｐゴシック" panose="020B0600070205080204" pitchFamily="34" charset="-128"/>
              </a:rPr>
              <a:t>registers with tracker to get list of peers, connects to subset of peers (</a:t>
            </a:r>
            <a:r>
              <a:rPr lang="ja-JP" altLang="en-US" kern="0" dirty="0">
                <a:latin typeface="+mn-lt"/>
                <a:ea typeface="ＭＳ Ｐゴシック" panose="020B0600070205080204" pitchFamily="34" charset="-128"/>
              </a:rPr>
              <a:t>“</a:t>
            </a:r>
            <a:r>
              <a:rPr lang="en-US" altLang="ja-JP" kern="0" dirty="0">
                <a:latin typeface="+mn-lt"/>
                <a:ea typeface="ＭＳ Ｐゴシック" panose="020B0600070205080204" pitchFamily="34" charset="-128"/>
              </a:rPr>
              <a:t>neighbors</a:t>
            </a:r>
            <a:r>
              <a:rPr lang="ja-JP" altLang="en-US" kern="0" dirty="0">
                <a:latin typeface="+mn-lt"/>
                <a:ea typeface="ＭＳ Ｐゴシック" panose="020B0600070205080204" pitchFamily="34" charset="-128"/>
              </a:rPr>
              <a:t>”</a:t>
            </a:r>
            <a:r>
              <a:rPr lang="en-US" altLang="ja-JP" kern="0" dirty="0">
                <a:latin typeface="+mn-lt"/>
                <a:ea typeface="ＭＳ Ｐゴシック" panose="020B0600070205080204" pitchFamily="34" charset="-128"/>
              </a:rPr>
              <a:t>)</a:t>
            </a:r>
            <a:endParaRPr lang="en-US" altLang="en-US" kern="0" dirty="0">
              <a:latin typeface="+mn-lt"/>
              <a:ea typeface="ＭＳ Ｐゴシック" panose="020B0600070205080204" pitchFamily="34" charset="-128"/>
            </a:endParaRPr>
          </a:p>
        </p:txBody>
      </p:sp>
      <p:sp>
        <p:nvSpPr>
          <p:cNvPr id="171" name="Rectangle 3">
            <a:extLst>
              <a:ext uri="{FF2B5EF4-FFF2-40B4-BE49-F238E27FC236}">
                <a16:creationId xmlns:a16="http://schemas.microsoft.com/office/drawing/2014/main" id="{5C2EB95A-93B0-5840-9C4D-A1762DAEA759}"/>
              </a:ext>
            </a:extLst>
          </p:cNvPr>
          <p:cNvSpPr>
            <a:spLocks noChangeArrowheads="1"/>
          </p:cNvSpPr>
          <p:nvPr/>
        </p:nvSpPr>
        <p:spPr bwMode="auto">
          <a:xfrm>
            <a:off x="672727" y="4188073"/>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while downloading, peer uploads chunks to other peers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peer may change peers with whom it exchanges chunks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once peer has entire file, it may (selfishly) leave or (altruistically) remain in torrent</a:t>
            </a:r>
          </a:p>
        </p:txBody>
      </p:sp>
      <p:grpSp>
        <p:nvGrpSpPr>
          <p:cNvPr id="2" name="Group 1">
            <a:extLst>
              <a:ext uri="{FF2B5EF4-FFF2-40B4-BE49-F238E27FC236}">
                <a16:creationId xmlns:a16="http://schemas.microsoft.com/office/drawing/2014/main" id="{8DCC6C24-30FA-4B4E-A269-8C92EE25BC46}"/>
              </a:ext>
            </a:extLst>
          </p:cNvPr>
          <p:cNvGrpSpPr/>
          <p:nvPr/>
        </p:nvGrpSpPr>
        <p:grpSpPr>
          <a:xfrm>
            <a:off x="7673860" y="1954460"/>
            <a:ext cx="3567113" cy="2233613"/>
            <a:chOff x="4911725" y="1368425"/>
            <a:chExt cx="3567113" cy="2233613"/>
          </a:xfrm>
        </p:grpSpPr>
        <p:sp>
          <p:nvSpPr>
            <p:cNvPr id="172" name="Line 25">
              <a:extLst>
                <a:ext uri="{FF2B5EF4-FFF2-40B4-BE49-F238E27FC236}">
                  <a16:creationId xmlns:a16="http://schemas.microsoft.com/office/drawing/2014/main" id="{14C1BFA3-2422-AC40-9443-EBE4B0BA4E51}"/>
                </a:ext>
              </a:extLst>
            </p:cNvPr>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Line 26">
              <a:extLst>
                <a:ext uri="{FF2B5EF4-FFF2-40B4-BE49-F238E27FC236}">
                  <a16:creationId xmlns:a16="http://schemas.microsoft.com/office/drawing/2014/main" id="{858C722B-AFD5-3E4D-9F07-FC6900AAFE1D}"/>
                </a:ext>
              </a:extLst>
            </p:cNvPr>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4" name="Line 27">
              <a:extLst>
                <a:ext uri="{FF2B5EF4-FFF2-40B4-BE49-F238E27FC236}">
                  <a16:creationId xmlns:a16="http://schemas.microsoft.com/office/drawing/2014/main" id="{BE071C26-5E10-4944-8BF4-10C7EC327E51}"/>
                </a:ext>
              </a:extLst>
            </p:cNvPr>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5" name="Line 28">
              <a:extLst>
                <a:ext uri="{FF2B5EF4-FFF2-40B4-BE49-F238E27FC236}">
                  <a16:creationId xmlns:a16="http://schemas.microsoft.com/office/drawing/2014/main" id="{75CAFCCB-E9E5-7E49-A3F5-4958D9F89A19}"/>
                </a:ext>
              </a:extLst>
            </p:cNvPr>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29">
              <a:extLst>
                <a:ext uri="{FF2B5EF4-FFF2-40B4-BE49-F238E27FC236}">
                  <a16:creationId xmlns:a16="http://schemas.microsoft.com/office/drawing/2014/main" id="{1D50DE5F-310E-1E44-85DE-D65DD48DF2AF}"/>
                </a:ext>
              </a:extLst>
            </p:cNvPr>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30">
              <a:extLst>
                <a:ext uri="{FF2B5EF4-FFF2-40B4-BE49-F238E27FC236}">
                  <a16:creationId xmlns:a16="http://schemas.microsoft.com/office/drawing/2014/main" id="{FCC71024-B200-2142-949F-7D4A1B58CB77}"/>
                </a:ext>
              </a:extLst>
            </p:cNvPr>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8" name="Line 31">
              <a:extLst>
                <a:ext uri="{FF2B5EF4-FFF2-40B4-BE49-F238E27FC236}">
                  <a16:creationId xmlns:a16="http://schemas.microsoft.com/office/drawing/2014/main" id="{1790AC52-1931-A649-B99C-E0E7A089EC28}"/>
                </a:ext>
              </a:extLst>
            </p:cNvPr>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9" name="Line 32">
              <a:extLst>
                <a:ext uri="{FF2B5EF4-FFF2-40B4-BE49-F238E27FC236}">
                  <a16:creationId xmlns:a16="http://schemas.microsoft.com/office/drawing/2014/main" id="{89975C97-C827-D24A-B1B2-BA5EA5D13E31}"/>
                </a:ext>
              </a:extLst>
            </p:cNvPr>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0" name="Line 33">
              <a:extLst>
                <a:ext uri="{FF2B5EF4-FFF2-40B4-BE49-F238E27FC236}">
                  <a16:creationId xmlns:a16="http://schemas.microsoft.com/office/drawing/2014/main" id="{955D94CA-F543-6C42-A481-B95EE01861CD}"/>
                </a:ext>
              </a:extLst>
            </p:cNvPr>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1" name="Line 34">
              <a:extLst>
                <a:ext uri="{FF2B5EF4-FFF2-40B4-BE49-F238E27FC236}">
                  <a16:creationId xmlns:a16="http://schemas.microsoft.com/office/drawing/2014/main" id="{951F72DA-656A-D04D-A6C4-F256EFF9FBBB}"/>
                </a:ext>
              </a:extLst>
            </p:cNvPr>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2" name="Line 38">
              <a:extLst>
                <a:ext uri="{FF2B5EF4-FFF2-40B4-BE49-F238E27FC236}">
                  <a16:creationId xmlns:a16="http://schemas.microsoft.com/office/drawing/2014/main" id="{ADF91B87-973E-B548-B697-7A4079F1C792}"/>
                </a:ext>
              </a:extLst>
            </p:cNvPr>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pic>
          <p:nvPicPr>
            <p:cNvPr id="183" name="Picture 39" descr="Alice">
              <a:extLst>
                <a:ext uri="{FF2B5EF4-FFF2-40B4-BE49-F238E27FC236}">
                  <a16:creationId xmlns:a16="http://schemas.microsoft.com/office/drawing/2014/main" id="{6B053B54-9371-384F-AA52-C17465B4D3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a:extLst>
                <a:ext uri="{FF2B5EF4-FFF2-40B4-BE49-F238E27FC236}">
                  <a16:creationId xmlns:a16="http://schemas.microsoft.com/office/drawing/2014/main" id="{C2114C23-66BC-A94F-90FC-3D02C545B220}"/>
                </a:ext>
              </a:extLst>
            </p:cNvPr>
            <p:cNvGrpSpPr>
              <a:grpSpLocks/>
            </p:cNvGrpSpPr>
            <p:nvPr/>
          </p:nvGrpSpPr>
          <p:grpSpPr bwMode="auto">
            <a:xfrm>
              <a:off x="5586413" y="1693863"/>
              <a:ext cx="2378075" cy="1350962"/>
              <a:chOff x="1752" y="2166"/>
              <a:chExt cx="2200" cy="1363"/>
            </a:xfrm>
          </p:grpSpPr>
          <p:sp>
            <p:nvSpPr>
              <p:cNvPr id="185" name="Line 22">
                <a:extLst>
                  <a:ext uri="{FF2B5EF4-FFF2-40B4-BE49-F238E27FC236}">
                    <a16:creationId xmlns:a16="http://schemas.microsoft.com/office/drawing/2014/main" id="{1EE108AC-8EA8-9E4A-8B60-F03F959667AE}"/>
                  </a:ext>
                </a:extLst>
              </p:cNvPr>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6" name="Line 23">
                <a:extLst>
                  <a:ext uri="{FF2B5EF4-FFF2-40B4-BE49-F238E27FC236}">
                    <a16:creationId xmlns:a16="http://schemas.microsoft.com/office/drawing/2014/main" id="{94D6AFB9-0FA7-C54C-9273-1A9C925AB8F0}"/>
                  </a:ext>
                </a:extLst>
              </p:cNvPr>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7" name="Line 24">
                <a:extLst>
                  <a:ext uri="{FF2B5EF4-FFF2-40B4-BE49-F238E27FC236}">
                    <a16:creationId xmlns:a16="http://schemas.microsoft.com/office/drawing/2014/main" id="{5EF4CD56-8EA9-104D-8536-971136B66A3E}"/>
                  </a:ext>
                </a:extLst>
              </p:cNvPr>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88" name="Group 74">
              <a:extLst>
                <a:ext uri="{FF2B5EF4-FFF2-40B4-BE49-F238E27FC236}">
                  <a16:creationId xmlns:a16="http://schemas.microsoft.com/office/drawing/2014/main" id="{6DD06914-3CEB-5944-8E89-2281584DCD9B}"/>
                </a:ext>
              </a:extLst>
            </p:cNvPr>
            <p:cNvGrpSpPr>
              <a:grpSpLocks/>
            </p:cNvGrpSpPr>
            <p:nvPr/>
          </p:nvGrpSpPr>
          <p:grpSpPr bwMode="auto">
            <a:xfrm>
              <a:off x="5245100" y="1374775"/>
              <a:ext cx="292100" cy="517525"/>
              <a:chOff x="4140" y="429"/>
              <a:chExt cx="1425" cy="2396"/>
            </a:xfrm>
          </p:grpSpPr>
          <p:sp>
            <p:nvSpPr>
              <p:cNvPr id="189" name="Freeform 75">
                <a:extLst>
                  <a:ext uri="{FF2B5EF4-FFF2-40B4-BE49-F238E27FC236}">
                    <a16:creationId xmlns:a16="http://schemas.microsoft.com/office/drawing/2014/main" id="{F5672D96-1DC0-8542-9E0B-AF784B6A0C4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0" name="Rectangle 76">
                <a:extLst>
                  <a:ext uri="{FF2B5EF4-FFF2-40B4-BE49-F238E27FC236}">
                    <a16:creationId xmlns:a16="http://schemas.microsoft.com/office/drawing/2014/main" id="{C336E614-D216-1B4B-9137-3DC6CF7E4949}"/>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1" name="Freeform 77">
                <a:extLst>
                  <a:ext uri="{FF2B5EF4-FFF2-40B4-BE49-F238E27FC236}">
                    <a16:creationId xmlns:a16="http://schemas.microsoft.com/office/drawing/2014/main" id="{CF30086E-5442-B544-9BE6-2A8083677BA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2" name="Freeform 78">
                <a:extLst>
                  <a:ext uri="{FF2B5EF4-FFF2-40B4-BE49-F238E27FC236}">
                    <a16:creationId xmlns:a16="http://schemas.microsoft.com/office/drawing/2014/main" id="{6218844C-628C-9547-A930-560D56E3C7B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3" name="Rectangle 79">
                <a:extLst>
                  <a:ext uri="{FF2B5EF4-FFF2-40B4-BE49-F238E27FC236}">
                    <a16:creationId xmlns:a16="http://schemas.microsoft.com/office/drawing/2014/main" id="{78F96A30-FAB7-9144-8F42-1A1B06A335B9}"/>
                  </a:ext>
                </a:extLst>
              </p:cNvPr>
              <p:cNvSpPr>
                <a:spLocks noChangeArrowheads="1"/>
              </p:cNvSpPr>
              <p:nvPr/>
            </p:nvSpPr>
            <p:spPr bwMode="auto">
              <a:xfrm>
                <a:off x="4210" y="694"/>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4" name="Group 80">
                <a:extLst>
                  <a:ext uri="{FF2B5EF4-FFF2-40B4-BE49-F238E27FC236}">
                    <a16:creationId xmlns:a16="http://schemas.microsoft.com/office/drawing/2014/main" id="{CECE58F7-7C4A-6F4D-B141-662B63F4AA86}"/>
                  </a:ext>
                </a:extLst>
              </p:cNvPr>
              <p:cNvGrpSpPr>
                <a:grpSpLocks/>
              </p:cNvGrpSpPr>
              <p:nvPr/>
            </p:nvGrpSpPr>
            <p:grpSpPr bwMode="auto">
              <a:xfrm>
                <a:off x="4749" y="668"/>
                <a:ext cx="581" cy="145"/>
                <a:chOff x="614" y="2568"/>
                <a:chExt cx="725" cy="139"/>
              </a:xfrm>
            </p:grpSpPr>
            <p:sp>
              <p:nvSpPr>
                <p:cNvPr id="219" name="AutoShape 81">
                  <a:extLst>
                    <a:ext uri="{FF2B5EF4-FFF2-40B4-BE49-F238E27FC236}">
                      <a16:creationId xmlns:a16="http://schemas.microsoft.com/office/drawing/2014/main" id="{D6885AAA-38B2-874F-868F-D00AB0AE0D26}"/>
                    </a:ext>
                  </a:extLst>
                </p:cNvPr>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0" name="AutoShape 82">
                  <a:extLst>
                    <a:ext uri="{FF2B5EF4-FFF2-40B4-BE49-F238E27FC236}">
                      <a16:creationId xmlns:a16="http://schemas.microsoft.com/office/drawing/2014/main" id="{D61DCFC9-1720-7344-ADE6-5BD09A2BF12B}"/>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5" name="Rectangle 83">
                <a:extLst>
                  <a:ext uri="{FF2B5EF4-FFF2-40B4-BE49-F238E27FC236}">
                    <a16:creationId xmlns:a16="http://schemas.microsoft.com/office/drawing/2014/main" id="{00D3BEA9-BA94-4044-B1D5-60A03C5C5821}"/>
                  </a:ext>
                </a:extLst>
              </p:cNvPr>
              <p:cNvSpPr>
                <a:spLocks noChangeArrowheads="1"/>
              </p:cNvSpPr>
              <p:nvPr/>
            </p:nvSpPr>
            <p:spPr bwMode="auto">
              <a:xfrm>
                <a:off x="4225" y="1017"/>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6" name="Group 84">
                <a:extLst>
                  <a:ext uri="{FF2B5EF4-FFF2-40B4-BE49-F238E27FC236}">
                    <a16:creationId xmlns:a16="http://schemas.microsoft.com/office/drawing/2014/main" id="{641C2446-7A8F-504B-A8D3-FFEE0A9F637A}"/>
                  </a:ext>
                </a:extLst>
              </p:cNvPr>
              <p:cNvGrpSpPr>
                <a:grpSpLocks/>
              </p:cNvGrpSpPr>
              <p:nvPr/>
            </p:nvGrpSpPr>
            <p:grpSpPr bwMode="auto">
              <a:xfrm>
                <a:off x="4747" y="994"/>
                <a:ext cx="581" cy="134"/>
                <a:chOff x="614" y="2568"/>
                <a:chExt cx="725" cy="139"/>
              </a:xfrm>
            </p:grpSpPr>
            <p:sp>
              <p:nvSpPr>
                <p:cNvPr id="217" name="AutoShape 85">
                  <a:extLst>
                    <a:ext uri="{FF2B5EF4-FFF2-40B4-BE49-F238E27FC236}">
                      <a16:creationId xmlns:a16="http://schemas.microsoft.com/office/drawing/2014/main" id="{C1F8A523-4462-AA4E-A2CA-29700E5DA9B6}"/>
                    </a:ext>
                  </a:extLst>
                </p:cNvPr>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8" name="AutoShape 86">
                  <a:extLst>
                    <a:ext uri="{FF2B5EF4-FFF2-40B4-BE49-F238E27FC236}">
                      <a16:creationId xmlns:a16="http://schemas.microsoft.com/office/drawing/2014/main" id="{A7658F20-DB1E-464F-B607-89092583FB5B}"/>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7" name="Rectangle 87">
                <a:extLst>
                  <a:ext uri="{FF2B5EF4-FFF2-40B4-BE49-F238E27FC236}">
                    <a16:creationId xmlns:a16="http://schemas.microsoft.com/office/drawing/2014/main" id="{FF6AAAAA-212A-7640-8D6B-0B6EBD377D7F}"/>
                  </a:ext>
                </a:extLst>
              </p:cNvPr>
              <p:cNvSpPr>
                <a:spLocks noChangeArrowheads="1"/>
              </p:cNvSpPr>
              <p:nvPr/>
            </p:nvSpPr>
            <p:spPr bwMode="auto">
              <a:xfrm>
                <a:off x="4217" y="1355"/>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8" name="Rectangle 88">
                <a:extLst>
                  <a:ext uri="{FF2B5EF4-FFF2-40B4-BE49-F238E27FC236}">
                    <a16:creationId xmlns:a16="http://schemas.microsoft.com/office/drawing/2014/main" id="{634123E3-AB71-9F41-AD39-43B0691F13F6}"/>
                  </a:ext>
                </a:extLst>
              </p:cNvPr>
              <p:cNvSpPr>
                <a:spLocks noChangeArrowheads="1"/>
              </p:cNvSpPr>
              <p:nvPr/>
            </p:nvSpPr>
            <p:spPr bwMode="auto">
              <a:xfrm>
                <a:off x="4225" y="1656"/>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9" name="Group 89">
                <a:extLst>
                  <a:ext uri="{FF2B5EF4-FFF2-40B4-BE49-F238E27FC236}">
                    <a16:creationId xmlns:a16="http://schemas.microsoft.com/office/drawing/2014/main" id="{DC8E4BD8-4B64-1943-9731-721699A50BDF}"/>
                  </a:ext>
                </a:extLst>
              </p:cNvPr>
              <p:cNvGrpSpPr>
                <a:grpSpLocks/>
              </p:cNvGrpSpPr>
              <p:nvPr/>
            </p:nvGrpSpPr>
            <p:grpSpPr bwMode="auto">
              <a:xfrm>
                <a:off x="4735" y="1627"/>
                <a:ext cx="582" cy="151"/>
                <a:chOff x="614" y="2568"/>
                <a:chExt cx="725" cy="139"/>
              </a:xfrm>
            </p:grpSpPr>
            <p:sp>
              <p:nvSpPr>
                <p:cNvPr id="215" name="AutoShape 90">
                  <a:extLst>
                    <a:ext uri="{FF2B5EF4-FFF2-40B4-BE49-F238E27FC236}">
                      <a16:creationId xmlns:a16="http://schemas.microsoft.com/office/drawing/2014/main" id="{9D762048-3A14-564D-8D32-3584214E9D4D}"/>
                    </a:ext>
                  </a:extLst>
                </p:cNvPr>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6" name="AutoShape 91">
                  <a:extLst>
                    <a:ext uri="{FF2B5EF4-FFF2-40B4-BE49-F238E27FC236}">
                      <a16:creationId xmlns:a16="http://schemas.microsoft.com/office/drawing/2014/main" id="{70B9E041-38D0-8A42-BB42-D0980C10A86A}"/>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0" name="Freeform 92">
                <a:extLst>
                  <a:ext uri="{FF2B5EF4-FFF2-40B4-BE49-F238E27FC236}">
                    <a16:creationId xmlns:a16="http://schemas.microsoft.com/office/drawing/2014/main" id="{A2F57490-585D-EB4E-AE3D-BCA33E2C5CC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01" name="Group 93">
                <a:extLst>
                  <a:ext uri="{FF2B5EF4-FFF2-40B4-BE49-F238E27FC236}">
                    <a16:creationId xmlns:a16="http://schemas.microsoft.com/office/drawing/2014/main" id="{E23C7B19-F840-FC48-9713-9AD00E8223E6}"/>
                  </a:ext>
                </a:extLst>
              </p:cNvPr>
              <p:cNvGrpSpPr>
                <a:grpSpLocks/>
              </p:cNvGrpSpPr>
              <p:nvPr/>
            </p:nvGrpSpPr>
            <p:grpSpPr bwMode="auto">
              <a:xfrm>
                <a:off x="4739" y="1327"/>
                <a:ext cx="582" cy="139"/>
                <a:chOff x="614" y="2568"/>
                <a:chExt cx="725" cy="139"/>
              </a:xfrm>
            </p:grpSpPr>
            <p:sp>
              <p:nvSpPr>
                <p:cNvPr id="213" name="AutoShape 94">
                  <a:extLst>
                    <a:ext uri="{FF2B5EF4-FFF2-40B4-BE49-F238E27FC236}">
                      <a16:creationId xmlns:a16="http://schemas.microsoft.com/office/drawing/2014/main" id="{BF66CD5C-FF99-7742-A14E-2BF2A67A6C17}"/>
                    </a:ext>
                  </a:extLst>
                </p:cNvPr>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4" name="AutoShape 95">
                  <a:extLst>
                    <a:ext uri="{FF2B5EF4-FFF2-40B4-BE49-F238E27FC236}">
                      <a16:creationId xmlns:a16="http://schemas.microsoft.com/office/drawing/2014/main" id="{F9BFFD59-AD2B-894C-819C-8D0DB9F2B538}"/>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2" name="Rectangle 96">
                <a:extLst>
                  <a:ext uri="{FF2B5EF4-FFF2-40B4-BE49-F238E27FC236}">
                    <a16:creationId xmlns:a16="http://schemas.microsoft.com/office/drawing/2014/main" id="{136171A0-1A0E-8D4C-968B-D17501670E1F}"/>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3" name="Freeform 97">
                <a:extLst>
                  <a:ext uri="{FF2B5EF4-FFF2-40B4-BE49-F238E27FC236}">
                    <a16:creationId xmlns:a16="http://schemas.microsoft.com/office/drawing/2014/main" id="{C874C361-C380-FC49-8D1C-E30AEEA3FF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4" name="Freeform 98">
                <a:extLst>
                  <a:ext uri="{FF2B5EF4-FFF2-40B4-BE49-F238E27FC236}">
                    <a16:creationId xmlns:a16="http://schemas.microsoft.com/office/drawing/2014/main" id="{69C7F287-7595-D94A-87BF-95ED49C48A2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5" name="Oval 99">
                <a:extLst>
                  <a:ext uri="{FF2B5EF4-FFF2-40B4-BE49-F238E27FC236}">
                    <a16:creationId xmlns:a16="http://schemas.microsoft.com/office/drawing/2014/main" id="{B6E84AB5-17E1-1D48-BB79-04D2F00750E0}"/>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6" name="Freeform 100">
                <a:extLst>
                  <a:ext uri="{FF2B5EF4-FFF2-40B4-BE49-F238E27FC236}">
                    <a16:creationId xmlns:a16="http://schemas.microsoft.com/office/drawing/2014/main" id="{AF0BF05C-4E38-CD4D-AAFA-E3493B15528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7" name="AutoShape 101">
                <a:extLst>
                  <a:ext uri="{FF2B5EF4-FFF2-40B4-BE49-F238E27FC236}">
                    <a16:creationId xmlns:a16="http://schemas.microsoft.com/office/drawing/2014/main" id="{3BB53BC2-8678-8446-A21F-7F33E9E59671}"/>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8" name="AutoShape 102">
                <a:extLst>
                  <a:ext uri="{FF2B5EF4-FFF2-40B4-BE49-F238E27FC236}">
                    <a16:creationId xmlns:a16="http://schemas.microsoft.com/office/drawing/2014/main" id="{FA369464-AABC-BC43-830F-4E4F32FF70D7}"/>
                  </a:ext>
                </a:extLst>
              </p:cNvPr>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9" name="Oval 103">
                <a:extLst>
                  <a:ext uri="{FF2B5EF4-FFF2-40B4-BE49-F238E27FC236}">
                    <a16:creationId xmlns:a16="http://schemas.microsoft.com/office/drawing/2014/main" id="{0447F744-AF3E-9645-978F-EF1BDF0F8284}"/>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0" name="Oval 104">
                <a:extLst>
                  <a:ext uri="{FF2B5EF4-FFF2-40B4-BE49-F238E27FC236}">
                    <a16:creationId xmlns:a16="http://schemas.microsoft.com/office/drawing/2014/main" id="{F3C8D210-BF7D-C848-B9FD-FC1172BBD07F}"/>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1" name="Oval 105">
                <a:extLst>
                  <a:ext uri="{FF2B5EF4-FFF2-40B4-BE49-F238E27FC236}">
                    <a16:creationId xmlns:a16="http://schemas.microsoft.com/office/drawing/2014/main" id="{1162ED20-6D4D-2B4D-84EF-299FDEE0E91E}"/>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2" name="Rectangle 106">
                <a:extLst>
                  <a:ext uri="{FF2B5EF4-FFF2-40B4-BE49-F238E27FC236}">
                    <a16:creationId xmlns:a16="http://schemas.microsoft.com/office/drawing/2014/main" id="{922CF934-873F-EE4F-8726-E969CD36EACF}"/>
                  </a:ext>
                </a:extLst>
              </p:cNvPr>
              <p:cNvSpPr>
                <a:spLocks noChangeArrowheads="1"/>
              </p:cNvSpPr>
              <p:nvPr/>
            </p:nvSpPr>
            <p:spPr bwMode="auto">
              <a:xfrm>
                <a:off x="5062" y="1833"/>
                <a:ext cx="85"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1" name="Group 107">
              <a:extLst>
                <a:ext uri="{FF2B5EF4-FFF2-40B4-BE49-F238E27FC236}">
                  <a16:creationId xmlns:a16="http://schemas.microsoft.com/office/drawing/2014/main" id="{C09F8334-EB5D-B748-8BA6-989D939E72C2}"/>
                </a:ext>
              </a:extLst>
            </p:cNvPr>
            <p:cNvGrpSpPr>
              <a:grpSpLocks/>
            </p:cNvGrpSpPr>
            <p:nvPr/>
          </p:nvGrpSpPr>
          <p:grpSpPr bwMode="auto">
            <a:xfrm>
              <a:off x="6311900" y="3176588"/>
              <a:ext cx="434975" cy="349250"/>
              <a:chOff x="-44" y="1473"/>
              <a:chExt cx="981" cy="1105"/>
            </a:xfrm>
          </p:grpSpPr>
          <p:pic>
            <p:nvPicPr>
              <p:cNvPr id="222" name="Picture 108" descr="desktop_computer_stylized_medium">
                <a:extLst>
                  <a:ext uri="{FF2B5EF4-FFF2-40B4-BE49-F238E27FC236}">
                    <a16:creationId xmlns:a16="http://schemas.microsoft.com/office/drawing/2014/main" id="{7B90278E-E343-294D-95CB-02DB24F6F5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a:extLst>
                  <a:ext uri="{FF2B5EF4-FFF2-40B4-BE49-F238E27FC236}">
                    <a16:creationId xmlns:a16="http://schemas.microsoft.com/office/drawing/2014/main" id="{C59628E1-7338-E340-96DD-685A37B0462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10">
              <a:extLst>
                <a:ext uri="{FF2B5EF4-FFF2-40B4-BE49-F238E27FC236}">
                  <a16:creationId xmlns:a16="http://schemas.microsoft.com/office/drawing/2014/main" id="{698F5DBF-2E9C-2B40-817E-23F3F51AF6C5}"/>
                </a:ext>
              </a:extLst>
            </p:cNvPr>
            <p:cNvGrpSpPr>
              <a:grpSpLocks/>
            </p:cNvGrpSpPr>
            <p:nvPr/>
          </p:nvGrpSpPr>
          <p:grpSpPr bwMode="auto">
            <a:xfrm flipH="1">
              <a:off x="7716838" y="3252788"/>
              <a:ext cx="434975" cy="349250"/>
              <a:chOff x="-44" y="1473"/>
              <a:chExt cx="981" cy="1105"/>
            </a:xfrm>
          </p:grpSpPr>
          <p:pic>
            <p:nvPicPr>
              <p:cNvPr id="225" name="Picture 111" descr="desktop_computer_stylized_medium">
                <a:extLst>
                  <a:ext uri="{FF2B5EF4-FFF2-40B4-BE49-F238E27FC236}">
                    <a16:creationId xmlns:a16="http://schemas.microsoft.com/office/drawing/2014/main" id="{A569F870-B03B-2547-AF54-2C7AB5CBA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a:extLst>
                  <a:ext uri="{FF2B5EF4-FFF2-40B4-BE49-F238E27FC236}">
                    <a16:creationId xmlns:a16="http://schemas.microsoft.com/office/drawing/2014/main" id="{FE964CAF-BEB0-BB4E-AFC5-27ADA2EB8BD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7" name="Group 113">
              <a:extLst>
                <a:ext uri="{FF2B5EF4-FFF2-40B4-BE49-F238E27FC236}">
                  <a16:creationId xmlns:a16="http://schemas.microsoft.com/office/drawing/2014/main" id="{87763CBB-3A99-594D-9997-C76D56E76D3C}"/>
                </a:ext>
              </a:extLst>
            </p:cNvPr>
            <p:cNvGrpSpPr>
              <a:grpSpLocks/>
            </p:cNvGrpSpPr>
            <p:nvPr/>
          </p:nvGrpSpPr>
          <p:grpSpPr bwMode="auto">
            <a:xfrm flipH="1">
              <a:off x="7988300" y="2457450"/>
              <a:ext cx="434975" cy="349250"/>
              <a:chOff x="-44" y="1473"/>
              <a:chExt cx="981" cy="1105"/>
            </a:xfrm>
          </p:grpSpPr>
          <p:pic>
            <p:nvPicPr>
              <p:cNvPr id="228" name="Picture 114" descr="desktop_computer_stylized_medium">
                <a:extLst>
                  <a:ext uri="{FF2B5EF4-FFF2-40B4-BE49-F238E27FC236}">
                    <a16:creationId xmlns:a16="http://schemas.microsoft.com/office/drawing/2014/main" id="{3267E1E1-F140-B44D-B892-C5FED1C277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a:extLst>
                  <a:ext uri="{FF2B5EF4-FFF2-40B4-BE49-F238E27FC236}">
                    <a16:creationId xmlns:a16="http://schemas.microsoft.com/office/drawing/2014/main" id="{4F25EA7B-20CB-6C44-8B62-34CDC77621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0" name="Group 116">
              <a:extLst>
                <a:ext uri="{FF2B5EF4-FFF2-40B4-BE49-F238E27FC236}">
                  <a16:creationId xmlns:a16="http://schemas.microsoft.com/office/drawing/2014/main" id="{169372BE-08CD-7743-8E5E-EC2549832F55}"/>
                </a:ext>
              </a:extLst>
            </p:cNvPr>
            <p:cNvGrpSpPr>
              <a:grpSpLocks/>
            </p:cNvGrpSpPr>
            <p:nvPr/>
          </p:nvGrpSpPr>
          <p:grpSpPr bwMode="auto">
            <a:xfrm flipH="1">
              <a:off x="8043863" y="1706563"/>
              <a:ext cx="434975" cy="349250"/>
              <a:chOff x="-44" y="1473"/>
              <a:chExt cx="981" cy="1105"/>
            </a:xfrm>
          </p:grpSpPr>
          <p:pic>
            <p:nvPicPr>
              <p:cNvPr id="231" name="Picture 117" descr="desktop_computer_stylized_medium">
                <a:extLst>
                  <a:ext uri="{FF2B5EF4-FFF2-40B4-BE49-F238E27FC236}">
                    <a16:creationId xmlns:a16="http://schemas.microsoft.com/office/drawing/2014/main" id="{5232EB59-D06A-CC48-8C1F-E6DAC4976B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a:extLst>
                  <a:ext uri="{FF2B5EF4-FFF2-40B4-BE49-F238E27FC236}">
                    <a16:creationId xmlns:a16="http://schemas.microsoft.com/office/drawing/2014/main" id="{7E7C9F9D-CF89-7545-A1F6-153E2A098F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3" name="Group 119">
              <a:extLst>
                <a:ext uri="{FF2B5EF4-FFF2-40B4-BE49-F238E27FC236}">
                  <a16:creationId xmlns:a16="http://schemas.microsoft.com/office/drawing/2014/main" id="{6869CE49-D074-8547-B1D6-1F3B5B649CF4}"/>
                </a:ext>
              </a:extLst>
            </p:cNvPr>
            <p:cNvGrpSpPr>
              <a:grpSpLocks/>
            </p:cNvGrpSpPr>
            <p:nvPr/>
          </p:nvGrpSpPr>
          <p:grpSpPr bwMode="auto">
            <a:xfrm flipH="1">
              <a:off x="6911975" y="1368425"/>
              <a:ext cx="434975" cy="349250"/>
              <a:chOff x="-44" y="1473"/>
              <a:chExt cx="981" cy="1105"/>
            </a:xfrm>
          </p:grpSpPr>
          <p:pic>
            <p:nvPicPr>
              <p:cNvPr id="234" name="Picture 120" descr="desktop_computer_stylized_medium">
                <a:extLst>
                  <a:ext uri="{FF2B5EF4-FFF2-40B4-BE49-F238E27FC236}">
                    <a16:creationId xmlns:a16="http://schemas.microsoft.com/office/drawing/2014/main" id="{CE44033F-D4B7-7D46-9D32-0960EEB7B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a:extLst>
                  <a:ext uri="{FF2B5EF4-FFF2-40B4-BE49-F238E27FC236}">
                    <a16:creationId xmlns:a16="http://schemas.microsoft.com/office/drawing/2014/main" id="{45A28D47-C9B3-0346-8D70-361E7A4895B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6" name="Group 123">
              <a:extLst>
                <a:ext uri="{FF2B5EF4-FFF2-40B4-BE49-F238E27FC236}">
                  <a16:creationId xmlns:a16="http://schemas.microsoft.com/office/drawing/2014/main" id="{4E1A9762-2C71-9742-9958-EB2D29E68E6E}"/>
                </a:ext>
              </a:extLst>
            </p:cNvPr>
            <p:cNvGrpSpPr>
              <a:grpSpLocks/>
            </p:cNvGrpSpPr>
            <p:nvPr/>
          </p:nvGrpSpPr>
          <p:grpSpPr bwMode="auto">
            <a:xfrm>
              <a:off x="5824538" y="1411288"/>
              <a:ext cx="434975" cy="349250"/>
              <a:chOff x="-44" y="1473"/>
              <a:chExt cx="981" cy="1105"/>
            </a:xfrm>
          </p:grpSpPr>
          <p:pic>
            <p:nvPicPr>
              <p:cNvPr id="237" name="Picture 124" descr="desktop_computer_stylized_medium">
                <a:extLst>
                  <a:ext uri="{FF2B5EF4-FFF2-40B4-BE49-F238E27FC236}">
                    <a16:creationId xmlns:a16="http://schemas.microsoft.com/office/drawing/2014/main" id="{55B1C28D-66D6-DE4E-ADB5-D53BE1D2A0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a:extLst>
                  <a:ext uri="{FF2B5EF4-FFF2-40B4-BE49-F238E27FC236}">
                    <a16:creationId xmlns:a16="http://schemas.microsoft.com/office/drawing/2014/main" id="{4765CFB0-3F34-B94A-BC7F-EA339FAACF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9" name="Group 126">
              <a:extLst>
                <a:ext uri="{FF2B5EF4-FFF2-40B4-BE49-F238E27FC236}">
                  <a16:creationId xmlns:a16="http://schemas.microsoft.com/office/drawing/2014/main" id="{BE7F0DCF-B627-C847-8279-68A197C89CAF}"/>
                </a:ext>
              </a:extLst>
            </p:cNvPr>
            <p:cNvGrpSpPr>
              <a:grpSpLocks/>
            </p:cNvGrpSpPr>
            <p:nvPr/>
          </p:nvGrpSpPr>
          <p:grpSpPr bwMode="auto">
            <a:xfrm>
              <a:off x="5159375" y="2162175"/>
              <a:ext cx="434975" cy="349250"/>
              <a:chOff x="-44" y="1473"/>
              <a:chExt cx="981" cy="1105"/>
            </a:xfrm>
          </p:grpSpPr>
          <p:pic>
            <p:nvPicPr>
              <p:cNvPr id="240" name="Picture 127" descr="desktop_computer_stylized_medium">
                <a:extLst>
                  <a:ext uri="{FF2B5EF4-FFF2-40B4-BE49-F238E27FC236}">
                    <a16:creationId xmlns:a16="http://schemas.microsoft.com/office/drawing/2014/main" id="{BA3AF685-5B1F-CC40-BCAF-7158B2390D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a:extLst>
                  <a:ext uri="{FF2B5EF4-FFF2-40B4-BE49-F238E27FC236}">
                    <a16:creationId xmlns:a16="http://schemas.microsoft.com/office/drawing/2014/main" id="{1A33777F-82DA-EC46-B881-5C25C2D626A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2" name="Group 129">
              <a:extLst>
                <a:ext uri="{FF2B5EF4-FFF2-40B4-BE49-F238E27FC236}">
                  <a16:creationId xmlns:a16="http://schemas.microsoft.com/office/drawing/2014/main" id="{A4323D8E-CD7F-4742-B00D-A10D592D03EA}"/>
                </a:ext>
              </a:extLst>
            </p:cNvPr>
            <p:cNvGrpSpPr>
              <a:grpSpLocks/>
            </p:cNvGrpSpPr>
            <p:nvPr/>
          </p:nvGrpSpPr>
          <p:grpSpPr bwMode="auto">
            <a:xfrm>
              <a:off x="6129338" y="2749550"/>
              <a:ext cx="434975" cy="349250"/>
              <a:chOff x="-44" y="1473"/>
              <a:chExt cx="981" cy="1105"/>
            </a:xfrm>
          </p:grpSpPr>
          <p:pic>
            <p:nvPicPr>
              <p:cNvPr id="243" name="Picture 130" descr="desktop_computer_stylized_medium">
                <a:extLst>
                  <a:ext uri="{FF2B5EF4-FFF2-40B4-BE49-F238E27FC236}">
                    <a16:creationId xmlns:a16="http://schemas.microsoft.com/office/drawing/2014/main" id="{39C6AFB3-E3B3-AA47-9771-00781B94A9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a:extLst>
                  <a:ext uri="{FF2B5EF4-FFF2-40B4-BE49-F238E27FC236}">
                    <a16:creationId xmlns:a16="http://schemas.microsoft.com/office/drawing/2014/main" id="{4679D4E0-5A0A-B34D-AA7C-D7A6E8AE3F8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5" name="Group 132">
              <a:extLst>
                <a:ext uri="{FF2B5EF4-FFF2-40B4-BE49-F238E27FC236}">
                  <a16:creationId xmlns:a16="http://schemas.microsoft.com/office/drawing/2014/main" id="{73C52904-5489-6E4E-8226-879A262911C4}"/>
                </a:ext>
              </a:extLst>
            </p:cNvPr>
            <p:cNvGrpSpPr>
              <a:grpSpLocks/>
            </p:cNvGrpSpPr>
            <p:nvPr/>
          </p:nvGrpSpPr>
          <p:grpSpPr bwMode="auto">
            <a:xfrm>
              <a:off x="7185025" y="2989263"/>
              <a:ext cx="325438" cy="261937"/>
              <a:chOff x="-44" y="1473"/>
              <a:chExt cx="981" cy="1105"/>
            </a:xfrm>
          </p:grpSpPr>
          <p:pic>
            <p:nvPicPr>
              <p:cNvPr id="246" name="Picture 133" descr="desktop_computer_stylized_medium">
                <a:extLst>
                  <a:ext uri="{FF2B5EF4-FFF2-40B4-BE49-F238E27FC236}">
                    <a16:creationId xmlns:a16="http://schemas.microsoft.com/office/drawing/2014/main" id="{E7C23640-AF67-8245-9B29-88C1A9B166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a:extLst>
                  <a:ext uri="{FF2B5EF4-FFF2-40B4-BE49-F238E27FC236}">
                    <a16:creationId xmlns:a16="http://schemas.microsoft.com/office/drawing/2014/main" id="{CDD2AFE9-4A15-5147-897C-7BE6039DB5A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spTree>
    <p:extLst>
      <p:ext uri="{BB962C8B-B14F-4D97-AF65-F5344CB8AC3E}">
        <p14:creationId xmlns:p14="http://schemas.microsoft.com/office/powerpoint/2010/main" val="150614139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26670" y="164533"/>
            <a:ext cx="10515600" cy="894622"/>
          </a:xfrm>
        </p:spPr>
        <p:txBody>
          <a:bodyPr>
            <a:normAutofit/>
          </a:bodyPr>
          <a:lstStyle/>
          <a:p>
            <a:r>
              <a:rPr lang="en-US" altLang="en-US" sz="4400" dirty="0">
                <a:ea typeface="ＭＳ Ｐゴシック" panose="020B0600070205080204" pitchFamily="34" charset="-128"/>
              </a:rPr>
              <a:t>BitTorrent: requesting, sending file chunks</a:t>
            </a:r>
          </a:p>
        </p:txBody>
      </p:sp>
      <p:sp>
        <p:nvSpPr>
          <p:cNvPr id="7" name="Slide Number Placeholder 2">
            <a:extLst>
              <a:ext uri="{FF2B5EF4-FFF2-40B4-BE49-F238E27FC236}">
                <a16:creationId xmlns:a16="http://schemas.microsoft.com/office/drawing/2014/main" id="{CEB65444-34EE-4547-8616-7800EB55C6FE}"/>
              </a:ext>
            </a:extLst>
          </p:cNvPr>
          <p:cNvSpPr>
            <a:spLocks noGrp="1"/>
          </p:cNvSpPr>
          <p:nvPr>
            <p:ph type="sldNum" sz="quarter" idx="12"/>
          </p:nvPr>
        </p:nvSpPr>
        <p:spPr/>
        <p:txBody>
          <a:bodyPr/>
          <a:lstStyle/>
          <a:p>
            <a:r>
              <a:rPr lang="en-US"/>
              <a:t>Application Layer: 2-</a:t>
            </a:r>
            <a:fld id="{C4204591-24BD-A542-B9D5-F8D8A88D2FEE}" type="slidenum">
              <a:rPr lang="en-US" smtClean="0"/>
              <a:pPr/>
              <a:t>78</a:t>
            </a:fld>
            <a:endParaRPr lang="en-US" dirty="0"/>
          </a:p>
        </p:txBody>
      </p:sp>
      <p:sp>
        <p:nvSpPr>
          <p:cNvPr id="85" name="Rectangle 4">
            <a:extLst>
              <a:ext uri="{FF2B5EF4-FFF2-40B4-BE49-F238E27FC236}">
                <a16:creationId xmlns:a16="http://schemas.microsoft.com/office/drawing/2014/main" id="{ABE3BA82-1C3D-064A-9166-C67DC2170C39}"/>
              </a:ext>
            </a:extLst>
          </p:cNvPr>
          <p:cNvSpPr txBox="1">
            <a:spLocks noChangeArrowheads="1"/>
          </p:cNvSpPr>
          <p:nvPr/>
        </p:nvSpPr>
        <p:spPr>
          <a:xfrm>
            <a:off x="798691" y="1338113"/>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charset="0"/>
              <a:buNone/>
              <a:defRPr/>
            </a:pPr>
            <a:r>
              <a:rPr lang="en-US" sz="3200" dirty="0">
                <a:solidFill>
                  <a:srgbClr val="CC0000"/>
                </a:solidFill>
              </a:rPr>
              <a:t>Requesting chunks:</a:t>
            </a:r>
          </a:p>
          <a:p>
            <a:pPr marL="406400" indent="-276225">
              <a:buFont typeface="Wingdings" charset="2"/>
              <a:buChar char="§"/>
              <a:defRPr/>
            </a:pPr>
            <a:r>
              <a:rPr lang="en-US" dirty="0"/>
              <a:t>at any given time, different peers have different subsets of file chunks</a:t>
            </a:r>
          </a:p>
          <a:p>
            <a:pPr marL="406400" indent="-276225">
              <a:buFont typeface="Wingdings" charset="2"/>
              <a:buChar char="§"/>
              <a:defRPr/>
            </a:pPr>
            <a:r>
              <a:rPr lang="en-US" dirty="0"/>
              <a:t>periodically, Alice asks each peer for list of chunks that they have</a:t>
            </a:r>
          </a:p>
          <a:p>
            <a:pPr marL="406400" indent="-276225">
              <a:buFont typeface="Wingdings" charset="2"/>
              <a:buChar char="§"/>
              <a:defRPr/>
            </a:pPr>
            <a:r>
              <a:rPr lang="en-US" dirty="0"/>
              <a:t>Alice requests missing chunks from peers, rarest first</a:t>
            </a:r>
          </a:p>
        </p:txBody>
      </p:sp>
      <p:sp>
        <p:nvSpPr>
          <p:cNvPr id="86" name="Rectangle 6">
            <a:extLst>
              <a:ext uri="{FF2B5EF4-FFF2-40B4-BE49-F238E27FC236}">
                <a16:creationId xmlns:a16="http://schemas.microsoft.com/office/drawing/2014/main" id="{5CFA8E56-2FAA-FC49-B7B7-8A06FD9D16BD}"/>
              </a:ext>
            </a:extLst>
          </p:cNvPr>
          <p:cNvSpPr>
            <a:spLocks noChangeArrowheads="1"/>
          </p:cNvSpPr>
          <p:nvPr/>
        </p:nvSpPr>
        <p:spPr bwMode="auto">
          <a:xfrm>
            <a:off x="5927271" y="1239967"/>
            <a:ext cx="5714999" cy="5039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15875" indent="0"/>
            <a:r>
              <a:rPr lang="en-US" altLang="en-US" sz="3200" dirty="0">
                <a:solidFill>
                  <a:srgbClr val="CC0000"/>
                </a:solidFill>
                <a:latin typeface="+mn-lt"/>
              </a:rPr>
              <a:t>Sending chunks: tit-for-tat</a:t>
            </a:r>
          </a:p>
          <a:p>
            <a:pPr marL="406400" indent="-341313">
              <a:lnSpc>
                <a:spcPct val="90000"/>
              </a:lnSpc>
              <a:spcBef>
                <a:spcPts val="400"/>
              </a:spcBef>
              <a:buClr>
                <a:srgbClr val="000099"/>
              </a:buClr>
              <a:buSzPct val="100000"/>
              <a:buFont typeface="Wingdings"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 10 secs</a:t>
            </a:r>
          </a:p>
          <a:p>
            <a:pPr marL="471488" indent="-341313">
              <a:lnSpc>
                <a:spcPct val="90000"/>
              </a:lnSpc>
              <a:spcBef>
                <a:spcPts val="400"/>
              </a:spcBef>
              <a:buClr>
                <a:srgbClr val="000099"/>
              </a:buClr>
              <a:buSzPct val="100000"/>
              <a:buFont typeface="Wingdings" pitchFamily="2" charset="2"/>
              <a:buChar char="§"/>
            </a:pPr>
            <a:r>
              <a:rPr lang="en-US" altLang="en-US" sz="2800" dirty="0">
                <a:latin typeface="+mn-lt"/>
              </a:rPr>
              <a:t>every 30 secs: randomly select another peer, starts sending chunks</a:t>
            </a: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p>
          <a:p>
            <a:pPr>
              <a:buClr>
                <a:srgbClr val="000099"/>
              </a:buClr>
              <a:buSzTx/>
              <a:buFont typeface="Wingdings" pitchFamily="2" charset="2"/>
              <a:buChar char="§"/>
            </a:pPr>
            <a:endParaRPr lang="en-US" altLang="en-US" dirty="0">
              <a:latin typeface="Gill Sans MT" panose="020B0502020104020203" pitchFamily="34" charset="77"/>
            </a:endParaRPr>
          </a:p>
        </p:txBody>
      </p:sp>
    </p:spTree>
    <p:extLst>
      <p:ext uri="{BB962C8B-B14F-4D97-AF65-F5344CB8AC3E}">
        <p14:creationId xmlns:p14="http://schemas.microsoft.com/office/powerpoint/2010/main" val="344065891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59102" y="194017"/>
            <a:ext cx="10515600" cy="894622"/>
          </a:xfrm>
        </p:spPr>
        <p:txBody>
          <a:bodyPr>
            <a:normAutofit/>
          </a:bodyPr>
          <a:lstStyle/>
          <a:p>
            <a:r>
              <a:rPr lang="en-US" altLang="en-US" sz="4400" dirty="0">
                <a:ea typeface="ＭＳ Ｐゴシック" panose="020B0600070205080204" pitchFamily="34" charset="-128"/>
              </a:rPr>
              <a:t>BitTorrent: tit-for-tat</a:t>
            </a:r>
          </a:p>
        </p:txBody>
      </p:sp>
      <p:sp>
        <p:nvSpPr>
          <p:cNvPr id="56" name="Slide Number Placeholder 2">
            <a:extLst>
              <a:ext uri="{FF2B5EF4-FFF2-40B4-BE49-F238E27FC236}">
                <a16:creationId xmlns:a16="http://schemas.microsoft.com/office/drawing/2014/main" id="{E1ED86EA-C149-2945-9786-9D3CB50C6D10}"/>
              </a:ext>
            </a:extLst>
          </p:cNvPr>
          <p:cNvSpPr>
            <a:spLocks noGrp="1"/>
          </p:cNvSpPr>
          <p:nvPr>
            <p:ph type="sldNum" sz="quarter" idx="12"/>
          </p:nvPr>
        </p:nvSpPr>
        <p:spPr/>
        <p:txBody>
          <a:bodyPr/>
          <a:lstStyle/>
          <a:p>
            <a:r>
              <a:rPr lang="en-US"/>
              <a:t>Application Layer: 2-</a:t>
            </a:r>
            <a:fld id="{C4204591-24BD-A542-B9D5-F8D8A88D2FEE}" type="slidenum">
              <a:rPr lang="en-US" smtClean="0"/>
              <a:pPr/>
              <a:t>79</a:t>
            </a:fld>
            <a:endParaRPr lang="en-US" dirty="0"/>
          </a:p>
        </p:txBody>
      </p:sp>
      <p:pic>
        <p:nvPicPr>
          <p:cNvPr id="7" name="Picture 13" descr="Alice">
            <a:extLst>
              <a:ext uri="{FF2B5EF4-FFF2-40B4-BE49-F238E27FC236}">
                <a16:creationId xmlns:a16="http://schemas.microsoft.com/office/drawing/2014/main" id="{8741BF70-C5D5-9A4F-93C1-15959E9CE0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3814" y="4997450"/>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a:extLst>
              <a:ext uri="{FF2B5EF4-FFF2-40B4-BE49-F238E27FC236}">
                <a16:creationId xmlns:a16="http://schemas.microsoft.com/office/drawing/2014/main" id="{EC6F316B-7159-F14D-8C61-058945C987B9}"/>
              </a:ext>
            </a:extLst>
          </p:cNvPr>
          <p:cNvSpPr>
            <a:spLocks noChangeShapeType="1"/>
          </p:cNvSpPr>
          <p:nvPr/>
        </p:nvSpPr>
        <p:spPr bwMode="auto">
          <a:xfrm flipH="1" flipV="1">
            <a:off x="2657701" y="4003675"/>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9" name="Line 16">
            <a:extLst>
              <a:ext uri="{FF2B5EF4-FFF2-40B4-BE49-F238E27FC236}">
                <a16:creationId xmlns:a16="http://schemas.microsoft.com/office/drawing/2014/main" id="{85312597-E60F-8D4C-A9EB-F6893D485124}"/>
              </a:ext>
            </a:extLst>
          </p:cNvPr>
          <p:cNvSpPr>
            <a:spLocks noChangeShapeType="1"/>
          </p:cNvSpPr>
          <p:nvPr/>
        </p:nvSpPr>
        <p:spPr bwMode="auto">
          <a:xfrm flipH="1">
            <a:off x="3138714" y="4829175"/>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0" name="Line 17">
            <a:extLst>
              <a:ext uri="{FF2B5EF4-FFF2-40B4-BE49-F238E27FC236}">
                <a16:creationId xmlns:a16="http://schemas.microsoft.com/office/drawing/2014/main" id="{792D9181-0B03-BC4F-899D-82D2EA8580FC}"/>
              </a:ext>
            </a:extLst>
          </p:cNvPr>
          <p:cNvSpPr>
            <a:spLocks noChangeShapeType="1"/>
          </p:cNvSpPr>
          <p:nvPr/>
        </p:nvSpPr>
        <p:spPr bwMode="auto">
          <a:xfrm flipH="1">
            <a:off x="3813401" y="4943475"/>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1" name="Line 18">
            <a:extLst>
              <a:ext uri="{FF2B5EF4-FFF2-40B4-BE49-F238E27FC236}">
                <a16:creationId xmlns:a16="http://schemas.microsoft.com/office/drawing/2014/main" id="{2D784DE7-BFF3-9C40-B976-5BA78149FDDA}"/>
              </a:ext>
            </a:extLst>
          </p:cNvPr>
          <p:cNvSpPr>
            <a:spLocks noChangeShapeType="1"/>
          </p:cNvSpPr>
          <p:nvPr/>
        </p:nvSpPr>
        <p:spPr bwMode="auto">
          <a:xfrm flipV="1">
            <a:off x="6696301" y="3127375"/>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2" name="Line 20">
            <a:extLst>
              <a:ext uri="{FF2B5EF4-FFF2-40B4-BE49-F238E27FC236}">
                <a16:creationId xmlns:a16="http://schemas.microsoft.com/office/drawing/2014/main" id="{A1C1198D-163B-9148-9612-0787A145D324}"/>
              </a:ext>
            </a:extLst>
          </p:cNvPr>
          <p:cNvSpPr>
            <a:spLocks noChangeShapeType="1"/>
          </p:cNvSpPr>
          <p:nvPr/>
        </p:nvSpPr>
        <p:spPr bwMode="auto">
          <a:xfrm flipV="1">
            <a:off x="6797901" y="3711575"/>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3" name="Line 21">
            <a:extLst>
              <a:ext uri="{FF2B5EF4-FFF2-40B4-BE49-F238E27FC236}">
                <a16:creationId xmlns:a16="http://schemas.microsoft.com/office/drawing/2014/main" id="{C2DCB036-D113-5443-8F3C-DF1496779B07}"/>
              </a:ext>
            </a:extLst>
          </p:cNvPr>
          <p:cNvSpPr>
            <a:spLocks noChangeShapeType="1"/>
          </p:cNvSpPr>
          <p:nvPr/>
        </p:nvSpPr>
        <p:spPr bwMode="auto">
          <a:xfrm>
            <a:off x="6797901" y="4181475"/>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pic>
        <p:nvPicPr>
          <p:cNvPr id="14" name="Picture 22" descr="Bob">
            <a:extLst>
              <a:ext uri="{FF2B5EF4-FFF2-40B4-BE49-F238E27FC236}">
                <a16:creationId xmlns:a16="http://schemas.microsoft.com/office/drawing/2014/main" id="{A84998C7-BF5D-E24D-8A4A-8765DDF4B2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64489" y="4425950"/>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a:extLst>
              <a:ext uri="{FF2B5EF4-FFF2-40B4-BE49-F238E27FC236}">
                <a16:creationId xmlns:a16="http://schemas.microsoft.com/office/drawing/2014/main" id="{26116A51-4E13-DE4D-96FD-9486C5FBFE51}"/>
              </a:ext>
            </a:extLst>
          </p:cNvPr>
          <p:cNvSpPr>
            <a:spLocks noChangeShapeType="1"/>
          </p:cNvSpPr>
          <p:nvPr/>
        </p:nvSpPr>
        <p:spPr bwMode="auto">
          <a:xfrm flipV="1">
            <a:off x="4715101" y="3978275"/>
            <a:ext cx="1435100" cy="482600"/>
          </a:xfrm>
          <a:prstGeom prst="line">
            <a:avLst/>
          </a:prstGeom>
          <a:noFill/>
          <a:ln w="25400">
            <a:solidFill>
              <a:srgbClr val="CC0000"/>
            </a:solidFill>
            <a:prstDash val="sysDot"/>
            <a:round/>
            <a:headE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6" name="Line 24">
            <a:extLst>
              <a:ext uri="{FF2B5EF4-FFF2-40B4-BE49-F238E27FC236}">
                <a16:creationId xmlns:a16="http://schemas.microsoft.com/office/drawing/2014/main" id="{5E5EFBCB-9F3E-F141-A779-E04A3C86C956}"/>
              </a:ext>
            </a:extLst>
          </p:cNvPr>
          <p:cNvSpPr>
            <a:spLocks noChangeShapeType="1"/>
          </p:cNvSpPr>
          <p:nvPr/>
        </p:nvSpPr>
        <p:spPr bwMode="auto">
          <a:xfrm flipH="1">
            <a:off x="4727801" y="4067175"/>
            <a:ext cx="1397000" cy="4699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a:p>
        </p:txBody>
      </p:sp>
      <p:sp>
        <p:nvSpPr>
          <p:cNvPr id="17" name="Line 25">
            <a:extLst>
              <a:ext uri="{FF2B5EF4-FFF2-40B4-BE49-F238E27FC236}">
                <a16:creationId xmlns:a16="http://schemas.microsoft.com/office/drawing/2014/main" id="{FD13D6CC-D7F1-884F-8F51-9C41948304DD}"/>
              </a:ext>
            </a:extLst>
          </p:cNvPr>
          <p:cNvSpPr>
            <a:spLocks noChangeShapeType="1"/>
          </p:cNvSpPr>
          <p:nvPr/>
        </p:nvSpPr>
        <p:spPr bwMode="auto">
          <a:xfrm flipV="1">
            <a:off x="4765901" y="4168775"/>
            <a:ext cx="1371600" cy="4826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a:p>
        </p:txBody>
      </p:sp>
      <p:sp>
        <p:nvSpPr>
          <p:cNvPr id="18" name="Text Box 26">
            <a:extLst>
              <a:ext uri="{FF2B5EF4-FFF2-40B4-BE49-F238E27FC236}">
                <a16:creationId xmlns:a16="http://schemas.microsoft.com/office/drawing/2014/main" id="{DACC5EA5-F1C3-BD42-A042-51775E5F6684}"/>
              </a:ext>
            </a:extLst>
          </p:cNvPr>
          <p:cNvSpPr txBox="1">
            <a:spLocks noChangeArrowheads="1"/>
          </p:cNvSpPr>
          <p:nvPr/>
        </p:nvSpPr>
        <p:spPr bwMode="auto">
          <a:xfrm>
            <a:off x="339271" y="1296201"/>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a:extLst>
              <a:ext uri="{FF2B5EF4-FFF2-40B4-BE49-F238E27FC236}">
                <a16:creationId xmlns:a16="http://schemas.microsoft.com/office/drawing/2014/main" id="{DE11FF06-2EB6-DE4E-9955-89EC60B6108D}"/>
              </a:ext>
            </a:extLst>
          </p:cNvPr>
          <p:cNvSpPr txBox="1">
            <a:spLocks noChangeArrowheads="1"/>
          </p:cNvSpPr>
          <p:nvPr/>
        </p:nvSpPr>
        <p:spPr bwMode="auto">
          <a:xfrm>
            <a:off x="336552" y="1719389"/>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a:extLst>
              <a:ext uri="{FF2B5EF4-FFF2-40B4-BE49-F238E27FC236}">
                <a16:creationId xmlns:a16="http://schemas.microsoft.com/office/drawing/2014/main" id="{16606440-1C32-3D4E-A1E4-E55876C8B16A}"/>
              </a:ext>
            </a:extLst>
          </p:cNvPr>
          <p:cNvSpPr txBox="1">
            <a:spLocks noChangeArrowheads="1"/>
          </p:cNvSpPr>
          <p:nvPr/>
        </p:nvSpPr>
        <p:spPr bwMode="auto">
          <a:xfrm>
            <a:off x="328614" y="2132145"/>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a:extLst>
              <a:ext uri="{FF2B5EF4-FFF2-40B4-BE49-F238E27FC236}">
                <a16:creationId xmlns:a16="http://schemas.microsoft.com/office/drawing/2014/main" id="{F65951EA-D399-4948-A91F-C888B7CDFD68}"/>
              </a:ext>
            </a:extLst>
          </p:cNvPr>
          <p:cNvSpPr txBox="1">
            <a:spLocks noChangeArrowheads="1"/>
          </p:cNvSpPr>
          <p:nvPr/>
        </p:nvSpPr>
        <p:spPr bwMode="auto">
          <a:xfrm>
            <a:off x="6621689" y="5157562"/>
            <a:ext cx="4897389" cy="830997"/>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p>
        </p:txBody>
      </p:sp>
      <p:grpSp>
        <p:nvGrpSpPr>
          <p:cNvPr id="22" name="Group 52">
            <a:extLst>
              <a:ext uri="{FF2B5EF4-FFF2-40B4-BE49-F238E27FC236}">
                <a16:creationId xmlns:a16="http://schemas.microsoft.com/office/drawing/2014/main" id="{65490274-4BA6-774A-B416-07955688B60F}"/>
              </a:ext>
            </a:extLst>
          </p:cNvPr>
          <p:cNvGrpSpPr>
            <a:grpSpLocks/>
          </p:cNvGrpSpPr>
          <p:nvPr/>
        </p:nvGrpSpPr>
        <p:grpSpPr bwMode="auto">
          <a:xfrm>
            <a:off x="2398939" y="4833938"/>
            <a:ext cx="762000" cy="752475"/>
            <a:chOff x="-44" y="1473"/>
            <a:chExt cx="981" cy="1105"/>
          </a:xfrm>
        </p:grpSpPr>
        <p:pic>
          <p:nvPicPr>
            <p:cNvPr id="23" name="Picture 53" descr="desktop_computer_stylized_medium">
              <a:extLst>
                <a:ext uri="{FF2B5EF4-FFF2-40B4-BE49-F238E27FC236}">
                  <a16:creationId xmlns:a16="http://schemas.microsoft.com/office/drawing/2014/main" id="{72C8D70E-1AE3-CB40-AFD6-460B761828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a:extLst>
                <a:ext uri="{FF2B5EF4-FFF2-40B4-BE49-F238E27FC236}">
                  <a16:creationId xmlns:a16="http://schemas.microsoft.com/office/drawing/2014/main" id="{E4AA1D2E-1517-8A4B-AB9B-C7191BBEA3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25" name="Group 55">
            <a:extLst>
              <a:ext uri="{FF2B5EF4-FFF2-40B4-BE49-F238E27FC236}">
                <a16:creationId xmlns:a16="http://schemas.microsoft.com/office/drawing/2014/main" id="{B5877426-113E-4645-9901-821F444D3C78}"/>
              </a:ext>
            </a:extLst>
          </p:cNvPr>
          <p:cNvGrpSpPr>
            <a:grpSpLocks/>
          </p:cNvGrpSpPr>
          <p:nvPr/>
        </p:nvGrpSpPr>
        <p:grpSpPr bwMode="auto">
          <a:xfrm>
            <a:off x="3094264" y="5595938"/>
            <a:ext cx="762000" cy="752475"/>
            <a:chOff x="-44" y="1473"/>
            <a:chExt cx="981" cy="1105"/>
          </a:xfrm>
        </p:grpSpPr>
        <p:pic>
          <p:nvPicPr>
            <p:cNvPr id="26" name="Picture 56" descr="desktop_computer_stylized_medium">
              <a:extLst>
                <a:ext uri="{FF2B5EF4-FFF2-40B4-BE49-F238E27FC236}">
                  <a16:creationId xmlns:a16="http://schemas.microsoft.com/office/drawing/2014/main" id="{ED1A5E6B-965E-454E-9989-4DEC33639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a:extLst>
                <a:ext uri="{FF2B5EF4-FFF2-40B4-BE49-F238E27FC236}">
                  <a16:creationId xmlns:a16="http://schemas.microsoft.com/office/drawing/2014/main" id="{DD6D3C44-22E2-B449-9FDA-221947FA5E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28" name="Group 58">
            <a:extLst>
              <a:ext uri="{FF2B5EF4-FFF2-40B4-BE49-F238E27FC236}">
                <a16:creationId xmlns:a16="http://schemas.microsoft.com/office/drawing/2014/main" id="{0E9167DB-CB01-E04A-946E-D0BD377ECA5A}"/>
              </a:ext>
            </a:extLst>
          </p:cNvPr>
          <p:cNvGrpSpPr>
            <a:grpSpLocks/>
          </p:cNvGrpSpPr>
          <p:nvPr/>
        </p:nvGrpSpPr>
        <p:grpSpPr bwMode="auto">
          <a:xfrm>
            <a:off x="1913164" y="3713163"/>
            <a:ext cx="762000" cy="752475"/>
            <a:chOff x="-44" y="1473"/>
            <a:chExt cx="981" cy="1105"/>
          </a:xfrm>
        </p:grpSpPr>
        <p:pic>
          <p:nvPicPr>
            <p:cNvPr id="29" name="Picture 59" descr="desktop_computer_stylized_medium">
              <a:extLst>
                <a:ext uri="{FF2B5EF4-FFF2-40B4-BE49-F238E27FC236}">
                  <a16:creationId xmlns:a16="http://schemas.microsoft.com/office/drawing/2014/main" id="{3FC86540-2AE3-6C45-A57C-8C7A57DEE8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a:extLst>
                <a:ext uri="{FF2B5EF4-FFF2-40B4-BE49-F238E27FC236}">
                  <a16:creationId xmlns:a16="http://schemas.microsoft.com/office/drawing/2014/main" id="{7D582964-4BDA-5043-B12E-8CB52E1A4A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31" name="Group 61">
            <a:extLst>
              <a:ext uri="{FF2B5EF4-FFF2-40B4-BE49-F238E27FC236}">
                <a16:creationId xmlns:a16="http://schemas.microsoft.com/office/drawing/2014/main" id="{AC057CF7-B165-FC49-A311-D35170CD591D}"/>
              </a:ext>
            </a:extLst>
          </p:cNvPr>
          <p:cNvGrpSpPr>
            <a:grpSpLocks/>
          </p:cNvGrpSpPr>
          <p:nvPr/>
        </p:nvGrpSpPr>
        <p:grpSpPr bwMode="auto">
          <a:xfrm>
            <a:off x="3876901" y="4246563"/>
            <a:ext cx="762000" cy="752475"/>
            <a:chOff x="-44" y="1473"/>
            <a:chExt cx="981" cy="1105"/>
          </a:xfrm>
        </p:grpSpPr>
        <p:pic>
          <p:nvPicPr>
            <p:cNvPr id="32" name="Picture 62" descr="desktop_computer_stylized_medium">
              <a:extLst>
                <a:ext uri="{FF2B5EF4-FFF2-40B4-BE49-F238E27FC236}">
                  <a16:creationId xmlns:a16="http://schemas.microsoft.com/office/drawing/2014/main" id="{18C1044E-BABC-1349-9269-834754B6865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a:extLst>
                <a:ext uri="{FF2B5EF4-FFF2-40B4-BE49-F238E27FC236}">
                  <a16:creationId xmlns:a16="http://schemas.microsoft.com/office/drawing/2014/main" id="{78C58B97-061E-EA4D-AA38-0150EABAF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34" name="Group 64">
            <a:extLst>
              <a:ext uri="{FF2B5EF4-FFF2-40B4-BE49-F238E27FC236}">
                <a16:creationId xmlns:a16="http://schemas.microsoft.com/office/drawing/2014/main" id="{8374CADC-5475-174C-A033-E425F815732C}"/>
              </a:ext>
            </a:extLst>
          </p:cNvPr>
          <p:cNvGrpSpPr>
            <a:grpSpLocks/>
          </p:cNvGrpSpPr>
          <p:nvPr/>
        </p:nvGrpSpPr>
        <p:grpSpPr bwMode="auto">
          <a:xfrm flipH="1">
            <a:off x="7404326" y="4170363"/>
            <a:ext cx="762000" cy="752475"/>
            <a:chOff x="-44" y="1473"/>
            <a:chExt cx="981" cy="1105"/>
          </a:xfrm>
        </p:grpSpPr>
        <p:pic>
          <p:nvPicPr>
            <p:cNvPr id="35" name="Picture 65" descr="desktop_computer_stylized_medium">
              <a:extLst>
                <a:ext uri="{FF2B5EF4-FFF2-40B4-BE49-F238E27FC236}">
                  <a16:creationId xmlns:a16="http://schemas.microsoft.com/office/drawing/2014/main" id="{E829CC9A-8A66-4B4E-9FF3-CEAE73497D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a:extLst>
                <a:ext uri="{FF2B5EF4-FFF2-40B4-BE49-F238E27FC236}">
                  <a16:creationId xmlns:a16="http://schemas.microsoft.com/office/drawing/2014/main" id="{BE509D07-5156-594C-9BF4-2A36E639DB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37" name="Group 67">
            <a:extLst>
              <a:ext uri="{FF2B5EF4-FFF2-40B4-BE49-F238E27FC236}">
                <a16:creationId xmlns:a16="http://schemas.microsoft.com/office/drawing/2014/main" id="{BFB32E89-5273-0E4F-AB0A-3A5BD8870626}"/>
              </a:ext>
            </a:extLst>
          </p:cNvPr>
          <p:cNvGrpSpPr>
            <a:grpSpLocks/>
          </p:cNvGrpSpPr>
          <p:nvPr/>
        </p:nvGrpSpPr>
        <p:grpSpPr bwMode="auto">
          <a:xfrm flipH="1">
            <a:off x="7555139" y="3332163"/>
            <a:ext cx="762000" cy="752475"/>
            <a:chOff x="-44" y="1473"/>
            <a:chExt cx="981" cy="1105"/>
          </a:xfrm>
        </p:grpSpPr>
        <p:pic>
          <p:nvPicPr>
            <p:cNvPr id="38" name="Picture 68" descr="desktop_computer_stylized_medium">
              <a:extLst>
                <a:ext uri="{FF2B5EF4-FFF2-40B4-BE49-F238E27FC236}">
                  <a16:creationId xmlns:a16="http://schemas.microsoft.com/office/drawing/2014/main" id="{7E65096A-F8A7-654C-9729-36316DFF5B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a:extLst>
                <a:ext uri="{FF2B5EF4-FFF2-40B4-BE49-F238E27FC236}">
                  <a16:creationId xmlns:a16="http://schemas.microsoft.com/office/drawing/2014/main" id="{FE95B6B4-20A8-EF43-BAAF-C599F2F3BC1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40" name="Group 70">
            <a:extLst>
              <a:ext uri="{FF2B5EF4-FFF2-40B4-BE49-F238E27FC236}">
                <a16:creationId xmlns:a16="http://schemas.microsoft.com/office/drawing/2014/main" id="{C47D9ABE-3F3C-2147-9673-332BCE8C2E7A}"/>
              </a:ext>
            </a:extLst>
          </p:cNvPr>
          <p:cNvGrpSpPr>
            <a:grpSpLocks/>
          </p:cNvGrpSpPr>
          <p:nvPr/>
        </p:nvGrpSpPr>
        <p:grpSpPr bwMode="auto">
          <a:xfrm flipH="1">
            <a:off x="7163026" y="2711450"/>
            <a:ext cx="762000" cy="752475"/>
            <a:chOff x="-44" y="1473"/>
            <a:chExt cx="981" cy="1105"/>
          </a:xfrm>
        </p:grpSpPr>
        <p:pic>
          <p:nvPicPr>
            <p:cNvPr id="41" name="Picture 71" descr="desktop_computer_stylized_medium">
              <a:extLst>
                <a:ext uri="{FF2B5EF4-FFF2-40B4-BE49-F238E27FC236}">
                  <a16:creationId xmlns:a16="http://schemas.microsoft.com/office/drawing/2014/main" id="{E0B0EA6D-DC65-F345-866C-FF8D43D27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a:extLst>
                <a:ext uri="{FF2B5EF4-FFF2-40B4-BE49-F238E27FC236}">
                  <a16:creationId xmlns:a16="http://schemas.microsoft.com/office/drawing/2014/main" id="{4B8179CA-F544-1947-AB02-D4AFC3D0110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43" name="Group 74">
            <a:extLst>
              <a:ext uri="{FF2B5EF4-FFF2-40B4-BE49-F238E27FC236}">
                <a16:creationId xmlns:a16="http://schemas.microsoft.com/office/drawing/2014/main" id="{3AAB7190-C86B-6B40-A2D8-F0FAFE0A2599}"/>
              </a:ext>
            </a:extLst>
          </p:cNvPr>
          <p:cNvGrpSpPr>
            <a:grpSpLocks/>
          </p:cNvGrpSpPr>
          <p:nvPr/>
        </p:nvGrpSpPr>
        <p:grpSpPr bwMode="auto">
          <a:xfrm flipH="1">
            <a:off x="6240689" y="3702050"/>
            <a:ext cx="762000" cy="752475"/>
            <a:chOff x="-44" y="1473"/>
            <a:chExt cx="981" cy="1105"/>
          </a:xfrm>
        </p:grpSpPr>
        <p:pic>
          <p:nvPicPr>
            <p:cNvPr id="44" name="Picture 75" descr="desktop_computer_stylized_medium">
              <a:extLst>
                <a:ext uri="{FF2B5EF4-FFF2-40B4-BE49-F238E27FC236}">
                  <a16:creationId xmlns:a16="http://schemas.microsoft.com/office/drawing/2014/main" id="{E10FCAF4-5DCA-C147-944D-68091F53F3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a:extLst>
                <a:ext uri="{FF2B5EF4-FFF2-40B4-BE49-F238E27FC236}">
                  <a16:creationId xmlns:a16="http://schemas.microsoft.com/office/drawing/2014/main" id="{ED9B8D15-5F2D-AE4E-95C9-E1F0A26E1BF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nvGrpSpPr>
          <p:cNvPr id="46" name="Group 80">
            <a:extLst>
              <a:ext uri="{FF2B5EF4-FFF2-40B4-BE49-F238E27FC236}">
                <a16:creationId xmlns:a16="http://schemas.microsoft.com/office/drawing/2014/main" id="{76F60E48-C369-D742-9AC3-453C2EB2296B}"/>
              </a:ext>
            </a:extLst>
          </p:cNvPr>
          <p:cNvGrpSpPr>
            <a:grpSpLocks/>
          </p:cNvGrpSpPr>
          <p:nvPr/>
        </p:nvGrpSpPr>
        <p:grpSpPr bwMode="auto">
          <a:xfrm>
            <a:off x="6020026" y="2536825"/>
            <a:ext cx="762000" cy="1177925"/>
            <a:chOff x="4746" y="1528"/>
            <a:chExt cx="480" cy="742"/>
          </a:xfrm>
        </p:grpSpPr>
        <p:sp>
          <p:nvSpPr>
            <p:cNvPr id="47" name="Line 50">
              <a:extLst>
                <a:ext uri="{FF2B5EF4-FFF2-40B4-BE49-F238E27FC236}">
                  <a16:creationId xmlns:a16="http://schemas.microsoft.com/office/drawing/2014/main" id="{713595DD-629E-964F-90C7-0E04B74B20F3}"/>
                </a:ext>
              </a:extLst>
            </p:cNvPr>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a:p>
          </p:txBody>
        </p:sp>
        <p:grpSp>
          <p:nvGrpSpPr>
            <p:cNvPr id="48" name="Group 77">
              <a:extLst>
                <a:ext uri="{FF2B5EF4-FFF2-40B4-BE49-F238E27FC236}">
                  <a16:creationId xmlns:a16="http://schemas.microsoft.com/office/drawing/2014/main" id="{AD97E688-C674-9D46-B533-DA6C65ECA57D}"/>
                </a:ext>
              </a:extLst>
            </p:cNvPr>
            <p:cNvGrpSpPr>
              <a:grpSpLocks/>
            </p:cNvGrpSpPr>
            <p:nvPr/>
          </p:nvGrpSpPr>
          <p:grpSpPr bwMode="auto">
            <a:xfrm flipH="1">
              <a:off x="4746" y="1528"/>
              <a:ext cx="480" cy="474"/>
              <a:chOff x="-44" y="1473"/>
              <a:chExt cx="981" cy="1105"/>
            </a:xfrm>
          </p:grpSpPr>
          <p:pic>
            <p:nvPicPr>
              <p:cNvPr id="49" name="Picture 78" descr="desktop_computer_stylized_medium">
                <a:extLst>
                  <a:ext uri="{FF2B5EF4-FFF2-40B4-BE49-F238E27FC236}">
                    <a16:creationId xmlns:a16="http://schemas.microsoft.com/office/drawing/2014/main" id="{A710A2EC-D64C-6A4F-A921-3C453CCA3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a:extLst>
                  <a:ext uri="{FF2B5EF4-FFF2-40B4-BE49-F238E27FC236}">
                    <a16:creationId xmlns:a16="http://schemas.microsoft.com/office/drawing/2014/main" id="{AEBDADBC-EFC3-B643-B7C3-E2DB8819FDC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grpSp>
        <p:nvGrpSpPr>
          <p:cNvPr id="51" name="Group 87">
            <a:extLst>
              <a:ext uri="{FF2B5EF4-FFF2-40B4-BE49-F238E27FC236}">
                <a16:creationId xmlns:a16="http://schemas.microsoft.com/office/drawing/2014/main" id="{C55F25CE-5FFF-CB47-A09A-CEBC929646BA}"/>
              </a:ext>
            </a:extLst>
          </p:cNvPr>
          <p:cNvGrpSpPr>
            <a:grpSpLocks/>
          </p:cNvGrpSpPr>
          <p:nvPr/>
        </p:nvGrpSpPr>
        <p:grpSpPr bwMode="auto">
          <a:xfrm>
            <a:off x="3110139" y="3025775"/>
            <a:ext cx="1112837" cy="1219200"/>
            <a:chOff x="4779" y="2386"/>
            <a:chExt cx="701" cy="768"/>
          </a:xfrm>
        </p:grpSpPr>
        <p:sp>
          <p:nvSpPr>
            <p:cNvPr id="52" name="Line 46">
              <a:extLst>
                <a:ext uri="{FF2B5EF4-FFF2-40B4-BE49-F238E27FC236}">
                  <a16:creationId xmlns:a16="http://schemas.microsoft.com/office/drawing/2014/main" id="{8CEC77D4-CDB3-A04E-93BD-09A60C76B09A}"/>
                </a:ext>
              </a:extLst>
            </p:cNvPr>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a:p>
          </p:txBody>
        </p:sp>
        <p:grpSp>
          <p:nvGrpSpPr>
            <p:cNvPr id="53" name="Group 84">
              <a:extLst>
                <a:ext uri="{FF2B5EF4-FFF2-40B4-BE49-F238E27FC236}">
                  <a16:creationId xmlns:a16="http://schemas.microsoft.com/office/drawing/2014/main" id="{39CD941B-F7CC-0249-91C8-8CDBC2238570}"/>
                </a:ext>
              </a:extLst>
            </p:cNvPr>
            <p:cNvGrpSpPr>
              <a:grpSpLocks/>
            </p:cNvGrpSpPr>
            <p:nvPr/>
          </p:nvGrpSpPr>
          <p:grpSpPr bwMode="auto">
            <a:xfrm>
              <a:off x="4779" y="2386"/>
              <a:ext cx="480" cy="474"/>
              <a:chOff x="-44" y="1473"/>
              <a:chExt cx="981" cy="1105"/>
            </a:xfrm>
          </p:grpSpPr>
          <p:pic>
            <p:nvPicPr>
              <p:cNvPr id="54" name="Picture 85" descr="desktop_computer_stylized_medium">
                <a:extLst>
                  <a:ext uri="{FF2B5EF4-FFF2-40B4-BE49-F238E27FC236}">
                    <a16:creationId xmlns:a16="http://schemas.microsoft.com/office/drawing/2014/main" id="{0384D9E6-2AF2-1444-833F-1ACDCE8105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a:extLst>
                  <a:ext uri="{FF2B5EF4-FFF2-40B4-BE49-F238E27FC236}">
                    <a16:creationId xmlns:a16="http://schemas.microsoft.com/office/drawing/2014/main" id="{140BEEB3-51A1-3146-AD4E-D014FC9826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a:p>
            </p:txBody>
          </p:sp>
        </p:grpSp>
      </p:grpSp>
    </p:spTree>
    <p:extLst>
      <p:ext uri="{BB962C8B-B14F-4D97-AF65-F5344CB8AC3E}">
        <p14:creationId xmlns:p14="http://schemas.microsoft.com/office/powerpoint/2010/main" val="2355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7791" y="282200"/>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80</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Web and HTTP</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The Domain Name System DNS</a:t>
            </a:r>
          </a:p>
          <a:p>
            <a:pPr marL="349250" indent="-349250">
              <a:buClr>
                <a:schemeClr val="bg1">
                  <a:lumMod val="75000"/>
                </a:schemeClr>
              </a:buClr>
              <a:defRPr/>
            </a:pPr>
            <a:r>
              <a:rPr lang="en-US" altLang="en-US" sz="3200" dirty="0">
                <a:solidFill>
                  <a:schemeClr val="bg1">
                    <a:lumMod val="75000"/>
                  </a:schemeClr>
                </a:solidFill>
                <a:ea typeface="ＭＳ Ｐゴシック" panose="020B0600070205080204" pitchFamily="34" charset="-128"/>
              </a:rPr>
              <a:t>P2P applications</a:t>
            </a:r>
          </a:p>
          <a:p>
            <a:pPr marL="401638" indent="-401638">
              <a:defRPr/>
            </a:pPr>
            <a:r>
              <a:rPr lang="en-US" altLang="en-US" sz="3200" dirty="0">
                <a:latin typeface="Calibri" panose="020F0502020204030204" pitchFamily="34" charset="0"/>
                <a:cs typeface="Calibri" panose="020F0502020204030204" pitchFamily="34" charset="0"/>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291350236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25967" y="28138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12"/>
          </p:nvPr>
        </p:nvSpPr>
        <p:spPr/>
        <p:txBody>
          <a:bodyPr/>
          <a:lstStyle/>
          <a:p>
            <a:r>
              <a:rPr lang="en-US" dirty="0"/>
              <a:t>Application Layer: 2-</a:t>
            </a:r>
            <a:fld id="{C4204591-24BD-A542-B9D5-F8D8A88D2FEE}" type="slidenum">
              <a:rPr lang="en-US" smtClean="0"/>
              <a:pPr/>
              <a:t>81</a:t>
            </a:fld>
            <a:endParaRPr lang="en-US" dirty="0"/>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329803" y="1648499"/>
            <a:ext cx="6164385" cy="4821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429000"/>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388418" y="4333458"/>
            <a:ext cx="9341339" cy="2133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distributed, application-level infrastructure</a:t>
            </a: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dissolve">
                                      <p:cBhvr>
                                        <p:cTn id="12" dur="500"/>
                                        <p:tgtEl>
                                          <p:spTgt spid="11">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1">
                                            <p:txEl>
                                              <p:pRg st="1" end="1"/>
                                            </p:txEl>
                                          </p:spTgt>
                                        </p:tgtEl>
                                        <p:attrNameLst>
                                          <p:attrName>style.visibility</p:attrName>
                                        </p:attrNameLst>
                                      </p:cBhvr>
                                      <p:to>
                                        <p:strVal val="visible"/>
                                      </p:to>
                                    </p:set>
                                    <p:animEffect transition="in" filter="dissolve">
                                      <p:cBhvr>
                                        <p:cTn id="15" dur="500"/>
                                        <p:tgtEl>
                                          <p:spTgt spid="11">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1">
                                            <p:txEl>
                                              <p:pRg st="2" end="2"/>
                                            </p:txEl>
                                          </p:spTgt>
                                        </p:tgtEl>
                                        <p:attrNameLst>
                                          <p:attrName>style.visibility</p:attrName>
                                        </p:attrNameLst>
                                      </p:cBhvr>
                                      <p:to>
                                        <p:strVal val="visible"/>
                                      </p:to>
                                    </p:set>
                                    <p:animEffect transition="in" filter="dissolve">
                                      <p:cBhvr>
                                        <p:cTn id="20" dur="500"/>
                                        <p:tgtEl>
                                          <p:spTgt spid="11">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dissolve">
                                      <p:cBhvr>
                                        <p:cTn id="2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88665" y="211880"/>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12"/>
          </p:nvPr>
        </p:nvSpPr>
        <p:spPr/>
        <p:txBody>
          <a:bodyPr/>
          <a:lstStyle/>
          <a:p>
            <a:r>
              <a:rPr lang="en-US" dirty="0"/>
              <a:t>Application Layer: 2-</a:t>
            </a:r>
            <a:fld id="{C4204591-24BD-A542-B9D5-F8D8A88D2FEE}" type="slidenum">
              <a:rPr lang="en-US" smtClean="0"/>
              <a:pPr/>
              <a:t>82</a:t>
            </a:fld>
            <a:endParaRPr lang="en-US" dirty="0"/>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732408"/>
            <a:ext cx="5710237" cy="462903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5" end="5"/>
                                            </p:txEl>
                                          </p:spTgt>
                                        </p:tgtEl>
                                        <p:attrNameLst>
                                          <p:attrName>style.visibility</p:attrName>
                                        </p:attrNameLst>
                                      </p:cBhvr>
                                      <p:to>
                                        <p:strVal val="visible"/>
                                      </p:to>
                                    </p:set>
                                    <p:animEffect transition="in" filter="dissolve">
                                      <p:cBhvr>
                                        <p:cTn id="7" dur="500"/>
                                        <p:tgtEl>
                                          <p:spTgt spid="12">
                                            <p:txEl>
                                              <p:pRg st="5" end="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6" end="6"/>
                                            </p:txEl>
                                          </p:spTgt>
                                        </p:tgtEl>
                                        <p:attrNameLst>
                                          <p:attrName>style.visibility</p:attrName>
                                        </p:attrNameLst>
                                      </p:cBhvr>
                                      <p:to>
                                        <p:strVal val="visible"/>
                                      </p:to>
                                    </p:set>
                                    <p:animEffect transition="in" filter="dissolve">
                                      <p:cBhvr>
                                        <p:cTn id="15" dur="500"/>
                                        <p:tgtEl>
                                          <p:spTgt spid="12">
                                            <p:txEl>
                                              <p:pRg st="6" end="6"/>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188665"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12"/>
          </p:nvPr>
        </p:nvSpPr>
        <p:spPr/>
        <p:txBody>
          <a:bodyPr/>
          <a:lstStyle/>
          <a:p>
            <a:r>
              <a:rPr lang="en-US" dirty="0"/>
              <a:t>Application Layer: 2-</a:t>
            </a:r>
            <a:fld id="{C4204591-24BD-A542-B9D5-F8D8A88D2FEE}" type="slidenum">
              <a:rPr lang="en-US" smtClean="0"/>
              <a:pPr/>
              <a:t>83</a:t>
            </a:fld>
            <a:endParaRPr lang="en-US" dirty="0"/>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961623" y="1732409"/>
            <a:ext cx="5254061" cy="45712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698576"/>
          </a:xfrm>
        </p:spPr>
        <p:txBody>
          <a:bodyPr>
            <a:normAutofit fontScale="90000"/>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548005"/>
            <a:ext cx="10923837" cy="1719446"/>
          </a:xfrm>
        </p:spPr>
        <p:txBody>
          <a:bodyPr>
            <a:normAutofit/>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12"/>
          </p:nvPr>
        </p:nvSpPr>
        <p:spPr/>
        <p:txBody>
          <a:bodyPr/>
          <a:lstStyle/>
          <a:p>
            <a:r>
              <a:rPr lang="en-US" dirty="0"/>
              <a:t>Application Layer: 2-</a:t>
            </a:r>
            <a:fld id="{C4204591-24BD-A542-B9D5-F8D8A88D2FEE}" type="slidenum">
              <a:rPr lang="en-US" smtClean="0"/>
              <a:pPr/>
              <a:t>84</a:t>
            </a:fld>
            <a:endParaRPr lang="en-US" dirty="0"/>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780289"/>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580515"/>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2205739"/>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830322"/>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485562"/>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935381"/>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512310"/>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3041338"/>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3069573"/>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697717"/>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3288020"/>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dissolve">
                                      <p:cBhvr>
                                        <p:cTn id="12"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711213"/>
          </a:xfrm>
        </p:spPr>
        <p:txBody>
          <a:bodyPr>
            <a:normAutofit fontScale="90000"/>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12"/>
          </p:nvPr>
        </p:nvSpPr>
        <p:spPr/>
        <p:txBody>
          <a:bodyPr/>
          <a:lstStyle/>
          <a:p>
            <a:r>
              <a:rPr lang="en-US" dirty="0"/>
              <a:t>Application Layer: 2-</a:t>
            </a:r>
            <a:fld id="{C4204591-24BD-A542-B9D5-F8D8A88D2FEE}" type="slidenum">
              <a:rPr lang="en-US" smtClean="0"/>
              <a:pPr/>
              <a:t>85</a:t>
            </a:fld>
            <a:endParaRPr lang="en-US" dirty="0"/>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79783" y="4995169"/>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52745" y="4626869"/>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flipH="1">
            <a:off x="1387420" y="1770971"/>
            <a:ext cx="14392" cy="2638410"/>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47820" y="3533083"/>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77920" y="1877319"/>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14695" y="3307656"/>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36470" y="2704407"/>
            <a:ext cx="1957387" cy="3667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6000193" y="1699530"/>
            <a:ext cx="5768976" cy="4617140"/>
            <a:chOff x="2804" y="809"/>
            <a:chExt cx="3634" cy="3127"/>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240" y="809"/>
              <a:ext cx="0" cy="2291"/>
            </a:xfrm>
            <a:prstGeom prst="line">
              <a:avLst/>
            </a:prstGeom>
            <a:noFill/>
            <a:ln w="19050">
              <a:solidFill>
                <a:schemeClr val="tx1"/>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738"/>
            </a:xfrm>
            <a:prstGeom prst="rect">
              <a:avLst/>
            </a:prstGeom>
            <a:noFill/>
            <a:ln w="19050">
              <a:solidFill>
                <a:schemeClr val="tx1"/>
              </a:solidFill>
              <a:prstDash val="sysDot"/>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48645" y="4422081"/>
            <a:ext cx="620713" cy="3698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69315" y="1879438"/>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0556" y="1888963"/>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77895" y="4399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0760" y="4220345"/>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61378" y="4503618"/>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692800"/>
          </a:xfrm>
        </p:spPr>
        <p:txBody>
          <a:bodyPr>
            <a:normAutofit fontScale="90000"/>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12"/>
          </p:nvPr>
        </p:nvSpPr>
        <p:spPr/>
        <p:txBody>
          <a:bodyPr/>
          <a:lstStyle/>
          <a:p>
            <a:r>
              <a:rPr lang="en-US" dirty="0"/>
              <a:t>Application Layer: 2-</a:t>
            </a:r>
            <a:fld id="{C4204591-24BD-A542-B9D5-F8D8A88D2FEE}" type="slidenum">
              <a:rPr lang="en-US" smtClean="0"/>
              <a:pPr/>
              <a:t>86</a:t>
            </a:fld>
            <a:endParaRPr lang="en-US" dirty="0"/>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752600"/>
            <a:ext cx="8553400" cy="429744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388386"/>
            <a:ext cx="8171815" cy="11167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5">
                                            <p:txEl>
                                              <p:pRg st="1" end="1"/>
                                            </p:txEl>
                                          </p:spTgt>
                                        </p:tgtEl>
                                        <p:attrNameLst>
                                          <p:attrName>style.visibility</p:attrName>
                                        </p:attrNameLst>
                                      </p:cBhvr>
                                      <p:to>
                                        <p:strVal val="visible"/>
                                      </p:to>
                                    </p:set>
                                    <p:animEffect transition="in" filter="dissolve">
                                      <p:cBhvr>
                                        <p:cTn id="12" dur="500"/>
                                        <p:tgtEl>
                                          <p:spTgt spid="19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741278"/>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12"/>
          </p:nvPr>
        </p:nvSpPr>
        <p:spPr/>
        <p:txBody>
          <a:bodyPr/>
          <a:lstStyle/>
          <a:p>
            <a:r>
              <a:rPr lang="en-US" dirty="0"/>
              <a:t>Application Layer: 2-</a:t>
            </a:r>
            <a:fld id="{C4204591-24BD-A542-B9D5-F8D8A88D2FEE}" type="slidenum">
              <a:rPr lang="en-US" smtClean="0"/>
              <a:pPr/>
              <a:t>87</a:t>
            </a:fld>
            <a:endParaRPr lang="en-US" dirty="0"/>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55298" y="1759719"/>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45773" y="4602931"/>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87123" y="1862906"/>
            <a:ext cx="1884555" cy="92333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36298" y="2089919"/>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1204348" y="2906172"/>
            <a:ext cx="1957387" cy="36933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Cumulative data</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9716523" y="4625156"/>
            <a:ext cx="6639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12648" y="2104206"/>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92073" y="2075631"/>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70035" y="3218240"/>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a:ln>
                  <a:noFill/>
                </a:ln>
                <a:solidFill>
                  <a:prstClr val="black"/>
                </a:solidFill>
                <a:effectLst/>
                <a:uLnTx/>
                <a:uFillTx/>
                <a:latin typeface="Calibri" panose="020F0502020204030204"/>
                <a:ea typeface="+mn-ea"/>
                <a:cs typeface="+mn-cs"/>
              </a:rPr>
              <a:t>compensate for network-added delay, delay jitter</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521">
                                            <p:txEl>
                                              <p:pRg st="0" end="0"/>
                                            </p:txEl>
                                          </p:spTgt>
                                        </p:tgtEl>
                                        <p:attrNameLst>
                                          <p:attrName>style.visibility</p:attrName>
                                        </p:attrNameLst>
                                      </p:cBhvr>
                                      <p:to>
                                        <p:strVal val="visible"/>
                                      </p:to>
                                    </p:set>
                                    <p:animEffect transition="in" filter="dissolve">
                                      <p:cBhvr>
                                        <p:cTn id="21"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665595"/>
          </a:xfrm>
        </p:spPr>
        <p:txBody>
          <a:bodyPr>
            <a:normAutofit fontScale="90000"/>
          </a:bodyPr>
          <a:lstStyle/>
          <a:p>
            <a:r>
              <a:rPr lang="en-US" altLang="en-US" sz="4400" dirty="0">
                <a:ea typeface="ＭＳ Ｐゴシック" panose="020B0600070205080204" pitchFamily="34" charset="-128"/>
              </a:rPr>
              <a:t>Streaming multimedia: </a:t>
            </a:r>
            <a:r>
              <a:rPr lang="en-US" altLang="en-US" sz="4400" dirty="0">
                <a:solidFill>
                  <a:srgbClr val="FF0000"/>
                </a:solidFill>
                <a:ea typeface="ＭＳ Ｐゴシック" panose="020B0600070205080204" pitchFamily="34" charset="-128"/>
              </a:rPr>
              <a:t>DASH</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12"/>
          </p:nvPr>
        </p:nvSpPr>
        <p:spPr/>
        <p:txBody>
          <a:bodyPr/>
          <a:lstStyle/>
          <a:p>
            <a:r>
              <a:rPr lang="en-US" dirty="0"/>
              <a:t>Application Layer: 2-</a:t>
            </a:r>
            <a:fld id="{C4204591-24BD-A542-B9D5-F8D8A88D2FEE}" type="slidenum">
              <a:rPr lang="en-US" smtClean="0"/>
              <a:pPr/>
              <a:t>88</a:t>
            </a:fld>
            <a:endParaRPr lang="en-US" dirty="0"/>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03166" y="1623405"/>
            <a:ext cx="10369274" cy="474352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None/>
              <a:tabLst/>
              <a:defRPr/>
            </a:pPr>
            <a:r>
              <a:rPr kumimoji="0" lang="en-US" altLang="en-US" b="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lang="en-US" altLang="en-US" dirty="0">
                <a:solidFill>
                  <a:prstClr val="black"/>
                </a:solidFill>
                <a:latin typeface="Calibri" panose="020F0502020204030204"/>
                <a:ea typeface="ＭＳ Ｐゴシック" panose="020B0600070205080204" pitchFamily="34" charset="-128"/>
              </a:rPr>
              <a:t>different rate encodings stored in different files</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lang="en-US" altLang="en-US" dirty="0">
                <a:solidFill>
                  <a:prstClr val="black"/>
                </a:solidFill>
                <a:latin typeface="Calibri" panose="020F0502020204030204"/>
                <a:ea typeface="ＭＳ Ｐゴシック" panose="020B0600070205080204" pitchFamily="34" charset="-128"/>
              </a:rPr>
              <a:t>files replicated in various CDN nodes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r>
                <a:rPr lang="en-US" sz="2800" dirty="0">
                  <a:solidFill>
                    <a:srgbClr val="CD0000"/>
                  </a:solidFill>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38200" y="4073002"/>
            <a:ext cx="10369274" cy="24092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None/>
              <a:tabLst/>
              <a:defRPr/>
            </a:pPr>
            <a:r>
              <a:rPr kumimoji="0" lang="en-US" altLang="en-US" sz="2800" b="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R="0" lvl="1"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r>
              <a:rPr lang="en-US" altLang="en-US" sz="2800" i="1" dirty="0">
                <a:solidFill>
                  <a:srgbClr val="FF0000"/>
                </a:solidFill>
                <a:ea typeface="ＭＳ Ｐゴシック" panose="020B0600070205080204" pitchFamily="34" charset="-128"/>
              </a:rPr>
              <a:t>D</a:t>
            </a:r>
            <a:r>
              <a:rPr lang="en-US" altLang="en-US" sz="2800" dirty="0">
                <a:solidFill>
                  <a:prstClr val="black"/>
                </a:solidFill>
                <a:ea typeface="ＭＳ Ｐゴシック" panose="020B0600070205080204" pitchFamily="34" charset="-128"/>
              </a:rPr>
              <a:t>ynamic, </a:t>
            </a:r>
            <a:r>
              <a:rPr lang="en-US" altLang="en-US" sz="2800" i="1" dirty="0">
                <a:solidFill>
                  <a:srgbClr val="CC0000"/>
                </a:solidFill>
                <a:ea typeface="ＭＳ Ｐゴシック" panose="020B0600070205080204" pitchFamily="34" charset="-128"/>
              </a:rPr>
              <a:t>A</a:t>
            </a:r>
            <a:r>
              <a:rPr lang="en-US" altLang="en-US" sz="2800" dirty="0">
                <a:solidFill>
                  <a:prstClr val="black"/>
                </a:solidFill>
                <a:ea typeface="ＭＳ Ｐゴシック" panose="020B0600070205080204" pitchFamily="34" charset="-128"/>
              </a:rPr>
              <a:t>daptive </a:t>
            </a:r>
            <a:r>
              <a:rPr lang="en-US" altLang="en-US" sz="2800" i="1" dirty="0">
                <a:solidFill>
                  <a:srgbClr val="FF0000"/>
                </a:solidFill>
                <a:ea typeface="ＭＳ Ｐゴシック" panose="020B0600070205080204" pitchFamily="34" charset="-128"/>
              </a:rPr>
              <a:t>S</a:t>
            </a:r>
            <a:r>
              <a:rPr lang="en-US" altLang="en-US" sz="2800" dirty="0">
                <a:solidFill>
                  <a:prstClr val="black"/>
                </a:solidFill>
                <a:ea typeface="ＭＳ Ｐゴシック" panose="020B0600070205080204" pitchFamily="34" charset="-128"/>
              </a:rPr>
              <a:t>treaming over </a:t>
            </a:r>
            <a:r>
              <a:rPr lang="en-US" altLang="en-US" sz="2800" i="1" dirty="0">
                <a:solidFill>
                  <a:srgbClr val="FF0000"/>
                </a:solidFill>
                <a:ea typeface="ＭＳ Ｐゴシック" panose="020B0600070205080204" pitchFamily="34" charset="-128"/>
              </a:rPr>
              <a:t>H</a:t>
            </a:r>
            <a:r>
              <a:rPr lang="en-US" altLang="en-US" sz="2800" dirty="0">
                <a:solidFill>
                  <a:prstClr val="black"/>
                </a:solidFill>
                <a:ea typeface="ＭＳ Ｐゴシック" panose="020B0600070205080204" pitchFamily="34" charset="-128"/>
              </a:rPr>
              <a:t>TTP</a:t>
            </a:r>
          </a:p>
        </p:txBody>
      </p:sp>
    </p:spTree>
    <p:extLst>
      <p:ext uri="{BB962C8B-B14F-4D97-AF65-F5344CB8AC3E}">
        <p14:creationId xmlns:p14="http://schemas.microsoft.com/office/powerpoint/2010/main" val="344283446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r>
                <a:rPr lang="en-US" dirty="0"/>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688989"/>
          </a:xfrm>
        </p:spPr>
        <p:txBody>
          <a:bodyPr>
            <a:normAutofit/>
          </a:bodyPr>
          <a:lstStyle/>
          <a:p>
            <a:r>
              <a:rPr lang="en-US" altLang="en-US" sz="4400" dirty="0">
                <a:ea typeface="ＭＳ Ｐゴシック" panose="020B0600070205080204" pitchFamily="34" charset="-128"/>
              </a:rPr>
              <a:t>Streaming multimedia: DASH</a:t>
            </a:r>
          </a:p>
        </p:txBody>
      </p:sp>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12"/>
          </p:nvPr>
        </p:nvSpPr>
        <p:spPr/>
        <p:txBody>
          <a:bodyPr/>
          <a:lstStyle/>
          <a:p>
            <a:r>
              <a:rPr lang="en-US" dirty="0"/>
              <a:t>Application Layer: 2-</a:t>
            </a:r>
            <a:fld id="{C4204591-24BD-A542-B9D5-F8D8A88D2FEE}" type="slidenum">
              <a:rPr lang="en-US" smtClean="0"/>
              <a:pPr/>
              <a:t>89</a:t>
            </a:fld>
            <a:endParaRPr lang="en-US" dirty="0"/>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738745"/>
            <a:ext cx="6582550" cy="47396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p>
          <a:p>
            <a:pPr lvl="1">
              <a:defRPr/>
            </a:pPr>
            <a:r>
              <a:rPr lang="en-US" altLang="en-US" sz="2800" i="1" dirty="0">
                <a:solidFill>
                  <a:srgbClr val="CC0000"/>
                </a:solidFill>
                <a:ea typeface="ＭＳ Ｐゴシック" panose="020B0600070205080204" pitchFamily="34" charset="-128"/>
              </a:rPr>
              <a:t>where</a:t>
            </a:r>
            <a:r>
              <a:rPr lang="en-US" altLang="en-US" sz="2800" i="1" dirty="0">
                <a:solidFill>
                  <a:srgbClr val="800000"/>
                </a:solidFill>
                <a:ea typeface="ＭＳ Ｐゴシック" panose="020B0600070205080204" pitchFamily="34" charset="-128"/>
              </a:rPr>
              <a:t> </a:t>
            </a:r>
            <a:r>
              <a:rPr lang="en-US" altLang="en-US" sz="2800" dirty="0">
                <a:solidFill>
                  <a:prstClr val="black"/>
                </a:solidFill>
                <a:ea typeface="ＭＳ Ｐゴシック" panose="020B0600070205080204" pitchFamily="34" charset="-128"/>
              </a:rPr>
              <a:t>to request chunk (can request from URL server that is “close” to client or has high available bandwidth</a:t>
            </a:r>
            <a:r>
              <a:rPr lang="en-US" altLang="en-US" sz="2800" dirty="0">
                <a:solidFill>
                  <a:prstClr val="black"/>
                </a:solidFill>
                <a:latin typeface="Gill Sans MT" panose="020B0502020104020203" pitchFamily="34" charset="77"/>
                <a:ea typeface="ＭＳ Ｐゴシック" panose="020B0600070205080204" pitchFamily="34" charset="-128"/>
              </a:rPr>
              <a:t>) </a:t>
            </a: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57873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r>
                <a:rPr lang="en-US" sz="2800" dirty="0">
                  <a:solidFill>
                    <a:srgbClr val="CD0000"/>
                  </a:solidFill>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Tree>
    <p:extLst>
      <p:ext uri="{BB962C8B-B14F-4D97-AF65-F5344CB8AC3E}">
        <p14:creationId xmlns:p14="http://schemas.microsoft.com/office/powerpoint/2010/main" val="393665605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723047"/>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12"/>
          </p:nvPr>
        </p:nvSpPr>
        <p:spPr/>
        <p:txBody>
          <a:bodyPr/>
          <a:lstStyle/>
          <a:p>
            <a:r>
              <a:rPr lang="en-US" dirty="0"/>
              <a:t>Application Layer: 2-</a:t>
            </a:r>
            <a:fld id="{C4204591-24BD-A542-B9D5-F8D8A88D2FEE}" type="slidenum">
              <a:rPr lang="en-US" smtClean="0"/>
              <a:pPr/>
              <a:t>90</a:t>
            </a:fld>
            <a:endParaRPr lang="en-US" dirty="0"/>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752600"/>
            <a:ext cx="10515599" cy="47550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875784"/>
            <a:ext cx="6761707" cy="25086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err="1">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66716945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742097"/>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12"/>
          </p:nvPr>
        </p:nvSpPr>
        <p:spPr/>
        <p:txBody>
          <a:bodyPr/>
          <a:lstStyle/>
          <a:p>
            <a:r>
              <a:rPr lang="en-US" dirty="0"/>
              <a:t>Application Layer: 2-</a:t>
            </a:r>
            <a:fld id="{C4204591-24BD-A542-B9D5-F8D8A88D2FEE}" type="slidenum">
              <a:rPr lang="en-US" smtClean="0"/>
              <a:pPr/>
              <a:t>91</a:t>
            </a:fld>
            <a:endParaRPr lang="en-US" dirty="0"/>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714500"/>
            <a:ext cx="10515599" cy="5093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spcBef>
                <a:spcPts val="0"/>
              </a:spcBef>
              <a:spcAft>
                <a:spcPts val="0"/>
              </a:spcAft>
              <a:buClrTx/>
              <a:buSzTx/>
              <a:buNone/>
              <a:tabLst/>
              <a:defRPr/>
            </a:pPr>
            <a:r>
              <a:rPr lang="en-US" sz="2400" dirty="0">
                <a:solidFill>
                  <a:prstClr val="black"/>
                </a:solidFill>
                <a:latin typeface="Calibri" panose="020F0502020204030204"/>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868680" y="2050824"/>
            <a:ext cx="10515599" cy="39308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IXPs</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8132"/>
                                        </p:tgtEl>
                                        <p:attrNameLst>
                                          <p:attrName>style.visibility</p:attrName>
                                        </p:attrNameLst>
                                      </p:cBhvr>
                                      <p:to>
                                        <p:strVal val="visible"/>
                                      </p:to>
                                    </p:set>
                                    <p:animEffect transition="in" filter="dissolve">
                                      <p:cBhvr>
                                        <p:cTn id="7" dur="500"/>
                                        <p:tgtEl>
                                          <p:spTgt spid="48132"/>
                                        </p:tgtEl>
                                      </p:cBhvr>
                                    </p:animEffect>
                                  </p:childTnLst>
                                </p:cTn>
                              </p:par>
                              <p:par>
                                <p:cTn id="8" presetID="9" presetClass="entr" presetSubtype="0" fill="hold" nodeType="withEffect">
                                  <p:stCondLst>
                                    <p:cond delay="0"/>
                                  </p:stCondLst>
                                  <p:childTnLst>
                                    <p:set>
                                      <p:cBhvr>
                                        <p:cTn id="9" dur="1" fill="hold">
                                          <p:stCondLst>
                                            <p:cond delay="0"/>
                                          </p:stCondLst>
                                        </p:cTn>
                                        <p:tgtEl>
                                          <p:spTgt spid="48130"/>
                                        </p:tgtEl>
                                        <p:attrNameLst>
                                          <p:attrName>style.visibility</p:attrName>
                                        </p:attrNameLst>
                                      </p:cBhvr>
                                      <p:to>
                                        <p:strVal val="visible"/>
                                      </p:to>
                                    </p:set>
                                    <p:animEffect transition="in" filter="dissolve">
                                      <p:cBhvr>
                                        <p:cTn id="10"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692525"/>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611301"/>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665663"/>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11810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1097280" y="286604"/>
            <a:ext cx="10058400" cy="655296"/>
          </a:xfrm>
        </p:spPr>
        <p:txBody>
          <a:bodyPr>
            <a:normAutofit fontScale="90000"/>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1745004"/>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12"/>
          </p:nvPr>
        </p:nvSpPr>
        <p:spPr/>
        <p:txBody>
          <a:bodyPr/>
          <a:lstStyle/>
          <a:p>
            <a:r>
              <a:rPr lang="en-US" dirty="0"/>
              <a:t>Application Layer: 2-</a:t>
            </a:r>
            <a:fld id="{C4204591-24BD-A542-B9D5-F8D8A88D2FEE}" type="slidenum">
              <a:rPr lang="en-US" smtClean="0"/>
              <a:pPr/>
              <a:t>92</a:t>
            </a:fld>
            <a:endParaRPr lang="en-US" dirty="0"/>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614988"/>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394075"/>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449889"/>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667125"/>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467350"/>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206875"/>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572125"/>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557588"/>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067126" y="1313908"/>
            <a:ext cx="9735279" cy="540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CDN: stores copies of content (e.g. MADMEN) at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4868864"/>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616450"/>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067609"/>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4965701"/>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240158"/>
            <a:ext cx="9901388" cy="45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defRPr/>
            </a:pPr>
            <a:r>
              <a:rPr lang="en-US" dirty="0">
                <a:solidFill>
                  <a:srgbClr val="000000"/>
                </a:solidFill>
                <a:latin typeface="Calibri" panose="020F0502020204030204" pitchFamily="34" charset="0"/>
                <a:cs typeface="Calibri" panose="020F0502020204030204" pitchFamily="34" charset="0"/>
              </a:rPr>
              <a:t>using manifest, client </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657096"/>
            <a:ext cx="9113837" cy="50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a:t>
            </a:r>
            <a:r>
              <a:rPr kumimoji="0" lang="en-US" sz="2400" b="0" i="0" u="none" strike="noStrike" kern="1200" cap="none" spc="0" normalizeH="0" noProof="0" dirty="0">
                <a:ln>
                  <a:noFill/>
                </a:ln>
                <a:solidFill>
                  <a:srgbClr val="000000"/>
                </a:solidFill>
                <a:effectLst/>
                <a:uLnTx/>
                <a:uFillTx/>
                <a:latin typeface="Calibri" panose="020F0502020204030204" pitchFamily="34" charset="0"/>
                <a:cs typeface="Calibri" panose="020F0502020204030204" pitchFamily="34" charset="0"/>
              </a:rPr>
              <a:t> or </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63670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14350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41947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04775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633290"/>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803006"/>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397550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03859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1097280" y="286604"/>
            <a:ext cx="10058400" cy="667050"/>
          </a:xfrm>
        </p:spPr>
        <p:txBody>
          <a:bodyPr>
            <a:normAutofit fontScale="90000"/>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493702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12"/>
          </p:nvPr>
        </p:nvSpPr>
        <p:spPr/>
        <p:txBody>
          <a:bodyPr/>
          <a:lstStyle/>
          <a:p>
            <a:r>
              <a:rPr lang="en-US" dirty="0"/>
              <a:t>Application Layer: 2-</a:t>
            </a:r>
            <a:fld id="{C4204591-24BD-A542-B9D5-F8D8A88D2FEE}" type="slidenum">
              <a:rPr lang="en-US" smtClean="0"/>
              <a:pPr/>
              <a:t>93</a:t>
            </a:fld>
            <a:endParaRPr lang="en-US" dirty="0"/>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190843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1217791" y="282200"/>
            <a:ext cx="10515600" cy="894622"/>
          </a:xfrm>
        </p:spPr>
        <p:txBody>
          <a:bodyPr/>
          <a:lstStyle/>
          <a:p>
            <a:r>
              <a:rPr lang="en-US" altLang="en-US" dirty="0">
                <a:cs typeface="Calibri" panose="020F0502020204030204" pitchFamily="34" charset="0"/>
              </a:rPr>
              <a:t>Application layer: overview</a:t>
            </a:r>
            <a:endParaRPr lang="en-US"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12"/>
          </p:nvPr>
        </p:nvSpPr>
        <p:spPr/>
        <p:txBody>
          <a:bodyPr/>
          <a:lstStyle/>
          <a:p>
            <a:r>
              <a:rPr lang="en-US"/>
              <a:t>Application Layer: 2-</a:t>
            </a:r>
            <a:fld id="{C4204591-24BD-A542-B9D5-F8D8A88D2FEE}" type="slidenum">
              <a:rPr lang="en-US" smtClean="0"/>
              <a:pPr/>
              <a:t>94</a:t>
            </a:fld>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6696458"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Web and HTTP</a:t>
            </a:r>
          </a:p>
          <a:p>
            <a:pPr marL="349250" indent="-349250">
              <a:buClr>
                <a:schemeClr val="bg1">
                  <a:lumMod val="75000"/>
                </a:schemeClr>
              </a:buClr>
              <a:defRPr/>
            </a:pPr>
            <a:r>
              <a:rPr lang="en-US" sz="3200" dirty="0">
                <a:solidFill>
                  <a:schemeClr val="bg1">
                    <a:lumMod val="75000"/>
                  </a:schemeClr>
                </a:solidFill>
                <a:ea typeface="ＭＳ Ｐゴシック" panose="020B0600070205080204" pitchFamily="34" charset="-128"/>
              </a:rPr>
              <a:t>The Domain Name System DNS</a:t>
            </a:r>
          </a:p>
          <a:p>
            <a:pPr marL="349250" indent="-349250">
              <a:buClr>
                <a:schemeClr val="bg1">
                  <a:lumMod val="75000"/>
                </a:schemeClr>
              </a:buClr>
              <a:defRP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defRP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401638" indent="-401638">
              <a:defRPr/>
            </a:pPr>
            <a:r>
              <a:rPr lang="en-US" altLang="en-US" sz="3200" dirty="0">
                <a:latin typeface="Calibri" panose="020F0502020204030204" pitchFamily="34" charset="0"/>
                <a:cs typeface="Calibri" panose="020F0502020204030204" pitchFamily="34" charset="0"/>
              </a:rPr>
              <a:t>socket programming with UDP and TCP</a:t>
            </a:r>
          </a:p>
          <a:p>
            <a:pPr>
              <a:buFont typeface="Wingdings" pitchFamily="2" charset="2"/>
              <a:buNone/>
            </a:pPr>
            <a:endParaRPr lang="en-US" altLang="en-US" sz="2400" dirty="0"/>
          </a:p>
          <a:p>
            <a:pPr marL="401638" indent="-401638">
              <a:buClr>
                <a:schemeClr val="bg1">
                  <a:lumMod val="75000"/>
                </a:schemeClr>
              </a:buClr>
              <a:defRPr/>
            </a:pP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743075"/>
            <a:ext cx="5405262" cy="4478826"/>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endParaRPr lang="en-US" altLang="en-US" sz="2400" dirty="0"/>
          </a:p>
        </p:txBody>
      </p:sp>
    </p:spTree>
    <p:extLst>
      <p:ext uri="{BB962C8B-B14F-4D97-AF65-F5344CB8AC3E}">
        <p14:creationId xmlns:p14="http://schemas.microsoft.com/office/powerpoint/2010/main" val="87485785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671290"/>
          </a:xfrm>
        </p:spPr>
        <p:txBody>
          <a:bodyPr>
            <a:normAutofit/>
          </a:bodyPr>
          <a:lstStyle/>
          <a:p>
            <a:r>
              <a:rPr lang="en-US" altLang="en-US" sz="4400" dirty="0">
                <a:ea typeface="ＭＳ Ｐゴシック" panose="020B0600070205080204" pitchFamily="34" charset="-128"/>
              </a:rPr>
              <a:t>Socket programming </a:t>
            </a:r>
          </a:p>
        </p:txBody>
      </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12"/>
          </p:nvPr>
        </p:nvSpPr>
        <p:spPr/>
        <p:txBody>
          <a:bodyPr/>
          <a:lstStyle/>
          <a:p>
            <a:r>
              <a:rPr lang="en-US" dirty="0"/>
              <a:t>Application Layer: 2-</a:t>
            </a:r>
            <a:fld id="{C4204591-24BD-A542-B9D5-F8D8A88D2FEE}" type="slidenum">
              <a:rPr lang="en-US" smtClean="0"/>
              <a:pPr/>
              <a:t>95</a:t>
            </a:fld>
            <a:endParaRPr lang="en-US" dirty="0"/>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732291"/>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713522"/>
          </a:xfrm>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686359"/>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12"/>
          </p:nvPr>
        </p:nvSpPr>
        <p:spPr/>
        <p:txBody>
          <a:bodyPr/>
          <a:lstStyle/>
          <a:p>
            <a:r>
              <a:rPr lang="en-US" dirty="0"/>
              <a:t>Application Layer: 2-</a:t>
            </a:r>
            <a:fld id="{C4204591-24BD-A542-B9D5-F8D8A88D2FEE}" type="slidenum">
              <a:rPr lang="en-US" smtClean="0"/>
              <a:pPr/>
              <a:t>96</a:t>
            </a:fld>
            <a:endParaRPr lang="en-US" dirty="0"/>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464297"/>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Tree>
    <p:extLst>
      <p:ext uri="{BB962C8B-B14F-4D97-AF65-F5344CB8AC3E}">
        <p14:creationId xmlns:p14="http://schemas.microsoft.com/office/powerpoint/2010/main" val="376229831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80558" y="127415"/>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idx="1"/>
          </p:nvPr>
        </p:nvSpPr>
        <p:spPr>
          <a:xfrm>
            <a:off x="714803" y="1789012"/>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12"/>
          </p:nvPr>
        </p:nvSpPr>
        <p:spPr/>
        <p:txBody>
          <a:bodyPr/>
          <a:lstStyle/>
          <a:p>
            <a:r>
              <a:rPr lang="en-US" dirty="0"/>
              <a:t>Application Layer: 2-</a:t>
            </a:r>
            <a:fld id="{C4204591-24BD-A542-B9D5-F8D8A88D2FEE}" type="slidenum">
              <a:rPr lang="en-US" smtClean="0"/>
              <a:pPr/>
              <a:t>97</a:t>
            </a:fld>
            <a:endParaRPr lang="en-US" dirty="0"/>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2822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49804281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721016"/>
          </a:xfrm>
        </p:spPr>
        <p:txBody>
          <a:bodyPr>
            <a:normAutofit/>
          </a:bodyPr>
          <a:lstStyle/>
          <a:p>
            <a:r>
              <a:rPr lang="en-US" altLang="en-US" sz="4400" dirty="0">
                <a:ea typeface="ＭＳ Ｐゴシック" panose="020B0600070205080204" pitchFamily="34" charset="-128"/>
              </a:rPr>
              <a:t>Client/server socket interaction: UDP</a:t>
            </a:r>
          </a:p>
        </p:txBody>
      </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12"/>
          </p:nvPr>
        </p:nvSpPr>
        <p:spPr/>
        <p:txBody>
          <a:bodyPr/>
          <a:lstStyle/>
          <a:p>
            <a:r>
              <a:rPr lang="en-US" dirty="0"/>
              <a:t>Application Layer: 2-</a:t>
            </a:r>
            <a:fld id="{C4204591-24BD-A542-B9D5-F8D8A88D2FEE}" type="slidenum">
              <a:rPr lang="en-US" smtClean="0"/>
              <a:pPr/>
              <a:t>98</a:t>
            </a:fld>
            <a:endParaRPr lang="en-US" dirty="0"/>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6997103" y="3847647"/>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54266" y="1188584"/>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66928" y="1823584"/>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a:t>
              </a:r>
              <a:r>
                <a:rPr kumimoji="0" lang="en-US" altLang="en-US" sz="18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serverIP</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87265" y="3360284"/>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07628" y="2042659"/>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20328" y="2337934"/>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33028" y="3001509"/>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err="1">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596553" y="4112759"/>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25069" y="1172619"/>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a:t>
            </a:r>
            <a:r>
              <a:rPr kumimoji="0" lang="en-US" altLang="en-US" sz="1800" b="0" i="0" u="none" strike="noStrike" kern="120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serverIP</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29187" y="1124004"/>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23223" y="1106938"/>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30540" y="1054055"/>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718413"/>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12"/>
          </p:nvPr>
        </p:nvSpPr>
        <p:spPr/>
        <p:txBody>
          <a:bodyPr/>
          <a:lstStyle/>
          <a:p>
            <a:r>
              <a:rPr lang="en-US" dirty="0"/>
              <a:t>Application Layer: 2-</a:t>
            </a:r>
            <a:fld id="{C4204591-24BD-A542-B9D5-F8D8A88D2FEE}" type="slidenum">
              <a:rPr lang="en-US" smtClean="0"/>
              <a:pPr/>
              <a:t>99</a:t>
            </a:fld>
            <a:endParaRPr lang="en-US" dirty="0"/>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94388" cy="496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raw_input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serverAddress</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clientSocket.recvfrom</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modifiedMessage.decode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04044" y="1292795"/>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a:t>
            </a:r>
            <a:r>
              <a:rPr kumimoji="0" lang="en-US" altLang="en-US" sz="2400" b="0" i="1"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UDPClient</a:t>
            </a:r>
            <a:endPar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2536716" y="2998275"/>
            <a:ext cx="2943680" cy="523875"/>
            <a:chOff x="588094" y="2905531"/>
            <a:chExt cx="2271818" cy="523220"/>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588094" y="2905531"/>
              <a:ext cx="2271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 for server</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1389301" y="4571818"/>
            <a:ext cx="4091095" cy="421119"/>
            <a:chOff x="-1241909" y="4530536"/>
            <a:chExt cx="4090757" cy="421402"/>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1241909" y="4643955"/>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characters from socket into string</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72719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12"/>
          </p:nvPr>
        </p:nvSpPr>
        <p:spPr/>
        <p:txBody>
          <a:bodyPr/>
          <a:lstStyle/>
          <a:p>
            <a:r>
              <a:rPr lang="en-US" dirty="0"/>
              <a:t>Application Layer: 2-</a:t>
            </a:r>
            <a:fld id="{C4204591-24BD-A542-B9D5-F8D8A88D2FEE}" type="slidenum">
              <a:rPr lang="en-US" smtClean="0"/>
              <a:pPr/>
              <a:t>100</a:t>
            </a:fld>
            <a:endParaRPr lang="en-US" dirty="0"/>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29154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a:t>
            </a:r>
            <a:r>
              <a:rPr kumimoji="0" lang="en-US" altLang="en-US" sz="2400" b="0" i="1"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UDPServer</a:t>
            </a:r>
            <a:endPar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43625" cy="400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a:t>
            </a:r>
            <a:r>
              <a:rPr kumimoji="0" lang="ja-JP" altLang="en-US" sz="20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clientAddress</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serverSocket.recvfrom</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message.decode</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modifiedMessage.encode</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clientAddress</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677767"/>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idx="1"/>
          </p:nvPr>
        </p:nvSpPr>
        <p:spPr>
          <a:xfrm>
            <a:off x="661829" y="1370060"/>
            <a:ext cx="5074444" cy="5090539"/>
          </a:xfrm>
        </p:spPr>
        <p:txBody>
          <a:bodyPr>
            <a:normAutofit/>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12"/>
          </p:nvPr>
        </p:nvSpPr>
        <p:spPr/>
        <p:txBody>
          <a:bodyPr/>
          <a:lstStyle/>
          <a:p>
            <a:r>
              <a:rPr lang="en-US" dirty="0"/>
              <a:t>Application Layer: 2-</a:t>
            </a:r>
            <a:fld id="{C4204591-24BD-A542-B9D5-F8D8A88D2FEE}" type="slidenum">
              <a:rPr lang="en-US" smtClean="0"/>
              <a:pPr/>
              <a:t>101</a:t>
            </a:fld>
            <a:endParaRPr lang="en-US" dirty="0"/>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341239"/>
            <a:ext cx="572483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numbers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516388"/>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706884"/>
          </a:xfrm>
        </p:spPr>
        <p:txBody>
          <a:bodyPr>
            <a:normAutofit/>
          </a:bodyPr>
          <a:lstStyle/>
          <a:p>
            <a:r>
              <a:rPr lang="en-US" altLang="en-US" sz="4400" dirty="0">
                <a:ea typeface="ＭＳ Ｐゴシック" panose="020B0600070205080204" pitchFamily="34" charset="-128"/>
              </a:rPr>
              <a:t>Client/server socket interaction: TCP</a:t>
            </a:r>
          </a:p>
        </p:txBody>
      </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12"/>
          </p:nvPr>
        </p:nvSpPr>
        <p:spPr/>
        <p:txBody>
          <a:bodyPr/>
          <a:lstStyle/>
          <a:p>
            <a:r>
              <a:rPr lang="en-US" dirty="0"/>
              <a:t>Application Layer: 2-</a:t>
            </a:r>
            <a:fld id="{C4204591-24BD-A542-B9D5-F8D8A88D2FEE}" type="slidenum">
              <a:rPr lang="en-US" smtClean="0"/>
              <a:pPr/>
              <a:t>102</a:t>
            </a:fld>
            <a:endParaRPr lang="en-US" dirty="0"/>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09730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a:t>
            </a:r>
            <a:r>
              <a:rPr kumimoji="0" lang="en-US" altLang="en-US" sz="1800" b="0" i="0" u="none" strike="noStrike" kern="120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hostid</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09254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04202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02259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06111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182127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385327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8125" y="3931164"/>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err="1">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14842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2828208" y="4084356"/>
            <a:ext cx="6292850" cy="2265365"/>
            <a:chOff x="306" y="2710"/>
            <a:chExt cx="3964" cy="1234"/>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306" y="2710"/>
              <a:ext cx="998" cy="1231"/>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3810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635677"/>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12"/>
          </p:nvPr>
        </p:nvSpPr>
        <p:spPr/>
        <p:txBody>
          <a:bodyPr/>
          <a:lstStyle/>
          <a:p>
            <a:r>
              <a:rPr lang="en-US" dirty="0"/>
              <a:t>Application Layer: 2-</a:t>
            </a:r>
            <a:fld id="{C4204591-24BD-A542-B9D5-F8D8A88D2FEE}" type="slidenum">
              <a:rPr lang="en-US" smtClean="0"/>
              <a:pPr/>
              <a:t>103</a:t>
            </a:fld>
            <a:endParaRPr lang="en-US" dirty="0"/>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1802441"/>
            <a:ext cx="5894388" cy="422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ja-JP"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serverName,serverPort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raw_input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sentence.encode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clientSocket.recv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modifiedSentence.decode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3103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a:t>
            </a:r>
            <a:r>
              <a:rPr kumimoji="0" lang="en-US" altLang="en-US" sz="2400" b="0" i="1"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TCPClient</a:t>
            </a:r>
            <a:endPar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29375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7653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838200" y="4197353"/>
            <a:ext cx="4299668" cy="464343"/>
            <a:chOff x="-1495096" y="2880556"/>
            <a:chExt cx="4301148" cy="463183"/>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flipV="1">
              <a:off x="1961625" y="2880556"/>
              <a:ext cx="844427" cy="285374"/>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716821"/>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12"/>
          </p:nvPr>
        </p:nvSpPr>
        <p:spPr/>
        <p:txBody>
          <a:bodyPr/>
          <a:lstStyle/>
          <a:p>
            <a:r>
              <a:rPr lang="en-US" dirty="0"/>
              <a:t>Application Layer: 2-</a:t>
            </a:r>
            <a:fld id="{C4204591-24BD-A542-B9D5-F8D8A88D2FEE}" type="slidenum">
              <a:rPr lang="en-US" smtClean="0"/>
              <a:pPr/>
              <a:t>104</a:t>
            </a:fld>
            <a:endParaRPr lang="en-US" dirty="0"/>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770050"/>
            <a:ext cx="6292850" cy="520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serverPort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addr</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serverSocket.accept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connectionSocket.recv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capitalizedSentence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sentence.upper</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connectionSocket.send</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capitalizedSentence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connectionSocket.close</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2874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a:t>
            </a:r>
            <a:r>
              <a:rPr kumimoji="0" lang="en-US" altLang="en-US" sz="2400" b="0" i="1" u="none" strike="noStrike" kern="1200" cap="none" spc="0" normalizeH="0" baseline="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TCPServer</a:t>
            </a:r>
            <a:endPar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4043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29106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6717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39885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6190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7501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4"/>
            <a:ext cx="10058400" cy="676276"/>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idx="1"/>
          </p:nvPr>
        </p:nvSpPr>
        <p:spPr>
          <a:xfrm>
            <a:off x="838200" y="1838325"/>
            <a:ext cx="5710084" cy="4449870"/>
          </a:xfrm>
        </p:spPr>
        <p:txBody>
          <a:bodyPr>
            <a:normAutofit fontScale="92500" lnSpcReduction="10000"/>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p>
          <a:p>
            <a:pPr marL="287338" marR="0" lvl="0" indent="-287338" fontAlgn="auto">
              <a:spcBef>
                <a:spcPts val="0"/>
              </a:spcBef>
              <a:spcAft>
                <a:spcPts val="0"/>
              </a:spcAft>
              <a:buSzPct val="100000"/>
              <a:buFont typeface="Wingdings" charset="2"/>
              <a:buChar char="§"/>
              <a:tabLst/>
              <a:defRPr/>
            </a:pPr>
            <a:r>
              <a:rPr lang="en-US" sz="1800" dirty="0"/>
              <a:t>specific protocols:</a:t>
            </a:r>
          </a:p>
          <a:p>
            <a:pPr marL="681038" marR="0" lvl="1" indent="-223838" fontAlgn="auto">
              <a:spcBef>
                <a:spcPts val="0"/>
              </a:spcBef>
              <a:spcAft>
                <a:spcPts val="0"/>
              </a:spcAft>
              <a:buSzTx/>
              <a:buFont typeface="Arial"/>
              <a:buChar char="•"/>
              <a:tabLst/>
              <a:defRPr/>
            </a:pPr>
            <a:r>
              <a:rPr lang="en-US" dirty="0"/>
              <a:t>HTTP</a:t>
            </a:r>
          </a:p>
          <a:p>
            <a:pPr marL="681038" marR="0" lvl="1" indent="-223838" fontAlgn="auto">
              <a:spcBef>
                <a:spcPts val="0"/>
              </a:spcBef>
              <a:spcAft>
                <a:spcPts val="0"/>
              </a:spcAft>
              <a:buSzTx/>
              <a:buFont typeface="Arial"/>
              <a:buChar char="•"/>
              <a:tabLst/>
              <a:defRPr/>
            </a:pPr>
            <a:r>
              <a:rPr lang="en-US" dirty="0"/>
              <a:t>SMTP, IMAP</a:t>
            </a:r>
          </a:p>
          <a:p>
            <a:pPr marL="681038" marR="0" lvl="1" indent="-223838" fontAlgn="auto">
              <a:spcBef>
                <a:spcPts val="0"/>
              </a:spcBef>
              <a:spcAft>
                <a:spcPts val="0"/>
              </a:spcAft>
              <a:buSzTx/>
              <a:buFont typeface="Arial"/>
              <a:buChar char="•"/>
              <a:tabLst/>
              <a:defRPr/>
            </a:pPr>
            <a:r>
              <a:rPr lang="en-US" dirty="0"/>
              <a:t>DNS</a:t>
            </a:r>
          </a:p>
          <a:p>
            <a:pPr marL="681038" marR="0" lvl="1" indent="-223838" fontAlgn="auto">
              <a:spcBef>
                <a:spcPts val="0"/>
              </a:spcBef>
              <a:spcAft>
                <a:spcPts val="0"/>
              </a:spcAft>
              <a:buSzTx/>
              <a:buFont typeface="Arial"/>
              <a:buChar char="•"/>
              <a:tabLst/>
              <a:defRPr/>
            </a:pPr>
            <a:r>
              <a:rPr lang="en-US" dirty="0"/>
              <a:t>P2P: BitTorrent</a:t>
            </a:r>
          </a:p>
          <a:p>
            <a:pPr marL="287338" marR="0" lvl="0" indent="-287338" fontAlgn="auto">
              <a:spcBef>
                <a:spcPts val="0"/>
              </a:spcBef>
              <a:spcAft>
                <a:spcPts val="0"/>
              </a:spcAft>
              <a:buSzPct val="100000"/>
              <a:buFont typeface="Wingdings" charset="2"/>
              <a:buChar char="§"/>
              <a:tabLst/>
              <a:defRPr/>
            </a:pPr>
            <a:r>
              <a:rPr lang="en-US" sz="1800" dirty="0"/>
              <a:t>video streaming, CDNs</a:t>
            </a:r>
          </a:p>
          <a:p>
            <a:pPr marL="287338" marR="0" lvl="0" indent="-287338" fontAlgn="auto">
              <a:spcBef>
                <a:spcPts val="0"/>
              </a:spcBef>
              <a:spcAft>
                <a:spcPts val="0"/>
              </a:spcAft>
              <a:buSzPct val="100000"/>
              <a:buFont typeface="Wingdings" charset="2"/>
              <a:buChar char="§"/>
              <a:tabLst/>
              <a:defRPr/>
            </a:pPr>
            <a:r>
              <a:rPr lang="en-US" sz="1800" dirty="0"/>
              <a:t>socket programming: </a:t>
            </a:r>
          </a:p>
          <a:p>
            <a:pPr marL="0" marR="0" lvl="0" indent="0" fontAlgn="auto">
              <a:spcBef>
                <a:spcPts val="0"/>
              </a:spcBef>
              <a:spcAft>
                <a:spcPts val="0"/>
              </a:spcAft>
              <a:buSzPct val="100000"/>
              <a:buFont typeface="ZapfDingbats" charset="0"/>
              <a:buNone/>
              <a:tabLst/>
              <a:defRPr/>
            </a:pPr>
            <a:r>
              <a:rPr lang="en-US" sz="1800" dirty="0"/>
              <a:t>    TCP, UDP sockets</a:t>
            </a:r>
          </a:p>
          <a:p>
            <a:pPr marL="681038" lvl="1" indent="-223838">
              <a:buFont typeface="Arial"/>
              <a:buChar char="•"/>
              <a:defRPr/>
            </a:pPr>
            <a:endParaRPr lang="en-US" sz="2000" dirty="0"/>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12"/>
          </p:nvPr>
        </p:nvSpPr>
        <p:spPr/>
        <p:txBody>
          <a:bodyPr/>
          <a:lstStyle/>
          <a:p>
            <a:r>
              <a:rPr lang="en-US" dirty="0"/>
              <a:t>Application Layer: 2-</a:t>
            </a:r>
            <a:fld id="{C4204591-24BD-A542-B9D5-F8D8A88D2FEE}" type="slidenum">
              <a:rPr lang="en-US" smtClean="0"/>
              <a:pPr/>
              <a:t>105</a:t>
            </a:fld>
            <a:endParaRPr lang="en-US" dirty="0"/>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nodePh="1">
                                  <p:stCondLst>
                                    <p:cond delay="0"/>
                                  </p:stCondLst>
                                  <p:endCondLst>
                                    <p:cond evt="begin" delay="0">
                                      <p:tn val="5"/>
                                    </p:cond>
                                  </p:end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1097280" y="286603"/>
            <a:ext cx="10058400" cy="676275"/>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Application Layer - Summary</a:t>
            </a:r>
            <a:endParaRPr lang="en-US" altLang="en-US" sz="5400" dirty="0">
              <a:solidFill>
                <a:srgbClr val="000099"/>
              </a:solidFill>
              <a:ea typeface="ＭＳ Ｐゴシック" panose="020B0600070205080204" pitchFamily="34" charset="-128"/>
              <a:cs typeface="+mn-cs"/>
            </a:endParaRPr>
          </a:p>
        </p:txBody>
      </p:sp>
      <p:sp>
        <p:nvSpPr>
          <p:cNvPr id="9" name="Rectangle 3">
            <a:extLst>
              <a:ext uri="{FF2B5EF4-FFF2-40B4-BE49-F238E27FC236}">
                <a16:creationId xmlns:a16="http://schemas.microsoft.com/office/drawing/2014/main" id="{F2B1E62A-5D04-3E42-88B2-20CD0FBD1BBD}"/>
              </a:ext>
            </a:extLst>
          </p:cNvPr>
          <p:cNvSpPr>
            <a:spLocks noGrp="1" noChangeArrowheads="1"/>
          </p:cNvSpPr>
          <p:nvPr>
            <p:ph idx="1"/>
          </p:nvPr>
        </p:nvSpPr>
        <p:spPr>
          <a:xfrm>
            <a:off x="838200" y="2069589"/>
            <a:ext cx="5695335" cy="4351338"/>
          </a:xfrm>
        </p:spPr>
        <p:txBody>
          <a:bodyPr>
            <a:normAutofit/>
          </a:bodyPr>
          <a:lstStyle/>
          <a:p>
            <a:pPr marL="287338" indent="-287338"/>
            <a:r>
              <a:rPr lang="en-US" altLang="en-US" dirty="0">
                <a:ea typeface="ＭＳ Ｐゴシック" panose="020B0600070205080204" pitchFamily="34" charset="-128"/>
              </a:rPr>
              <a:t>typical request/reply message exchange:</a:t>
            </a:r>
          </a:p>
          <a:p>
            <a:pPr marL="681038" lvl="1" indent="-223838"/>
            <a:r>
              <a:rPr lang="en-US" altLang="en-US" dirty="0">
                <a:ea typeface="ＭＳ Ｐゴシック" panose="020B0600070205080204" pitchFamily="34" charset="-128"/>
              </a:rPr>
              <a:t>client requests info or service</a:t>
            </a:r>
          </a:p>
          <a:p>
            <a:pPr marL="681038" lvl="1" indent="-223838"/>
            <a:r>
              <a:rPr lang="en-US" altLang="en-US" dirty="0">
                <a:ea typeface="ＭＳ Ｐゴシック" panose="020B0600070205080204" pitchFamily="34" charset="-128"/>
              </a:rPr>
              <a:t>server responds with data, status code</a:t>
            </a:r>
          </a:p>
          <a:p>
            <a:pPr marL="287338" indent="-287338"/>
            <a:r>
              <a:rPr lang="en-US" altLang="en-US" dirty="0">
                <a:ea typeface="ＭＳ Ｐゴシック" panose="020B0600070205080204" pitchFamily="34" charset="-128"/>
              </a:rPr>
              <a:t>message formats:</a:t>
            </a:r>
          </a:p>
          <a:p>
            <a:pPr marL="681038" lvl="1" indent="-223838"/>
            <a:r>
              <a:rPr lang="en-US" altLang="en-US" i="1" dirty="0">
                <a:solidFill>
                  <a:srgbClr val="000090"/>
                </a:solidFill>
                <a:ea typeface="ＭＳ Ｐゴシック" panose="020B0600070205080204" pitchFamily="34" charset="-128"/>
              </a:rPr>
              <a:t>headers</a:t>
            </a:r>
            <a:r>
              <a:rPr lang="en-US" altLang="en-US" dirty="0">
                <a:ea typeface="ＭＳ Ｐゴシック" panose="020B0600070205080204" pitchFamily="34" charset="-128"/>
              </a:rPr>
              <a:t>: fields giving info about data</a:t>
            </a:r>
          </a:p>
          <a:p>
            <a:pPr marL="681038" lvl="1" indent="-223838"/>
            <a:r>
              <a:rPr lang="en-US" altLang="en-US" i="1" dirty="0">
                <a:solidFill>
                  <a:srgbClr val="000090"/>
                </a:solidFill>
                <a:ea typeface="ＭＳ Ｐゴシック" panose="020B0600070205080204" pitchFamily="34" charset="-128"/>
              </a:rPr>
              <a:t>data: </a:t>
            </a:r>
            <a:r>
              <a:rPr lang="en-US" altLang="en-US" dirty="0">
                <a:ea typeface="ＭＳ Ｐゴシック" panose="020B0600070205080204" pitchFamily="34" charset="-128"/>
              </a:rPr>
              <a:t>info(payload)  being communicated</a:t>
            </a: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12"/>
          </p:nvPr>
        </p:nvSpPr>
        <p:spPr/>
        <p:txBody>
          <a:bodyPr/>
          <a:lstStyle/>
          <a:p>
            <a:r>
              <a:rPr lang="en-US" dirty="0"/>
              <a:t>Application Layer: 2-</a:t>
            </a:r>
            <a:fld id="{C4204591-24BD-A542-B9D5-F8D8A88D2FEE}" type="slidenum">
              <a:rPr lang="en-US" smtClean="0"/>
              <a:pPr/>
              <a:t>106</a:t>
            </a:fld>
            <a:endParaRPr lang="en-US"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1022001" y="1037071"/>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6832343" y="2015039"/>
            <a:ext cx="4654808"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0"/>
              </a:spcBef>
              <a:spcAft>
                <a:spcPts val="0"/>
              </a:spcAft>
              <a:buClr>
                <a:srgbClr val="3333CC"/>
              </a:buClr>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important themes:</a:t>
            </a:r>
            <a:r>
              <a:rPr kumimoji="0" lang="en-US" altLang="en-US" sz="2400" b="0" i="0"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centralized vs. decentralized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stateless vs. stateful</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scalability</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reliable vs. unreliable message transfer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“complexity at network edge”</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theme/theme1.xml><?xml version="1.0" encoding="utf-8"?>
<a:theme xmlns:a="http://schemas.openxmlformats.org/drawingml/2006/main" name="Retrospect">
  <a:themeElements>
    <a:clrScheme name="Blue II">
      <a:dk1>
        <a:sysClr val="windowText" lastClr="000000"/>
      </a:dk1>
      <a:lt1>
        <a:sysClr val="window" lastClr="FFFFFF"/>
      </a:lt1>
      <a:dk2>
        <a:srgbClr val="335B74"/>
      </a:dk2>
      <a:lt2>
        <a:srgbClr val="DFE3E5"/>
      </a:lt2>
      <a:accent1>
        <a:srgbClr val="1CADE4"/>
      </a:accent1>
      <a:accent2>
        <a:srgbClr val="2683C6"/>
      </a:accent2>
      <a:accent3>
        <a:srgbClr val="27CED7"/>
      </a:accent3>
      <a:accent4>
        <a:srgbClr val="42BA97"/>
      </a:accent4>
      <a:accent5>
        <a:srgbClr val="3E8853"/>
      </a:accent5>
      <a:accent6>
        <a:srgbClr val="62A39F"/>
      </a:accent6>
      <a:hlink>
        <a:srgbClr val="6EAC1C"/>
      </a:hlink>
      <a:folHlink>
        <a:srgbClr val="B26B02"/>
      </a:folHlink>
    </a:clrScheme>
    <a:fontScheme name="Retrospect">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Embry-Riddle" id="{9BE284A0-0215-4267-9ABB-8EE7D1121D7C}" vid="{3B44A817-FE70-449C-9113-9CE2646840E5}"/>
    </a:ext>
  </a:extLst>
</a:theme>
</file>

<file path=ppt/theme/theme2.xml><?xml version="1.0" encoding="utf-8"?>
<a:theme xmlns:a="http://schemas.openxmlformats.org/drawingml/2006/main" name="1_Retrospect">
  <a:themeElements>
    <a:clrScheme name="Blue II">
      <a:dk1>
        <a:sysClr val="windowText" lastClr="000000"/>
      </a:dk1>
      <a:lt1>
        <a:sysClr val="window" lastClr="FFFFFF"/>
      </a:lt1>
      <a:dk2>
        <a:srgbClr val="335B74"/>
      </a:dk2>
      <a:lt2>
        <a:srgbClr val="DFE3E5"/>
      </a:lt2>
      <a:accent1>
        <a:srgbClr val="1CADE4"/>
      </a:accent1>
      <a:accent2>
        <a:srgbClr val="2683C6"/>
      </a:accent2>
      <a:accent3>
        <a:srgbClr val="27CED7"/>
      </a:accent3>
      <a:accent4>
        <a:srgbClr val="42BA97"/>
      </a:accent4>
      <a:accent5>
        <a:srgbClr val="3E8853"/>
      </a:accent5>
      <a:accent6>
        <a:srgbClr val="62A39F"/>
      </a:accent6>
      <a:hlink>
        <a:srgbClr val="6EAC1C"/>
      </a:hlink>
      <a:folHlink>
        <a:srgbClr val="B26B02"/>
      </a:folHlink>
    </a:clrScheme>
    <a:fontScheme name="Retrospect">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Embry-Riddle" id="{9BE284A0-0215-4267-9ABB-8EE7D1121D7C}" vid="{3B44A817-FE70-449C-9113-9CE2646840E5}"/>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61580</TotalTime>
  <Words>9850</Words>
  <Application>Microsoft Office PowerPoint</Application>
  <PresentationFormat>Widescreen</PresentationFormat>
  <Paragraphs>1964</Paragraphs>
  <Slides>106</Slides>
  <Notes>102</Notes>
  <HiddenSlides>0</HiddenSlides>
  <MMClips>0</MMClips>
  <ScaleCrop>false</ScaleCrop>
  <HeadingPairs>
    <vt:vector size="8" baseType="variant">
      <vt:variant>
        <vt:lpstr>Fonts Used</vt:lpstr>
      </vt:variant>
      <vt:variant>
        <vt:i4>14</vt:i4>
      </vt:variant>
      <vt:variant>
        <vt:lpstr>Theme</vt:lpstr>
      </vt:variant>
      <vt:variant>
        <vt:i4>2</vt:i4>
      </vt:variant>
      <vt:variant>
        <vt:lpstr>Embedded OLE Servers</vt:lpstr>
      </vt:variant>
      <vt:variant>
        <vt:i4>1</vt:i4>
      </vt:variant>
      <vt:variant>
        <vt:lpstr>Slide Titles</vt:lpstr>
      </vt:variant>
      <vt:variant>
        <vt:i4>106</vt:i4>
      </vt:variant>
    </vt:vector>
  </HeadingPairs>
  <TitlesOfParts>
    <vt:vector size="123" baseType="lpstr">
      <vt:lpstr>ＭＳ Ｐゴシック</vt:lpstr>
      <vt:lpstr>Arial</vt:lpstr>
      <vt:lpstr>Arial Narrow</vt:lpstr>
      <vt:lpstr>Calibri</vt:lpstr>
      <vt:lpstr>Calibri Light</vt:lpstr>
      <vt:lpstr>Comic Sans MS</vt:lpstr>
      <vt:lpstr>Courier</vt:lpstr>
      <vt:lpstr>Courier New</vt:lpstr>
      <vt:lpstr>Gill Sans MT</vt:lpstr>
      <vt:lpstr>Symbol</vt:lpstr>
      <vt:lpstr>Tahoma</vt:lpstr>
      <vt:lpstr>Times New Roman</vt:lpstr>
      <vt:lpstr>Wingdings</vt:lpstr>
      <vt:lpstr>ZapfDingbats</vt:lpstr>
      <vt:lpstr>Retrospect</vt:lpstr>
      <vt:lpstr>1_Retrospect</vt:lpstr>
      <vt:lpstr>Chart</vt:lpstr>
      <vt:lpstr>PowerPoint Presentation</vt:lpstr>
      <vt:lpstr>Quiz example 1</vt:lpstr>
      <vt:lpstr>Quiz example 1</vt:lpstr>
      <vt:lpstr>Quiz example 2</vt:lpstr>
      <vt:lpstr>Quiz example 2</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Maintaining user/server state: cookies</vt:lpstr>
      <vt:lpstr>Maintaining user/server state: cookies</vt:lpstr>
      <vt:lpstr>Maintaining user/server state: cookies</vt:lpstr>
      <vt:lpstr>HTTP cookies: comments</vt:lpstr>
      <vt:lpstr>Web caches</vt:lpstr>
      <vt:lpstr>Web caches (aka proxy servers)</vt:lpstr>
      <vt:lpstr>Caching example</vt:lpstr>
      <vt:lpstr>Option 1: buy a faster access link</vt:lpstr>
      <vt:lpstr>Option 2: install a web cache</vt:lpstr>
      <vt:lpstr>Calculating access link utilization, end-end delay with cache:</vt:lpstr>
      <vt:lpstr>Conditional GET</vt:lpstr>
      <vt:lpstr>HTTP/2</vt:lpstr>
      <vt:lpstr>HTTP/2</vt:lpstr>
      <vt:lpstr>HTTP/2: mitigating HOL blocking</vt:lpstr>
      <vt:lpstr>HTTP/2: mitigating HOL blocking</vt:lpstr>
      <vt:lpstr>HTTP/2 to HTTP/3</vt:lpstr>
      <vt:lpstr>Application layer: overview</vt:lpstr>
      <vt:lpstr>DNS: Domain Name System</vt:lpstr>
      <vt:lpstr>DNS: services, structure</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Content distribution networks (CDNs)</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Summary</vt:lpstr>
      <vt:lpstr>Application Layer -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Ortiz Couder Sr., Juan</dc:creator>
  <cp:lastModifiedBy>Rumia Sultana</cp:lastModifiedBy>
  <cp:revision>349</cp:revision>
  <dcterms:created xsi:type="dcterms:W3CDTF">2020-01-18T07:24:59Z</dcterms:created>
  <dcterms:modified xsi:type="dcterms:W3CDTF">2026-09-01T17:02:03Z</dcterms:modified>
</cp:coreProperties>
</file>